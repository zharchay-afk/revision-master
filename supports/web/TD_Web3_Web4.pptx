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 id="2147483653" r:id="rId2"/>
    <p:sldMasterId id="2147483655" r:id="rId3"/>
    <p:sldMasterId id="2147483657" r:id="rId4"/>
  </p:sldMasterIdLst>
  <p:notesMasterIdLst>
    <p:notesMasterId r:id="rId18"/>
  </p:notesMasterIdLst>
  <p:handoutMasterIdLst>
    <p:handoutMasterId r:id="rId19"/>
  </p:handoutMasterIdLst>
  <p:sldIdLst>
    <p:sldId id="256" r:id="rId5"/>
    <p:sldId id="411" r:id="rId6"/>
    <p:sldId id="440" r:id="rId7"/>
    <p:sldId id="456" r:id="rId8"/>
    <p:sldId id="457" r:id="rId9"/>
    <p:sldId id="462" r:id="rId10"/>
    <p:sldId id="463" r:id="rId11"/>
    <p:sldId id="458" r:id="rId12"/>
    <p:sldId id="459" r:id="rId13"/>
    <p:sldId id="460" r:id="rId14"/>
    <p:sldId id="461" r:id="rId15"/>
    <p:sldId id="464" r:id="rId16"/>
    <p:sldId id="259" r:id="rId17"/>
  </p:sldIdLst>
  <p:sldSz cx="9144000" cy="6858000" type="screen4x3"/>
  <p:notesSz cx="6858000" cy="9144000"/>
  <p:defaultText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id Ahmed Lamrous" initials="SAL" lastIdx="1" clrIdx="0">
    <p:extLst>
      <p:ext uri="{19B8F6BF-5375-455C-9EA6-DF929625EA0E}">
        <p15:presenceInfo xmlns:p15="http://schemas.microsoft.com/office/powerpoint/2012/main" userId="S::slamrous@utbm.fr::2560368c-70de-42bf-8834-daa93aedb0a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6AF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75DCB02-9BB8-47FD-8907-85C794F793BA}" styleName="Style à thème 1 - Accentuation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941" autoAdjust="0"/>
    <p:restoredTop sz="88707" autoAdjust="0"/>
  </p:normalViewPr>
  <p:slideViewPr>
    <p:cSldViewPr snapToGrid="0" snapToObjects="1">
      <p:cViewPr varScale="1">
        <p:scale>
          <a:sx n="87" d="100"/>
          <a:sy n="87" d="100"/>
        </p:scale>
        <p:origin x="1254" y="84"/>
      </p:cViewPr>
      <p:guideLst>
        <p:guide orient="horz" pos="2160"/>
        <p:guide pos="2880"/>
      </p:guideLst>
    </p:cSldViewPr>
  </p:slideViewPr>
  <p:outlineViewPr>
    <p:cViewPr>
      <p:scale>
        <a:sx n="33" d="100"/>
        <a:sy n="33" d="100"/>
      </p:scale>
      <p:origin x="0" y="-11520"/>
    </p:cViewPr>
  </p:outlineViewPr>
  <p:notesTextViewPr>
    <p:cViewPr>
      <p:scale>
        <a:sx n="20" d="100"/>
        <a:sy n="20" d="100"/>
      </p:scale>
      <p:origin x="0" y="0"/>
    </p:cViewPr>
  </p:notesTextViewPr>
  <p:sorterViewPr>
    <p:cViewPr>
      <p:scale>
        <a:sx n="66" d="100"/>
        <a:sy n="66" d="100"/>
      </p:scale>
      <p:origin x="0" y="0"/>
    </p:cViewPr>
  </p:sorterViewPr>
  <p:notesViewPr>
    <p:cSldViewPr snapToGrid="0" snapToObjects="1">
      <p:cViewPr varScale="1">
        <p:scale>
          <a:sx n="72" d="100"/>
          <a:sy n="72" d="100"/>
        </p:scale>
        <p:origin x="2232" y="5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166F91F-9D93-394B-8FD3-60A5DE0A647A}" type="datetimeFigureOut">
              <a:rPr lang="fr-FR" smtClean="0"/>
              <a:pPr/>
              <a:t>22/06/2026</a:t>
            </a:fld>
            <a:endParaRPr lang="fr-FR"/>
          </a:p>
        </p:txBody>
      </p:sp>
      <p:sp>
        <p:nvSpPr>
          <p:cNvPr id="4" name="Espace réservé du pied de page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6DC73FE-DA34-A54B-9936-7064B5F708B9}" type="slidenum">
              <a:rPr lang="fr-FR" smtClean="0"/>
              <a:pPr/>
              <a:t>‹N°›</a:t>
            </a:fld>
            <a:endParaRPr lang="fr-FR"/>
          </a:p>
        </p:txBody>
      </p:sp>
    </p:spTree>
    <p:extLst>
      <p:ext uri="{BB962C8B-B14F-4D97-AF65-F5344CB8AC3E}">
        <p14:creationId xmlns:p14="http://schemas.microsoft.com/office/powerpoint/2010/main" val="48692317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ECEFA2C-026D-5E4F-94AA-AE94A65147A9}" type="datetimeFigureOut">
              <a:rPr lang="fr-FR" smtClean="0"/>
              <a:pPr/>
              <a:t>22/06/2026</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795D8B8-548D-4C44-B179-E2F27AFF9943}" type="slidenum">
              <a:rPr lang="fr-FR" smtClean="0"/>
              <a:pPr/>
              <a:t>‹N°›</a:t>
            </a:fld>
            <a:endParaRPr lang="fr-FR"/>
          </a:p>
        </p:txBody>
      </p:sp>
    </p:spTree>
    <p:extLst>
      <p:ext uri="{BB962C8B-B14F-4D97-AF65-F5344CB8AC3E}">
        <p14:creationId xmlns:p14="http://schemas.microsoft.com/office/powerpoint/2010/main" val="3975484821"/>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fr-FR" dirty="0"/>
              <a:t>Paramétrez</a:t>
            </a:r>
            <a:r>
              <a:rPr lang="fr-FR" baseline="0" dirty="0"/>
              <a:t> vos champs : numéros de pages, titre de la présentation en pied de page et date dans le menu INSERTION &gt; EN-TÊTE ET PIED DE PAGE et cliquez sur APPLIQUER PARTOUT</a:t>
            </a:r>
            <a:endParaRPr lang="fr-FR" dirty="0"/>
          </a:p>
          <a:p>
            <a:endParaRPr lang="fr-FR" dirty="0"/>
          </a:p>
        </p:txBody>
      </p:sp>
      <p:sp>
        <p:nvSpPr>
          <p:cNvPr id="4" name="Espace réservé du numéro de diapositive 3"/>
          <p:cNvSpPr>
            <a:spLocks noGrp="1"/>
          </p:cNvSpPr>
          <p:nvPr>
            <p:ph type="sldNum" sz="quarter" idx="10"/>
          </p:nvPr>
        </p:nvSpPr>
        <p:spPr/>
        <p:txBody>
          <a:bodyPr/>
          <a:lstStyle/>
          <a:p>
            <a:fld id="{5795D8B8-548D-4C44-B179-E2F27AFF9943}" type="slidenum">
              <a:rPr lang="fr-FR" smtClean="0"/>
              <a:pPr/>
              <a:t>1</a:t>
            </a:fld>
            <a:endParaRPr lang="fr-FR"/>
          </a:p>
        </p:txBody>
      </p:sp>
    </p:spTree>
    <p:extLst>
      <p:ext uri="{BB962C8B-B14F-4D97-AF65-F5344CB8AC3E}">
        <p14:creationId xmlns:p14="http://schemas.microsoft.com/office/powerpoint/2010/main" val="36409726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5795D8B8-548D-4C44-B179-E2F27AFF9943}" type="slidenum">
              <a:rPr lang="fr-FR" smtClean="0"/>
              <a:pPr/>
              <a:t>3</a:t>
            </a:fld>
            <a:endParaRPr lang="fr-FR"/>
          </a:p>
        </p:txBody>
      </p:sp>
    </p:spTree>
    <p:extLst>
      <p:ext uri="{BB962C8B-B14F-4D97-AF65-F5344CB8AC3E}">
        <p14:creationId xmlns:p14="http://schemas.microsoft.com/office/powerpoint/2010/main" val="15923669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B7BC8-09A4-7C39-D6B6-22F1035877B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8DC6899-61BD-8185-8DB3-A3EFC1E569F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CB4B629-12F5-D7E6-8607-A449969BDF4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915EDCD4-03CD-8D1C-1668-5863497FF63C}"/>
              </a:ext>
            </a:extLst>
          </p:cNvPr>
          <p:cNvSpPr>
            <a:spLocks noGrp="1"/>
          </p:cNvSpPr>
          <p:nvPr>
            <p:ph type="sldNum" sz="quarter" idx="5"/>
          </p:nvPr>
        </p:nvSpPr>
        <p:spPr/>
        <p:txBody>
          <a:bodyPr/>
          <a:lstStyle/>
          <a:p>
            <a:fld id="{5795D8B8-548D-4C44-B179-E2F27AFF9943}" type="slidenum">
              <a:rPr lang="fr-FR" smtClean="0"/>
              <a:pPr/>
              <a:t>4</a:t>
            </a:fld>
            <a:endParaRPr lang="fr-FR"/>
          </a:p>
        </p:txBody>
      </p:sp>
    </p:spTree>
    <p:extLst>
      <p:ext uri="{BB962C8B-B14F-4D97-AF65-F5344CB8AC3E}">
        <p14:creationId xmlns:p14="http://schemas.microsoft.com/office/powerpoint/2010/main" val="1493298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 page de garde">
    <p:spTree>
      <p:nvGrpSpPr>
        <p:cNvPr id="1" name=""/>
        <p:cNvGrpSpPr/>
        <p:nvPr/>
      </p:nvGrpSpPr>
      <p:grpSpPr>
        <a:xfrm>
          <a:off x="0" y="0"/>
          <a:ext cx="0" cy="0"/>
          <a:chOff x="0" y="0"/>
          <a:chExt cx="0" cy="0"/>
        </a:xfrm>
      </p:grpSpPr>
      <p:sp>
        <p:nvSpPr>
          <p:cNvPr id="7" name="Espace réservé de la date 7"/>
          <p:cNvSpPr>
            <a:spLocks noGrp="1"/>
          </p:cNvSpPr>
          <p:nvPr>
            <p:ph type="dt" sz="half" idx="10"/>
          </p:nvPr>
        </p:nvSpPr>
        <p:spPr>
          <a:xfrm>
            <a:off x="6589485" y="6596743"/>
            <a:ext cx="2540002" cy="261258"/>
          </a:xfrm>
          <a:prstGeom prst="rect">
            <a:avLst/>
          </a:prstGeom>
        </p:spPr>
        <p:txBody>
          <a:bodyPr/>
          <a:lstStyle>
            <a:lvl1pPr>
              <a:defRPr>
                <a:solidFill>
                  <a:schemeClr val="bg1"/>
                </a:solidFill>
              </a:defRPr>
            </a:lvl1pPr>
          </a:lstStyle>
          <a:p>
            <a:pPr algn="r"/>
            <a:fld id="{52A364AE-53DB-1242-8535-5BB774B8AE58}" type="datetime2">
              <a:rPr lang="fr-FR" smtClean="0"/>
              <a:t>lundi 22 juin 2026</a:t>
            </a:fld>
            <a:endParaRPr lang="fr-FR" dirty="0"/>
          </a:p>
        </p:txBody>
      </p:sp>
      <p:sp>
        <p:nvSpPr>
          <p:cNvPr id="8" name="Espace réservé du pied de page 8"/>
          <p:cNvSpPr>
            <a:spLocks noGrp="1"/>
          </p:cNvSpPr>
          <p:nvPr>
            <p:ph type="ftr" sz="quarter" idx="11"/>
          </p:nvPr>
        </p:nvSpPr>
        <p:spPr>
          <a:xfrm>
            <a:off x="94342" y="6596743"/>
            <a:ext cx="5268687" cy="261257"/>
          </a:xfrm>
          <a:prstGeom prst="rect">
            <a:avLst/>
          </a:prstGeom>
        </p:spPr>
        <p:txBody>
          <a:bodyPr/>
          <a:lstStyle>
            <a:lvl1pPr algn="l">
              <a:defRPr>
                <a:solidFill>
                  <a:schemeClr val="bg1"/>
                </a:solidFill>
              </a:defRPr>
            </a:lvl1pPr>
          </a:lstStyle>
          <a:p>
            <a:r>
              <a:rPr lang="fr-FR"/>
              <a:t>S. Lamrous</a:t>
            </a:r>
            <a:endParaRPr lang="fr-FR" dirty="0"/>
          </a:p>
        </p:txBody>
      </p:sp>
      <p:sp>
        <p:nvSpPr>
          <p:cNvPr id="12" name="Espace réservé du texte 11"/>
          <p:cNvSpPr>
            <a:spLocks noGrp="1"/>
          </p:cNvSpPr>
          <p:nvPr>
            <p:ph type="body" sz="quarter" idx="12" hasCustomPrompt="1"/>
          </p:nvPr>
        </p:nvSpPr>
        <p:spPr>
          <a:xfrm>
            <a:off x="203199" y="5377543"/>
            <a:ext cx="8410575" cy="420914"/>
          </a:xfrm>
          <a:prstGeom prst="rect">
            <a:avLst/>
          </a:prstGeom>
        </p:spPr>
        <p:txBody>
          <a:bodyPr vert="horz" anchor="ctr" anchorCtr="0"/>
          <a:lstStyle>
            <a:lvl1pPr marL="0" indent="0" algn="l">
              <a:spcBef>
                <a:spcPts val="0"/>
              </a:spcBef>
              <a:buNone/>
              <a:defRPr sz="1600" baseline="0">
                <a:solidFill>
                  <a:schemeClr val="bg1"/>
                </a:solidFill>
                <a:latin typeface="Calibri"/>
                <a:cs typeface="Calibri"/>
              </a:defRPr>
            </a:lvl1pPr>
            <a:lvl2pPr marL="457200" indent="0" algn="l">
              <a:buNone/>
              <a:defRPr sz="1600">
                <a:solidFill>
                  <a:schemeClr val="bg1"/>
                </a:solidFill>
                <a:latin typeface="Calibri"/>
                <a:cs typeface="Calibri"/>
              </a:defRPr>
            </a:lvl2pPr>
            <a:lvl3pPr marL="914400" indent="0" algn="l">
              <a:buNone/>
              <a:defRPr sz="1600">
                <a:solidFill>
                  <a:schemeClr val="bg1"/>
                </a:solidFill>
                <a:latin typeface="Calibri"/>
                <a:cs typeface="Calibri"/>
              </a:defRPr>
            </a:lvl3pPr>
            <a:lvl4pPr marL="1371600" indent="0" algn="l">
              <a:buNone/>
              <a:defRPr sz="1600">
                <a:solidFill>
                  <a:schemeClr val="bg1"/>
                </a:solidFill>
                <a:latin typeface="Calibri"/>
                <a:cs typeface="Calibri"/>
              </a:defRPr>
            </a:lvl4pPr>
            <a:lvl5pPr marL="1828800" indent="0" algn="l">
              <a:buNone/>
              <a:defRPr sz="1600">
                <a:solidFill>
                  <a:schemeClr val="bg1"/>
                </a:solidFill>
                <a:latin typeface="Calibri"/>
                <a:cs typeface="Calibri"/>
              </a:defRPr>
            </a:lvl5pPr>
          </a:lstStyle>
          <a:p>
            <a:pPr lvl="0"/>
            <a:r>
              <a:rPr lang="fr-FR" dirty="0"/>
              <a:t>Prénom Nom – fonction à l’UTBM</a:t>
            </a:r>
          </a:p>
        </p:txBody>
      </p:sp>
      <p:sp>
        <p:nvSpPr>
          <p:cNvPr id="14" name="Espace réservé pour une image  13"/>
          <p:cNvSpPr>
            <a:spLocks noGrp="1"/>
          </p:cNvSpPr>
          <p:nvPr>
            <p:ph type="pic" sz="quarter" idx="13" hasCustomPrompt="1"/>
          </p:nvPr>
        </p:nvSpPr>
        <p:spPr>
          <a:xfrm>
            <a:off x="0" y="0"/>
            <a:ext cx="9144000" cy="3690000"/>
          </a:xfrm>
          <a:prstGeom prst="rect">
            <a:avLst/>
          </a:prstGeom>
        </p:spPr>
        <p:txBody>
          <a:bodyPr vert="horz" anchor="ctr" anchorCtr="0"/>
          <a:lstStyle>
            <a:lvl1pPr marL="0" indent="0" algn="ctr">
              <a:spcBef>
                <a:spcPts val="0"/>
              </a:spcBef>
              <a:buFontTx/>
              <a:buNone/>
              <a:defRPr baseline="0"/>
            </a:lvl1pPr>
          </a:lstStyle>
          <a:p>
            <a:r>
              <a:rPr lang="fr-FR" dirty="0"/>
              <a:t>Insérez ici votre image personnalisée si besoin.</a:t>
            </a:r>
          </a:p>
        </p:txBody>
      </p:sp>
      <p:sp>
        <p:nvSpPr>
          <p:cNvPr id="16" name="Espace réservé du titre 10"/>
          <p:cNvSpPr>
            <a:spLocks noGrp="1"/>
          </p:cNvSpPr>
          <p:nvPr>
            <p:ph type="title"/>
          </p:nvPr>
        </p:nvSpPr>
        <p:spPr>
          <a:xfrm>
            <a:off x="203199" y="3954008"/>
            <a:ext cx="8229600" cy="1350962"/>
          </a:xfrm>
          <a:prstGeom prst="rect">
            <a:avLst/>
          </a:prstGeom>
        </p:spPr>
        <p:txBody>
          <a:bodyPr vert="horz" lIns="91440" tIns="45720" rIns="91440" bIns="45720" rtlCol="0" anchor="ctr">
            <a:normAutofit/>
          </a:bodyPr>
          <a:lstStyle/>
          <a:p>
            <a:r>
              <a:rPr lang="fr-FR" dirty="0"/>
              <a:t>Cliquez et modifiez le titre</a:t>
            </a:r>
          </a:p>
        </p:txBody>
      </p:sp>
    </p:spTree>
    <p:extLst>
      <p:ext uri="{BB962C8B-B14F-4D97-AF65-F5344CB8AC3E}">
        <p14:creationId xmlns:p14="http://schemas.microsoft.com/office/powerpoint/2010/main" val="14314690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apo chapitre">
    <p:spTree>
      <p:nvGrpSpPr>
        <p:cNvPr id="1" name=""/>
        <p:cNvGrpSpPr/>
        <p:nvPr/>
      </p:nvGrpSpPr>
      <p:grpSpPr>
        <a:xfrm>
          <a:off x="0" y="0"/>
          <a:ext cx="0" cy="0"/>
          <a:chOff x="0" y="0"/>
          <a:chExt cx="0" cy="0"/>
        </a:xfrm>
      </p:grpSpPr>
      <p:sp>
        <p:nvSpPr>
          <p:cNvPr id="7" name="Espace réservé de la date 6"/>
          <p:cNvSpPr>
            <a:spLocks noGrp="1"/>
          </p:cNvSpPr>
          <p:nvPr>
            <p:ph type="dt" sz="half" idx="10"/>
          </p:nvPr>
        </p:nvSpPr>
        <p:spPr/>
        <p:txBody>
          <a:bodyPr/>
          <a:lstStyle/>
          <a:p>
            <a:fld id="{C6353C78-F78F-5D4D-A4C6-E9D6E8B7A25B}" type="datetime2">
              <a:rPr lang="fr-FR" smtClean="0"/>
              <a:t>lundi 22 juin 2026</a:t>
            </a:fld>
            <a:endParaRPr lang="fr-FR" dirty="0"/>
          </a:p>
        </p:txBody>
      </p:sp>
      <p:sp>
        <p:nvSpPr>
          <p:cNvPr id="8" name="Espace réservé du pied de page 7"/>
          <p:cNvSpPr>
            <a:spLocks noGrp="1"/>
          </p:cNvSpPr>
          <p:nvPr>
            <p:ph type="ftr" sz="quarter" idx="11"/>
          </p:nvPr>
        </p:nvSpPr>
        <p:spPr/>
        <p:txBody>
          <a:bodyPr/>
          <a:lstStyle>
            <a:lvl1pPr algn="l">
              <a:defRPr/>
            </a:lvl1pPr>
          </a:lstStyle>
          <a:p>
            <a:r>
              <a:rPr lang="fr-FR"/>
              <a:t>S. Lamrous</a:t>
            </a:r>
            <a:endParaRPr lang="fr-FR" dirty="0"/>
          </a:p>
        </p:txBody>
      </p:sp>
      <p:sp>
        <p:nvSpPr>
          <p:cNvPr id="10" name="Espace réservé du titre 8"/>
          <p:cNvSpPr>
            <a:spLocks noGrp="1"/>
          </p:cNvSpPr>
          <p:nvPr>
            <p:ph type="title"/>
          </p:nvPr>
        </p:nvSpPr>
        <p:spPr>
          <a:xfrm>
            <a:off x="159657" y="2365828"/>
            <a:ext cx="5762173" cy="1016001"/>
          </a:xfrm>
          <a:prstGeom prst="rect">
            <a:avLst/>
          </a:prstGeom>
        </p:spPr>
        <p:txBody>
          <a:bodyPr vert="horz" lIns="91440" tIns="45720" rIns="91440" bIns="45720" rtlCol="0" anchor="ctr">
            <a:normAutofit/>
          </a:bodyPr>
          <a:lstStyle/>
          <a:p>
            <a:r>
              <a:rPr lang="fr-FR" dirty="0"/>
              <a:t>Cliquez et modifiez le titre</a:t>
            </a:r>
          </a:p>
        </p:txBody>
      </p:sp>
      <p:sp>
        <p:nvSpPr>
          <p:cNvPr id="15" name="Espace réservé pour une image  13"/>
          <p:cNvSpPr>
            <a:spLocks noGrp="1"/>
          </p:cNvSpPr>
          <p:nvPr>
            <p:ph type="pic" sz="quarter" idx="13" hasCustomPrompt="1"/>
          </p:nvPr>
        </p:nvSpPr>
        <p:spPr>
          <a:xfrm>
            <a:off x="0" y="559939"/>
            <a:ext cx="1962000" cy="1476000"/>
          </a:xfrm>
          <a:prstGeom prst="rect">
            <a:avLst/>
          </a:prstGeom>
          <a:noFill/>
        </p:spPr>
        <p:txBody>
          <a:bodyPr vert="horz" anchor="ctr" anchorCtr="0"/>
          <a:lstStyle>
            <a:lvl1pPr marL="0" indent="0" algn="ctr">
              <a:spcBef>
                <a:spcPts val="0"/>
              </a:spcBef>
              <a:buFontTx/>
              <a:buNone/>
              <a:defRPr sz="1000" baseline="0"/>
            </a:lvl1pPr>
          </a:lstStyle>
          <a:p>
            <a:r>
              <a:rPr lang="fr-FR" dirty="0"/>
              <a:t>Insérez ici votre image personnalisée si besoin.</a:t>
            </a:r>
          </a:p>
        </p:txBody>
      </p:sp>
      <p:sp>
        <p:nvSpPr>
          <p:cNvPr id="18" name="Espace réservé pour une image  13"/>
          <p:cNvSpPr>
            <a:spLocks noGrp="1"/>
          </p:cNvSpPr>
          <p:nvPr>
            <p:ph type="pic" sz="quarter" idx="14" hasCustomPrompt="1"/>
          </p:nvPr>
        </p:nvSpPr>
        <p:spPr>
          <a:xfrm>
            <a:off x="1963927" y="559939"/>
            <a:ext cx="1980000" cy="1476000"/>
          </a:xfrm>
          <a:prstGeom prst="rect">
            <a:avLst/>
          </a:prstGeom>
          <a:noFill/>
        </p:spPr>
        <p:txBody>
          <a:bodyPr vert="horz" anchor="ctr" anchorCtr="0"/>
          <a:lstStyle>
            <a:lvl1pPr marL="0" indent="0" algn="ctr">
              <a:spcBef>
                <a:spcPts val="0"/>
              </a:spcBef>
              <a:buFontTx/>
              <a:buNone/>
              <a:defRPr sz="1000" baseline="0"/>
            </a:lvl1pPr>
          </a:lstStyle>
          <a:p>
            <a:r>
              <a:rPr lang="fr-FR" dirty="0"/>
              <a:t>Insérez ici votre image personnalisée si besoin.</a:t>
            </a:r>
          </a:p>
        </p:txBody>
      </p:sp>
      <p:sp>
        <p:nvSpPr>
          <p:cNvPr id="19" name="Espace réservé pour une image  13"/>
          <p:cNvSpPr>
            <a:spLocks noGrp="1"/>
          </p:cNvSpPr>
          <p:nvPr>
            <p:ph type="pic" sz="quarter" idx="15" hasCustomPrompt="1"/>
          </p:nvPr>
        </p:nvSpPr>
        <p:spPr>
          <a:xfrm>
            <a:off x="3954729" y="559939"/>
            <a:ext cx="1962000" cy="1476000"/>
          </a:xfrm>
          <a:prstGeom prst="rect">
            <a:avLst/>
          </a:prstGeom>
          <a:noFill/>
        </p:spPr>
        <p:txBody>
          <a:bodyPr vert="horz" anchor="ctr" anchorCtr="0"/>
          <a:lstStyle>
            <a:lvl1pPr marL="0" indent="0" algn="ctr">
              <a:spcBef>
                <a:spcPts val="0"/>
              </a:spcBef>
              <a:buFontTx/>
              <a:buNone/>
              <a:defRPr sz="1000" baseline="0"/>
            </a:lvl1pPr>
          </a:lstStyle>
          <a:p>
            <a:r>
              <a:rPr lang="fr-FR" dirty="0"/>
              <a:t>Insérez ici votre image personnalisée si besoin..</a:t>
            </a:r>
          </a:p>
        </p:txBody>
      </p:sp>
      <p:sp>
        <p:nvSpPr>
          <p:cNvPr id="24" name="Espace réservé du texte 23"/>
          <p:cNvSpPr>
            <a:spLocks noGrp="1"/>
          </p:cNvSpPr>
          <p:nvPr>
            <p:ph type="body" sz="quarter" idx="16"/>
          </p:nvPr>
        </p:nvSpPr>
        <p:spPr>
          <a:xfrm>
            <a:off x="160338" y="3697288"/>
            <a:ext cx="5446712" cy="2679700"/>
          </a:xfrm>
        </p:spPr>
        <p:txBody>
          <a:bodyPr/>
          <a:lstStyle/>
          <a:p>
            <a:pPr lvl="0"/>
            <a:r>
              <a:rPr lang="fr-FR" dirty="0"/>
              <a:t>Cliquez pour modifier les styles du texte du masque</a:t>
            </a:r>
          </a:p>
          <a:p>
            <a:pPr lvl="0"/>
            <a:endParaRPr lang="fr-FR" dirty="0"/>
          </a:p>
        </p:txBody>
      </p:sp>
    </p:spTree>
    <p:extLst>
      <p:ext uri="{BB962C8B-B14F-4D97-AF65-F5344CB8AC3E}">
        <p14:creationId xmlns:p14="http://schemas.microsoft.com/office/powerpoint/2010/main" val="10775858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 page contenu">
    <p:spTree>
      <p:nvGrpSpPr>
        <p:cNvPr id="1" name=""/>
        <p:cNvGrpSpPr/>
        <p:nvPr/>
      </p:nvGrpSpPr>
      <p:grpSpPr>
        <a:xfrm>
          <a:off x="0" y="0"/>
          <a:ext cx="0" cy="0"/>
          <a:chOff x="0" y="0"/>
          <a:chExt cx="0" cy="0"/>
        </a:xfrm>
      </p:grpSpPr>
      <p:sp>
        <p:nvSpPr>
          <p:cNvPr id="4" name="Espace réservé de la date 3"/>
          <p:cNvSpPr>
            <a:spLocks noGrp="1"/>
          </p:cNvSpPr>
          <p:nvPr>
            <p:ph type="dt" sz="half" idx="10"/>
          </p:nvPr>
        </p:nvSpPr>
        <p:spPr/>
        <p:txBody>
          <a:bodyPr/>
          <a:lstStyle/>
          <a:p>
            <a:fld id="{9C1C20E0-47BB-CF4C-9281-E2EE61B02EFE}" type="datetime2">
              <a:rPr lang="fr-FR" smtClean="0"/>
              <a:t>lundi 22 juin 2026</a:t>
            </a:fld>
            <a:endParaRPr lang="fr-FR"/>
          </a:p>
        </p:txBody>
      </p:sp>
      <p:sp>
        <p:nvSpPr>
          <p:cNvPr id="5" name="Espace réservé du pied de page 4"/>
          <p:cNvSpPr>
            <a:spLocks noGrp="1"/>
          </p:cNvSpPr>
          <p:nvPr>
            <p:ph type="ftr" sz="quarter" idx="11"/>
          </p:nvPr>
        </p:nvSpPr>
        <p:spPr>
          <a:xfrm>
            <a:off x="717092" y="6600960"/>
            <a:ext cx="2232054" cy="245710"/>
          </a:xfrm>
        </p:spPr>
        <p:txBody>
          <a:bodyPr/>
          <a:lstStyle>
            <a:lvl1pPr>
              <a:defRPr/>
            </a:lvl1pPr>
          </a:lstStyle>
          <a:p>
            <a:r>
              <a:rPr lang="fr-FR"/>
              <a:t>S. Lamrous</a:t>
            </a:r>
            <a:endParaRPr lang="fr-FR" dirty="0"/>
          </a:p>
        </p:txBody>
      </p:sp>
      <p:sp>
        <p:nvSpPr>
          <p:cNvPr id="6" name="Espace réservé du numéro de diapositive 5"/>
          <p:cNvSpPr>
            <a:spLocks noGrp="1"/>
          </p:cNvSpPr>
          <p:nvPr>
            <p:ph type="sldNum" sz="quarter" idx="12"/>
          </p:nvPr>
        </p:nvSpPr>
        <p:spPr/>
        <p:txBody>
          <a:bodyPr/>
          <a:lstStyle/>
          <a:p>
            <a:fld id="{46BC2503-DDBB-404C-B680-0E4C002F0FCF}" type="slidenum">
              <a:rPr lang="fr-FR" smtClean="0"/>
              <a:pPr/>
              <a:t>‹N°›</a:t>
            </a:fld>
            <a:endParaRPr lang="fr-FR"/>
          </a:p>
        </p:txBody>
      </p:sp>
      <p:sp>
        <p:nvSpPr>
          <p:cNvPr id="7" name="Titre 6"/>
          <p:cNvSpPr>
            <a:spLocks noGrp="1"/>
          </p:cNvSpPr>
          <p:nvPr>
            <p:ph type="title"/>
          </p:nvPr>
        </p:nvSpPr>
        <p:spPr/>
        <p:txBody>
          <a:bodyPr/>
          <a:lstStyle/>
          <a:p>
            <a:r>
              <a:rPr lang="fr-FR"/>
              <a:t>Cliquez et modifiez le titre</a:t>
            </a:r>
          </a:p>
        </p:txBody>
      </p:sp>
      <p:sp>
        <p:nvSpPr>
          <p:cNvPr id="9" name="Espace réservé du texte 8"/>
          <p:cNvSpPr>
            <a:spLocks noGrp="1"/>
          </p:cNvSpPr>
          <p:nvPr>
            <p:ph type="body" sz="quarter" idx="13"/>
          </p:nvPr>
        </p:nvSpPr>
        <p:spPr>
          <a:xfrm>
            <a:off x="958850" y="1450975"/>
            <a:ext cx="7793038" cy="490855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7006812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e la date 2"/>
          <p:cNvSpPr>
            <a:spLocks noGrp="1"/>
          </p:cNvSpPr>
          <p:nvPr>
            <p:ph type="dt" sz="half" idx="10"/>
          </p:nvPr>
        </p:nvSpPr>
        <p:spPr/>
        <p:txBody>
          <a:bodyPr/>
          <a:lstStyle/>
          <a:p>
            <a:fld id="{8282D8D2-F5F0-2744-864E-8466BE2E099D}" type="datetime2">
              <a:rPr lang="fr-FR" smtClean="0"/>
              <a:t>lundi 22 juin 2026</a:t>
            </a:fld>
            <a:endParaRPr lang="fr-FR" dirty="0"/>
          </a:p>
        </p:txBody>
      </p:sp>
      <p:sp>
        <p:nvSpPr>
          <p:cNvPr id="4" name="Espace réservé du pied de page 3"/>
          <p:cNvSpPr>
            <a:spLocks noGrp="1"/>
          </p:cNvSpPr>
          <p:nvPr>
            <p:ph type="ftr" sz="quarter" idx="11"/>
          </p:nvPr>
        </p:nvSpPr>
        <p:spPr/>
        <p:txBody>
          <a:bodyPr/>
          <a:lstStyle>
            <a:lvl1pPr>
              <a:defRPr/>
            </a:lvl1pPr>
          </a:lstStyle>
          <a:p>
            <a:r>
              <a:rPr lang="fr-FR"/>
              <a:t>S. Lamrous</a:t>
            </a:r>
            <a:endParaRPr lang="fr-FR" dirty="0"/>
          </a:p>
        </p:txBody>
      </p:sp>
      <p:sp>
        <p:nvSpPr>
          <p:cNvPr id="5" name="Espace réservé du numéro de diapositive 4"/>
          <p:cNvSpPr>
            <a:spLocks noGrp="1"/>
          </p:cNvSpPr>
          <p:nvPr>
            <p:ph type="sldNum" sz="quarter" idx="12"/>
          </p:nvPr>
        </p:nvSpPr>
        <p:spPr/>
        <p:txBody>
          <a:bodyPr/>
          <a:lstStyle/>
          <a:p>
            <a:fld id="{46BC2503-DDBB-404C-B680-0E4C002F0FCF}" type="slidenum">
              <a:rPr lang="fr-FR" smtClean="0"/>
              <a:pPr/>
              <a:t>‹N°›</a:t>
            </a:fld>
            <a:endParaRPr lang="fr-FR" dirty="0"/>
          </a:p>
        </p:txBody>
      </p:sp>
      <p:sp>
        <p:nvSpPr>
          <p:cNvPr id="7" name="Espace réservé du contenu 6"/>
          <p:cNvSpPr>
            <a:spLocks noGrp="1"/>
          </p:cNvSpPr>
          <p:nvPr>
            <p:ph sz="quarter" idx="13"/>
          </p:nvPr>
        </p:nvSpPr>
        <p:spPr>
          <a:xfrm>
            <a:off x="958300" y="1451495"/>
            <a:ext cx="3586160" cy="47513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8" name="Espace réservé du contenu 6"/>
          <p:cNvSpPr>
            <a:spLocks noGrp="1"/>
          </p:cNvSpPr>
          <p:nvPr>
            <p:ph sz="quarter" idx="14"/>
          </p:nvPr>
        </p:nvSpPr>
        <p:spPr>
          <a:xfrm>
            <a:off x="5022880" y="1451495"/>
            <a:ext cx="3586160" cy="47513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9386690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apo page finale">
    <p:spTree>
      <p:nvGrpSpPr>
        <p:cNvPr id="1" name=""/>
        <p:cNvGrpSpPr/>
        <p:nvPr/>
      </p:nvGrpSpPr>
      <p:grpSpPr>
        <a:xfrm>
          <a:off x="0" y="0"/>
          <a:ext cx="0" cy="0"/>
          <a:chOff x="0" y="0"/>
          <a:chExt cx="0" cy="0"/>
        </a:xfrm>
      </p:grpSpPr>
      <p:sp>
        <p:nvSpPr>
          <p:cNvPr id="7" name="Titre 6"/>
          <p:cNvSpPr>
            <a:spLocks noGrp="1"/>
          </p:cNvSpPr>
          <p:nvPr>
            <p:ph type="title" hasCustomPrompt="1"/>
          </p:nvPr>
        </p:nvSpPr>
        <p:spPr/>
        <p:txBody>
          <a:bodyPr/>
          <a:lstStyle/>
          <a:p>
            <a:r>
              <a:rPr lang="fr-FR" dirty="0"/>
              <a:t>Modifier</a:t>
            </a:r>
            <a:br>
              <a:rPr lang="fr-FR" dirty="0"/>
            </a:br>
            <a:r>
              <a:rPr lang="fr-FR" dirty="0"/>
              <a:t>le message de fin de présentation</a:t>
            </a:r>
          </a:p>
        </p:txBody>
      </p:sp>
    </p:spTree>
    <p:extLst>
      <p:ext uri="{BB962C8B-B14F-4D97-AF65-F5344CB8AC3E}">
        <p14:creationId xmlns:p14="http://schemas.microsoft.com/office/powerpoint/2010/main" val="214726263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4.xml"/><Relationship Id="rId1" Type="http://schemas.openxmlformats.org/officeDocument/2006/relationships/slideLayout" Target="../slideLayouts/slideLayout3.xml"/><Relationship Id="rId4" Type="http://schemas.openxmlformats.org/officeDocument/2006/relationships/image" Target="../media/image3.jpe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theme" Target="../theme/theme4.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7" name="Espace réservé de la date 7"/>
          <p:cNvSpPr>
            <a:spLocks noGrp="1"/>
          </p:cNvSpPr>
          <p:nvPr>
            <p:ph type="dt" sz="half" idx="2"/>
          </p:nvPr>
        </p:nvSpPr>
        <p:spPr>
          <a:xfrm>
            <a:off x="6589485" y="6596743"/>
            <a:ext cx="2540002" cy="261258"/>
          </a:xfrm>
          <a:prstGeom prst="rect">
            <a:avLst/>
          </a:prstGeom>
        </p:spPr>
        <p:txBody>
          <a:bodyPr/>
          <a:lstStyle>
            <a:lvl1pPr>
              <a:defRPr sz="1200">
                <a:solidFill>
                  <a:srgbClr val="FFFFFF"/>
                </a:solidFill>
                <a:latin typeface="Calibri"/>
                <a:cs typeface="Calibri"/>
              </a:defRPr>
            </a:lvl1pPr>
          </a:lstStyle>
          <a:p>
            <a:pPr algn="r"/>
            <a:fld id="{6D6F3317-6AEF-C949-AFD8-F551F18271D6}" type="datetime2">
              <a:rPr lang="fr-FR" smtClean="0"/>
              <a:t>lundi 22 juin 2026</a:t>
            </a:fld>
            <a:endParaRPr lang="fr-FR" dirty="0"/>
          </a:p>
        </p:txBody>
      </p:sp>
      <p:sp>
        <p:nvSpPr>
          <p:cNvPr id="8" name="Espace réservé du pied de page 8"/>
          <p:cNvSpPr>
            <a:spLocks noGrp="1"/>
          </p:cNvSpPr>
          <p:nvPr>
            <p:ph type="ftr" sz="quarter" idx="3"/>
          </p:nvPr>
        </p:nvSpPr>
        <p:spPr>
          <a:xfrm>
            <a:off x="94342" y="6596743"/>
            <a:ext cx="5268687" cy="261257"/>
          </a:xfrm>
          <a:prstGeom prst="rect">
            <a:avLst/>
          </a:prstGeom>
        </p:spPr>
        <p:txBody>
          <a:bodyPr/>
          <a:lstStyle>
            <a:lvl1pPr algn="l">
              <a:defRPr sz="1200">
                <a:solidFill>
                  <a:schemeClr val="bg1"/>
                </a:solidFill>
                <a:latin typeface="Calibri"/>
                <a:cs typeface="Calibri"/>
              </a:defRPr>
            </a:lvl1pPr>
          </a:lstStyle>
          <a:p>
            <a:r>
              <a:rPr lang="fr-FR"/>
              <a:t>S. Lamrous</a:t>
            </a:r>
            <a:endParaRPr lang="fr-FR" dirty="0"/>
          </a:p>
        </p:txBody>
      </p:sp>
      <p:sp>
        <p:nvSpPr>
          <p:cNvPr id="12" name="Espace réservé du titre 10"/>
          <p:cNvSpPr>
            <a:spLocks noGrp="1"/>
          </p:cNvSpPr>
          <p:nvPr>
            <p:ph type="title"/>
          </p:nvPr>
        </p:nvSpPr>
        <p:spPr>
          <a:xfrm>
            <a:off x="203199" y="3954008"/>
            <a:ext cx="8229600" cy="1350962"/>
          </a:xfrm>
          <a:prstGeom prst="rect">
            <a:avLst/>
          </a:prstGeom>
        </p:spPr>
        <p:txBody>
          <a:bodyPr vert="horz" lIns="91440" tIns="45720" rIns="91440" bIns="45720" rtlCol="0" anchor="ctr">
            <a:normAutofit/>
          </a:bodyPr>
          <a:lstStyle/>
          <a:p>
            <a:r>
              <a:rPr lang="fr-FR" dirty="0"/>
              <a:t>Cliquez et modifiez le titre</a:t>
            </a:r>
          </a:p>
        </p:txBody>
      </p:sp>
    </p:spTree>
    <p:extLst>
      <p:ext uri="{BB962C8B-B14F-4D97-AF65-F5344CB8AC3E}">
        <p14:creationId xmlns:p14="http://schemas.microsoft.com/office/powerpoint/2010/main" val="2950371456"/>
      </p:ext>
    </p:extLst>
  </p:cSld>
  <p:clrMap bg1="lt1" tx1="dk1" bg2="lt2" tx2="dk2" accent1="accent1" accent2="accent2" accent3="accent3" accent4="accent4" accent5="accent5" accent6="accent6" hlink="hlink" folHlink="folHlink"/>
  <p:sldLayoutIdLst>
    <p:sldLayoutId id="2147483652" r:id="rId1"/>
  </p:sldLayoutIdLst>
  <p:hf sldNum="0" hdr="0"/>
  <p:txStyles>
    <p:titleStyle>
      <a:lvl1pPr algn="l" defTabSz="457200" rtl="0" eaLnBrk="1" latinLnBrk="0" hangingPunct="1">
        <a:spcBef>
          <a:spcPct val="0"/>
        </a:spcBef>
        <a:buNone/>
        <a:defRPr sz="4000" b="1" kern="1200">
          <a:solidFill>
            <a:schemeClr val="bg1"/>
          </a:solidFill>
          <a:latin typeface="Calibri"/>
          <a:ea typeface="+mj-ea"/>
          <a:cs typeface="Calibri"/>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7" name="Espace réservé du pied de page 3"/>
          <p:cNvSpPr>
            <a:spLocks noGrp="1"/>
          </p:cNvSpPr>
          <p:nvPr>
            <p:ph type="ftr" sz="quarter" idx="3"/>
          </p:nvPr>
        </p:nvSpPr>
        <p:spPr>
          <a:xfrm>
            <a:off x="159657" y="6596743"/>
            <a:ext cx="5762173" cy="261257"/>
          </a:xfrm>
          <a:prstGeom prst="rect">
            <a:avLst/>
          </a:prstGeom>
        </p:spPr>
        <p:txBody>
          <a:bodyPr/>
          <a:lstStyle>
            <a:lvl1pPr algn="l">
              <a:defRPr sz="1200">
                <a:solidFill>
                  <a:srgbClr val="FFFFFF"/>
                </a:solidFill>
                <a:latin typeface="Calibri"/>
                <a:cs typeface="Calibri"/>
              </a:defRPr>
            </a:lvl1pPr>
          </a:lstStyle>
          <a:p>
            <a:r>
              <a:rPr lang="fr-FR"/>
              <a:t>S. Lamrous</a:t>
            </a:r>
            <a:endParaRPr lang="fr-FR" dirty="0"/>
          </a:p>
        </p:txBody>
      </p:sp>
      <p:sp>
        <p:nvSpPr>
          <p:cNvPr id="8" name="Espace réservé de la date 4"/>
          <p:cNvSpPr>
            <a:spLocks noGrp="1"/>
          </p:cNvSpPr>
          <p:nvPr>
            <p:ph type="dt" sz="half" idx="2"/>
          </p:nvPr>
        </p:nvSpPr>
        <p:spPr>
          <a:xfrm>
            <a:off x="5921830" y="6596743"/>
            <a:ext cx="2133600" cy="261258"/>
          </a:xfrm>
          <a:prstGeom prst="rect">
            <a:avLst/>
          </a:prstGeom>
        </p:spPr>
        <p:txBody>
          <a:bodyPr/>
          <a:lstStyle>
            <a:lvl1pPr algn="r">
              <a:defRPr sz="1200">
                <a:solidFill>
                  <a:srgbClr val="FFFFFF"/>
                </a:solidFill>
                <a:latin typeface="Calibri"/>
                <a:cs typeface="Calibri"/>
              </a:defRPr>
            </a:lvl1pPr>
          </a:lstStyle>
          <a:p>
            <a:fld id="{5CB9A835-4C02-F74F-A87D-4F1F8ABB1C4A}" type="datetime2">
              <a:rPr lang="fr-FR" smtClean="0"/>
              <a:t>lundi 22 juin 2026</a:t>
            </a:fld>
            <a:endParaRPr lang="fr-FR" dirty="0"/>
          </a:p>
        </p:txBody>
      </p:sp>
      <p:sp>
        <p:nvSpPr>
          <p:cNvPr id="9" name="Espace réservé du titre 8"/>
          <p:cNvSpPr>
            <a:spLocks noGrp="1"/>
          </p:cNvSpPr>
          <p:nvPr>
            <p:ph type="title"/>
          </p:nvPr>
        </p:nvSpPr>
        <p:spPr>
          <a:xfrm>
            <a:off x="159657" y="2365828"/>
            <a:ext cx="5762173" cy="1016001"/>
          </a:xfrm>
          <a:prstGeom prst="rect">
            <a:avLst/>
          </a:prstGeom>
        </p:spPr>
        <p:txBody>
          <a:bodyPr vert="horz" lIns="91440" tIns="45720" rIns="91440" bIns="45720" rtlCol="0" anchor="ctr">
            <a:normAutofit/>
          </a:bodyPr>
          <a:lstStyle/>
          <a:p>
            <a:r>
              <a:rPr lang="fr-FR" dirty="0"/>
              <a:t>Cliquez et modifiez le titre</a:t>
            </a:r>
          </a:p>
        </p:txBody>
      </p:sp>
      <p:sp>
        <p:nvSpPr>
          <p:cNvPr id="13" name="Espace réservé du texte 12"/>
          <p:cNvSpPr>
            <a:spLocks noGrp="1"/>
          </p:cNvSpPr>
          <p:nvPr>
            <p:ph type="body" idx="1"/>
          </p:nvPr>
        </p:nvSpPr>
        <p:spPr>
          <a:xfrm>
            <a:off x="159658" y="3646080"/>
            <a:ext cx="5352446" cy="2868480"/>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2534879439"/>
      </p:ext>
    </p:extLst>
  </p:cSld>
  <p:clrMap bg1="lt1" tx1="dk1" bg2="lt2" tx2="dk2" accent1="accent1" accent2="accent2" accent3="accent3" accent4="accent4" accent5="accent5" accent6="accent6" hlink="hlink" folHlink="folHlink"/>
  <p:sldLayoutIdLst>
    <p:sldLayoutId id="2147483654" r:id="rId1"/>
  </p:sldLayoutIdLst>
  <p:hf sldNum="0" hdr="0"/>
  <p:txStyles>
    <p:titleStyle>
      <a:lvl1pPr algn="l" defTabSz="457200" rtl="0" eaLnBrk="1" latinLnBrk="0" hangingPunct="1">
        <a:spcBef>
          <a:spcPct val="0"/>
        </a:spcBef>
        <a:buNone/>
        <a:defRPr sz="2800" b="1" kern="1200">
          <a:solidFill>
            <a:schemeClr val="bg1"/>
          </a:solidFill>
          <a:latin typeface="Calibri"/>
          <a:ea typeface="+mj-ea"/>
          <a:cs typeface="Calibri"/>
        </a:defRPr>
      </a:lvl1pPr>
    </p:titleStyle>
    <p:bodyStyle>
      <a:lvl1pPr marL="180000" indent="-162000" algn="l" defTabSz="457200" rtl="0" eaLnBrk="1" latinLnBrk="0" hangingPunct="1">
        <a:lnSpc>
          <a:spcPct val="100000"/>
        </a:lnSpc>
        <a:spcBef>
          <a:spcPts val="0"/>
        </a:spcBef>
        <a:buFont typeface="Wingdings" charset="2"/>
        <a:buChar char="§"/>
        <a:defRPr sz="2000" kern="1200">
          <a:solidFill>
            <a:schemeClr val="bg1"/>
          </a:solidFill>
          <a:latin typeface="Calibri"/>
          <a:ea typeface="+mn-ea"/>
          <a:cs typeface="Calibri"/>
        </a:defRPr>
      </a:lvl1pPr>
      <a:lvl2pPr marL="597600" indent="-212400" algn="l" defTabSz="457200" rtl="0" eaLnBrk="1" latinLnBrk="0" hangingPunct="1">
        <a:spcBef>
          <a:spcPct val="20000"/>
        </a:spcBef>
        <a:buFont typeface="Lucida Grande"/>
        <a:buChar char="»"/>
        <a:defRPr sz="1600" kern="1200">
          <a:solidFill>
            <a:srgbClr val="FFFFFF"/>
          </a:solidFill>
          <a:latin typeface="+mn-lt"/>
          <a:ea typeface="+mn-ea"/>
          <a:cs typeface="+mn-cs"/>
        </a:defRPr>
      </a:lvl2pPr>
      <a:lvl3pPr marL="1054800" indent="-212400" algn="l" defTabSz="457200" rtl="0" eaLnBrk="1" latinLnBrk="0" hangingPunct="1">
        <a:spcBef>
          <a:spcPct val="20000"/>
        </a:spcBef>
        <a:buFont typeface="Arial"/>
        <a:buChar char="•"/>
        <a:defRPr sz="1600" kern="1200">
          <a:solidFill>
            <a:srgbClr val="FFFFFF"/>
          </a:solidFill>
          <a:latin typeface="Calibri"/>
          <a:ea typeface="+mn-ea"/>
          <a:cs typeface="Calibri"/>
        </a:defRPr>
      </a:lvl3pPr>
      <a:lvl4pPr marL="1512000" indent="-212400" algn="l" defTabSz="457200" rtl="0" eaLnBrk="1" latinLnBrk="0" hangingPunct="1">
        <a:spcBef>
          <a:spcPct val="20000"/>
        </a:spcBef>
        <a:buSzPct val="75000"/>
        <a:buFont typeface="Arial"/>
        <a:buChar char="•"/>
        <a:defRPr sz="1600" kern="1200">
          <a:solidFill>
            <a:srgbClr val="FFFFFF"/>
          </a:solidFill>
          <a:latin typeface="Calibri"/>
          <a:ea typeface="+mn-ea"/>
          <a:cs typeface="Calibri"/>
        </a:defRPr>
      </a:lvl4pPr>
      <a:lvl5pPr marL="1915200" indent="-158400" algn="l" defTabSz="457200" rtl="0" eaLnBrk="1" latinLnBrk="0" hangingPunct="1">
        <a:spcBef>
          <a:spcPct val="20000"/>
        </a:spcBef>
        <a:buSzPct val="50000"/>
        <a:buFont typeface="Arial"/>
        <a:buChar char="•"/>
        <a:defRPr sz="1600" kern="1200">
          <a:solidFill>
            <a:srgbClr val="FFFFFF"/>
          </a:solidFill>
          <a:latin typeface="Calibri"/>
          <a:ea typeface="+mn-ea"/>
          <a:cs typeface="Calibri"/>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rotWithShape="1">
          <a:blip r:embed="rId4"/>
          <a:stretch>
            <a:fillRect/>
          </a:stretch>
        </a:blipFill>
        <a:effectLst/>
      </p:bgPr>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155512" y="120960"/>
            <a:ext cx="8531288" cy="613440"/>
          </a:xfrm>
          <a:prstGeom prst="rect">
            <a:avLst/>
          </a:prstGeom>
        </p:spPr>
        <p:txBody>
          <a:bodyPr vert="horz" lIns="91440" tIns="45720" rIns="91440" bIns="45720" rtlCol="0" anchor="ctr">
            <a:normAutofit/>
          </a:bodyPr>
          <a:lstStyle/>
          <a:p>
            <a:r>
              <a:rPr lang="fr-FR" dirty="0"/>
              <a:t>Cliquez et modifiez le titre</a:t>
            </a:r>
          </a:p>
        </p:txBody>
      </p:sp>
      <p:sp>
        <p:nvSpPr>
          <p:cNvPr id="3" name="Espace réservé du texte 2"/>
          <p:cNvSpPr>
            <a:spLocks noGrp="1"/>
          </p:cNvSpPr>
          <p:nvPr>
            <p:ph type="body" idx="1"/>
          </p:nvPr>
        </p:nvSpPr>
        <p:spPr>
          <a:xfrm>
            <a:off x="924444" y="1600200"/>
            <a:ext cx="7762356" cy="4750200"/>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e la date 3"/>
          <p:cNvSpPr>
            <a:spLocks noGrp="1"/>
          </p:cNvSpPr>
          <p:nvPr>
            <p:ph type="dt" sz="half" idx="2"/>
          </p:nvPr>
        </p:nvSpPr>
        <p:spPr>
          <a:xfrm>
            <a:off x="6019800" y="6600960"/>
            <a:ext cx="2133600" cy="245710"/>
          </a:xfrm>
          <a:prstGeom prst="rect">
            <a:avLst/>
          </a:prstGeom>
        </p:spPr>
        <p:txBody>
          <a:bodyPr vert="horz" lIns="91440" tIns="45720" rIns="91440" bIns="45720" rtlCol="0" anchor="ctr"/>
          <a:lstStyle>
            <a:lvl1pPr algn="r">
              <a:defRPr sz="1200">
                <a:solidFill>
                  <a:schemeClr val="bg1"/>
                </a:solidFill>
              </a:defRPr>
            </a:lvl1pPr>
          </a:lstStyle>
          <a:p>
            <a:fld id="{A75DD71B-6916-324F-A7D5-2A3566906F8D}" type="datetime2">
              <a:rPr lang="fr-FR" smtClean="0"/>
              <a:t>lundi 22 juin 2026</a:t>
            </a:fld>
            <a:endParaRPr lang="fr-FR" dirty="0"/>
          </a:p>
        </p:txBody>
      </p:sp>
      <p:sp>
        <p:nvSpPr>
          <p:cNvPr id="5" name="Espace réservé du pied de page 4"/>
          <p:cNvSpPr>
            <a:spLocks noGrp="1"/>
          </p:cNvSpPr>
          <p:nvPr>
            <p:ph type="ftr" sz="quarter" idx="3"/>
          </p:nvPr>
        </p:nvSpPr>
        <p:spPr>
          <a:xfrm>
            <a:off x="717092" y="6600960"/>
            <a:ext cx="5302708" cy="245710"/>
          </a:xfrm>
          <a:prstGeom prst="rect">
            <a:avLst/>
          </a:prstGeom>
        </p:spPr>
        <p:txBody>
          <a:bodyPr vert="horz" lIns="91440" tIns="45720" rIns="91440" bIns="45720" rtlCol="0" anchor="ctr" anchorCtr="0"/>
          <a:lstStyle>
            <a:lvl1pPr algn="ctr">
              <a:defRPr sz="1200">
                <a:solidFill>
                  <a:schemeClr val="bg1"/>
                </a:solidFill>
              </a:defRPr>
            </a:lvl1pPr>
          </a:lstStyle>
          <a:p>
            <a:r>
              <a:rPr lang="fr-FR"/>
              <a:t>S. Lamrous</a:t>
            </a:r>
            <a:endParaRPr lang="fr-FR" dirty="0"/>
          </a:p>
        </p:txBody>
      </p:sp>
      <p:sp>
        <p:nvSpPr>
          <p:cNvPr id="6" name="Espace réservé du numéro de diapositive 5"/>
          <p:cNvSpPr>
            <a:spLocks noGrp="1"/>
          </p:cNvSpPr>
          <p:nvPr>
            <p:ph type="sldNum" sz="quarter" idx="4"/>
          </p:nvPr>
        </p:nvSpPr>
        <p:spPr>
          <a:xfrm>
            <a:off x="0" y="6600960"/>
            <a:ext cx="717092" cy="245710"/>
          </a:xfrm>
          <a:prstGeom prst="rect">
            <a:avLst/>
          </a:prstGeom>
        </p:spPr>
        <p:txBody>
          <a:bodyPr vert="horz" lIns="91440" tIns="45720" rIns="91440" bIns="45720" rtlCol="0" anchor="ctr"/>
          <a:lstStyle>
            <a:lvl1pPr algn="ctr">
              <a:defRPr sz="1200">
                <a:solidFill>
                  <a:schemeClr val="bg1"/>
                </a:solidFill>
              </a:defRPr>
            </a:lvl1pPr>
          </a:lstStyle>
          <a:p>
            <a:fld id="{46BC2503-DDBB-404C-B680-0E4C002F0FCF}" type="slidenum">
              <a:rPr lang="fr-FR" smtClean="0"/>
              <a:pPr/>
              <a:t>‹N°›</a:t>
            </a:fld>
            <a:endParaRPr lang="fr-FR" dirty="0"/>
          </a:p>
        </p:txBody>
      </p:sp>
    </p:spTree>
    <p:extLst>
      <p:ext uri="{BB962C8B-B14F-4D97-AF65-F5344CB8AC3E}">
        <p14:creationId xmlns:p14="http://schemas.microsoft.com/office/powerpoint/2010/main" val="1282504755"/>
      </p:ext>
    </p:extLst>
  </p:cSld>
  <p:clrMap bg1="lt1" tx1="dk1" bg2="lt2" tx2="dk2" accent1="accent1" accent2="accent2" accent3="accent3" accent4="accent4" accent5="accent5" accent6="accent6" hlink="hlink" folHlink="folHlink"/>
  <p:sldLayoutIdLst>
    <p:sldLayoutId id="2147483656" r:id="rId1"/>
    <p:sldLayoutId id="2147483659" r:id="rId2"/>
  </p:sldLayoutIdLst>
  <p:hf sldNum="0" hdr="0"/>
  <p:txStyles>
    <p:titleStyle>
      <a:lvl1pPr algn="l" defTabSz="457200" rtl="0" eaLnBrk="1" latinLnBrk="0" hangingPunct="1">
        <a:spcBef>
          <a:spcPct val="0"/>
        </a:spcBef>
        <a:buNone/>
        <a:defRPr sz="2800" b="1" kern="1200">
          <a:solidFill>
            <a:srgbClr val="FFFFFF"/>
          </a:solidFill>
          <a:latin typeface="Calibri"/>
          <a:ea typeface="+mj-ea"/>
          <a:cs typeface="Calibri"/>
        </a:defRPr>
      </a:lvl1pPr>
    </p:titleStyle>
    <p:bodyStyle>
      <a:lvl1pPr marL="270000" indent="-270000" algn="l" defTabSz="457200" rtl="0" eaLnBrk="1" latinLnBrk="0" hangingPunct="1">
        <a:spcBef>
          <a:spcPct val="20000"/>
        </a:spcBef>
        <a:buClr>
          <a:schemeClr val="accent5">
            <a:lumMod val="60000"/>
            <a:lumOff val="40000"/>
          </a:schemeClr>
        </a:buClr>
        <a:buFont typeface="Lucida Grande"/>
        <a:buChar char="■"/>
        <a:defRPr sz="2600" kern="1200">
          <a:solidFill>
            <a:schemeClr val="tx1"/>
          </a:solidFill>
          <a:latin typeface="Calibri"/>
          <a:ea typeface="+mn-ea"/>
          <a:cs typeface="Calibri"/>
        </a:defRPr>
      </a:lvl1pPr>
      <a:lvl2pPr marL="669600" indent="-212400" algn="l" defTabSz="457200" rtl="0" eaLnBrk="1" latinLnBrk="0" hangingPunct="1">
        <a:spcBef>
          <a:spcPct val="20000"/>
        </a:spcBef>
        <a:buClr>
          <a:schemeClr val="accent4"/>
        </a:buClr>
        <a:buFont typeface="Lucida Grande"/>
        <a:buChar char="»"/>
        <a:defRPr sz="2200" kern="1200">
          <a:solidFill>
            <a:schemeClr val="tx1"/>
          </a:solidFill>
          <a:latin typeface="Calibri"/>
          <a:ea typeface="+mn-ea"/>
          <a:cs typeface="Calibri"/>
        </a:defRPr>
      </a:lvl2pPr>
      <a:lvl3pPr marL="1072800" indent="-158400" algn="l" defTabSz="457200" rtl="0" eaLnBrk="1" latinLnBrk="0" hangingPunct="1">
        <a:spcBef>
          <a:spcPct val="20000"/>
        </a:spcBef>
        <a:buClr>
          <a:schemeClr val="accent4"/>
        </a:buClr>
        <a:buFont typeface="Arial"/>
        <a:buChar char="•"/>
        <a:defRPr sz="2000" kern="1200">
          <a:solidFill>
            <a:schemeClr val="tx1"/>
          </a:solidFill>
          <a:latin typeface="Calibri"/>
          <a:ea typeface="+mn-ea"/>
          <a:cs typeface="Calibri"/>
        </a:defRPr>
      </a:lvl3pPr>
      <a:lvl4pPr marL="1530000" indent="-158400" algn="l" defTabSz="457200" rtl="0" eaLnBrk="1" latinLnBrk="0" hangingPunct="1">
        <a:spcBef>
          <a:spcPct val="20000"/>
        </a:spcBef>
        <a:buSzPct val="75000"/>
        <a:buFont typeface="Arial"/>
        <a:buChar char="•"/>
        <a:defRPr sz="2000" kern="1200">
          <a:solidFill>
            <a:schemeClr val="tx1"/>
          </a:solidFill>
          <a:latin typeface="Calibri"/>
          <a:ea typeface="+mn-ea"/>
          <a:cs typeface="Calibri"/>
        </a:defRPr>
      </a:lvl4pPr>
      <a:lvl5pPr marL="1987200" indent="-158400" algn="l" defTabSz="457200" rtl="0" eaLnBrk="1" latinLnBrk="0" hangingPunct="1">
        <a:spcBef>
          <a:spcPct val="20000"/>
        </a:spcBef>
        <a:buSzPct val="50000"/>
        <a:buFont typeface="Arial"/>
        <a:buChar char="•"/>
        <a:defRPr sz="2000" kern="1200">
          <a:solidFill>
            <a:schemeClr val="tx1"/>
          </a:solidFill>
          <a:latin typeface="Calibri"/>
          <a:ea typeface="+mn-ea"/>
          <a:cs typeface="Calibri"/>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7" name="Espace réservé du titre 6"/>
          <p:cNvSpPr>
            <a:spLocks noGrp="1"/>
          </p:cNvSpPr>
          <p:nvPr>
            <p:ph type="title"/>
          </p:nvPr>
        </p:nvSpPr>
        <p:spPr>
          <a:xfrm>
            <a:off x="914400" y="2443278"/>
            <a:ext cx="3103042" cy="3457842"/>
          </a:xfrm>
          <a:prstGeom prst="rect">
            <a:avLst/>
          </a:prstGeom>
        </p:spPr>
        <p:txBody>
          <a:bodyPr vert="horz" lIns="91440" tIns="45720" rIns="91440" bIns="45720" rtlCol="0" anchor="ctr">
            <a:normAutofit/>
          </a:bodyPr>
          <a:lstStyle/>
          <a:p>
            <a:r>
              <a:rPr lang="fr-FR" dirty="0"/>
              <a:t>Modifier</a:t>
            </a:r>
            <a:br>
              <a:rPr lang="fr-FR" dirty="0"/>
            </a:br>
            <a:r>
              <a:rPr lang="fr-FR" dirty="0"/>
              <a:t>le message de fin de présentation</a:t>
            </a:r>
          </a:p>
        </p:txBody>
      </p:sp>
    </p:spTree>
    <p:extLst>
      <p:ext uri="{BB962C8B-B14F-4D97-AF65-F5344CB8AC3E}">
        <p14:creationId xmlns:p14="http://schemas.microsoft.com/office/powerpoint/2010/main" val="875715581"/>
      </p:ext>
    </p:extLst>
  </p:cSld>
  <p:clrMap bg1="lt1" tx1="dk1" bg2="lt2" tx2="dk2" accent1="accent1" accent2="accent2" accent3="accent3" accent4="accent4" accent5="accent5" accent6="accent6" hlink="hlink" folHlink="folHlink"/>
  <p:sldLayoutIdLst>
    <p:sldLayoutId id="2147483658" r:id="rId1"/>
  </p:sldLayoutIdLst>
  <p:hf sldNum="0" hdr="0"/>
  <p:txStyles>
    <p:titleStyle>
      <a:lvl1pPr algn="ctr" defTabSz="457200" rtl="0" eaLnBrk="1" latinLnBrk="0" hangingPunct="1">
        <a:spcBef>
          <a:spcPct val="0"/>
        </a:spcBef>
        <a:buNone/>
        <a:defRPr sz="2800" kern="1200" baseline="0">
          <a:solidFill>
            <a:schemeClr val="tx1"/>
          </a:solidFill>
          <a:latin typeface="Calibri"/>
          <a:ea typeface="+mj-ea"/>
          <a:cs typeface="Calibri"/>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pPr algn="r"/>
            <a:fld id="{EB3BD40C-B1A5-A148-89AC-9A1B064BBCEC}" type="datetime2">
              <a:rPr lang="fr-FR" smtClean="0"/>
              <a:t>lundi 22 juin 2026</a:t>
            </a:fld>
            <a:endParaRPr lang="fr-FR" dirty="0"/>
          </a:p>
        </p:txBody>
      </p:sp>
      <p:sp>
        <p:nvSpPr>
          <p:cNvPr id="6" name="Titre 5"/>
          <p:cNvSpPr>
            <a:spLocks noGrp="1"/>
          </p:cNvSpPr>
          <p:nvPr>
            <p:ph type="title"/>
          </p:nvPr>
        </p:nvSpPr>
        <p:spPr>
          <a:xfrm>
            <a:off x="7256" y="4833661"/>
            <a:ext cx="9129487" cy="1613578"/>
          </a:xfrm>
        </p:spPr>
        <p:txBody>
          <a:bodyPr>
            <a:noAutofit/>
          </a:bodyPr>
          <a:lstStyle/>
          <a:p>
            <a:r>
              <a:rPr lang="fr-FR" sz="2400" dirty="0">
                <a:latin typeface="+mn-lt"/>
              </a:rPr>
              <a:t>LUDS02 : Web stratégies, surveillance, et analyse de données</a:t>
            </a:r>
            <a:br>
              <a:rPr lang="fr-FR" sz="2400" dirty="0">
                <a:latin typeface="+mn-lt"/>
              </a:rPr>
            </a:br>
            <a:r>
              <a:rPr lang="fr-FR" sz="2800" dirty="0"/>
              <a:t>Web sémantique (3.0) / web symbiotique (4.0) </a:t>
            </a:r>
            <a:br>
              <a:rPr lang="fr-FR" sz="2800" dirty="0"/>
            </a:br>
            <a:r>
              <a:rPr lang="fr-FR" sz="2800" dirty="0"/>
              <a:t> Projections actuelles</a:t>
            </a:r>
            <a:br>
              <a:rPr lang="fr-FR" dirty="0"/>
            </a:br>
            <a:br>
              <a:rPr lang="fr-FR" b="0" dirty="0"/>
            </a:br>
            <a:br>
              <a:rPr lang="fr-FR" dirty="0"/>
            </a:br>
            <a:br>
              <a:rPr lang="fr-FR" sz="3600" dirty="0">
                <a:latin typeface="+mn-lt"/>
              </a:rPr>
            </a:br>
            <a:endParaRPr lang="fr-FR" sz="2400" dirty="0">
              <a:latin typeface="+mn-lt"/>
            </a:endParaRPr>
          </a:p>
        </p:txBody>
      </p:sp>
      <p:pic>
        <p:nvPicPr>
          <p:cNvPr id="10" name="Espace réservé pour une image  9">
            <a:extLst>
              <a:ext uri="{FF2B5EF4-FFF2-40B4-BE49-F238E27FC236}">
                <a16:creationId xmlns:a16="http://schemas.microsoft.com/office/drawing/2014/main" id="{4A77F248-37ED-41F7-A4A3-7BAED77FB185}"/>
              </a:ext>
            </a:extLst>
          </p:cNvPr>
          <p:cNvPicPr>
            <a:picLocks noGrp="1" noChangeAspect="1"/>
          </p:cNvPicPr>
          <p:nvPr>
            <p:ph type="pic" sz="quarter" idx="13"/>
          </p:nvPr>
        </p:nvPicPr>
        <p:blipFill>
          <a:blip r:embed="rId3"/>
          <a:srcRect l="17" r="17"/>
          <a:stretch>
            <a:fillRect/>
          </a:stretch>
        </p:blipFill>
        <p:spPr/>
      </p:pic>
      <p:sp>
        <p:nvSpPr>
          <p:cNvPr id="8" name="Espace réservé du pied de page 7">
            <a:extLst>
              <a:ext uri="{FF2B5EF4-FFF2-40B4-BE49-F238E27FC236}">
                <a16:creationId xmlns:a16="http://schemas.microsoft.com/office/drawing/2014/main" id="{5983C01E-3AE0-4F1B-96B7-5CEEEAF6F36B}"/>
              </a:ext>
            </a:extLst>
          </p:cNvPr>
          <p:cNvSpPr>
            <a:spLocks noGrp="1"/>
          </p:cNvSpPr>
          <p:nvPr>
            <p:ph type="ftr" sz="quarter" idx="11"/>
          </p:nvPr>
        </p:nvSpPr>
        <p:spPr>
          <a:xfrm>
            <a:off x="159657" y="6596743"/>
            <a:ext cx="5762173" cy="261257"/>
          </a:xfrm>
        </p:spPr>
        <p:txBody>
          <a:bodyPr/>
          <a:lstStyle>
            <a:lvl1pPr algn="l">
              <a:defRPr/>
            </a:lvl1pPr>
          </a:lstStyle>
          <a:p>
            <a:r>
              <a:rPr lang="fr-FR"/>
              <a:t>S. Lamrous</a:t>
            </a:r>
            <a:endParaRPr lang="fr-FR" dirty="0"/>
          </a:p>
        </p:txBody>
      </p:sp>
    </p:spTree>
    <p:extLst>
      <p:ext uri="{BB962C8B-B14F-4D97-AF65-F5344CB8AC3E}">
        <p14:creationId xmlns:p14="http://schemas.microsoft.com/office/powerpoint/2010/main" val="18900329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E6A3B-6EC2-78C1-680F-475A14FC23DE}"/>
            </a:ext>
          </a:extLst>
        </p:cNvPr>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391A5F6B-71F4-5EDA-0A0F-B0195448AAE2}"/>
              </a:ext>
            </a:extLst>
          </p:cNvPr>
          <p:cNvSpPr>
            <a:spLocks noGrp="1"/>
          </p:cNvSpPr>
          <p:nvPr>
            <p:ph type="dt" sz="half" idx="10"/>
          </p:nvPr>
        </p:nvSpPr>
        <p:spPr/>
        <p:txBody>
          <a:bodyPr/>
          <a:lstStyle/>
          <a:p>
            <a:fld id="{2A3027D3-41C8-F940-A544-A1711327A6BF}" type="datetime2">
              <a:rPr lang="fr-FR" smtClean="0"/>
              <a:t>lundi 22 juin 2026</a:t>
            </a:fld>
            <a:endParaRPr lang="fr-FR" dirty="0"/>
          </a:p>
        </p:txBody>
      </p:sp>
      <p:sp>
        <p:nvSpPr>
          <p:cNvPr id="3" name="Espace réservé du pied de page 2">
            <a:extLst>
              <a:ext uri="{FF2B5EF4-FFF2-40B4-BE49-F238E27FC236}">
                <a16:creationId xmlns:a16="http://schemas.microsoft.com/office/drawing/2014/main" id="{91CA25AB-74F0-6571-C968-3A65B54F7CD4}"/>
              </a:ext>
            </a:extLst>
          </p:cNvPr>
          <p:cNvSpPr>
            <a:spLocks noGrp="1"/>
          </p:cNvSpPr>
          <p:nvPr>
            <p:ph type="ftr" sz="quarter" idx="11"/>
          </p:nvPr>
        </p:nvSpPr>
        <p:spPr/>
        <p:txBody>
          <a:bodyPr/>
          <a:lstStyle/>
          <a:p>
            <a:r>
              <a:rPr lang="fr-FR"/>
              <a:t>S. Lamrous</a:t>
            </a:r>
            <a:endParaRPr lang="fr-FR" dirty="0"/>
          </a:p>
        </p:txBody>
      </p:sp>
      <p:sp>
        <p:nvSpPr>
          <p:cNvPr id="4" name="Titre 3">
            <a:extLst>
              <a:ext uri="{FF2B5EF4-FFF2-40B4-BE49-F238E27FC236}">
                <a16:creationId xmlns:a16="http://schemas.microsoft.com/office/drawing/2014/main" id="{5D1A0D6D-E35F-AFF3-D881-D37617CD28D3}"/>
              </a:ext>
            </a:extLst>
          </p:cNvPr>
          <p:cNvSpPr>
            <a:spLocks noGrp="1"/>
          </p:cNvSpPr>
          <p:nvPr>
            <p:ph type="title"/>
          </p:nvPr>
        </p:nvSpPr>
        <p:spPr/>
        <p:txBody>
          <a:bodyPr/>
          <a:lstStyle/>
          <a:p>
            <a:r>
              <a:rPr lang="fr-FR" dirty="0"/>
              <a:t>Web sémantique 3.0 </a:t>
            </a:r>
            <a:br>
              <a:rPr lang="fr-FR" dirty="0"/>
            </a:br>
            <a:r>
              <a:rPr lang="fr-FR" dirty="0"/>
              <a:t>Web symbiotique 4.0</a:t>
            </a:r>
          </a:p>
        </p:txBody>
      </p:sp>
      <p:sp>
        <p:nvSpPr>
          <p:cNvPr id="8" name="Espace réservé du texte 7">
            <a:extLst>
              <a:ext uri="{FF2B5EF4-FFF2-40B4-BE49-F238E27FC236}">
                <a16:creationId xmlns:a16="http://schemas.microsoft.com/office/drawing/2014/main" id="{635B262B-7919-C7F1-4799-C69BE084DF09}"/>
              </a:ext>
            </a:extLst>
          </p:cNvPr>
          <p:cNvSpPr>
            <a:spLocks noGrp="1"/>
          </p:cNvSpPr>
          <p:nvPr>
            <p:ph type="body" sz="quarter" idx="16"/>
          </p:nvPr>
        </p:nvSpPr>
        <p:spPr>
          <a:xfrm>
            <a:off x="160338" y="3697287"/>
            <a:ext cx="5761492" cy="2899455"/>
          </a:xfrm>
        </p:spPr>
        <p:txBody>
          <a:bodyPr>
            <a:normAutofit/>
          </a:bodyPr>
          <a:lstStyle/>
          <a:p>
            <a:r>
              <a:rPr lang="fr-FR" b="1" dirty="0"/>
              <a:t>La progression du Web</a:t>
            </a:r>
          </a:p>
          <a:p>
            <a:r>
              <a:rPr lang="fr-FR" b="1" dirty="0"/>
              <a:t>Un comparatif Web 3.0 / Web 4.0</a:t>
            </a:r>
            <a:endParaRPr lang="fr-FR" sz="2000" dirty="0"/>
          </a:p>
          <a:p>
            <a:endParaRPr lang="fr-FR" sz="2400" dirty="0"/>
          </a:p>
        </p:txBody>
      </p:sp>
      <p:pic>
        <p:nvPicPr>
          <p:cNvPr id="1026" name="Picture 2" descr="Web 3.0 : Qu'est-ce que c'est, que pourrait-il changer ? - TEHTRIS">
            <a:extLst>
              <a:ext uri="{FF2B5EF4-FFF2-40B4-BE49-F238E27FC236}">
                <a16:creationId xmlns:a16="http://schemas.microsoft.com/office/drawing/2014/main" id="{4DF6964A-A5EE-F0EB-BE43-443DB59EB3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37255"/>
            <a:ext cx="2877703" cy="1513115"/>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 5">
            <a:extLst>
              <a:ext uri="{FF2B5EF4-FFF2-40B4-BE49-F238E27FC236}">
                <a16:creationId xmlns:a16="http://schemas.microsoft.com/office/drawing/2014/main" id="{11681E4C-9C7D-FCA9-E481-9C1480FBD6DC}"/>
              </a:ext>
            </a:extLst>
          </p:cNvPr>
          <p:cNvPicPr>
            <a:picLocks noChangeAspect="1"/>
          </p:cNvPicPr>
          <p:nvPr/>
        </p:nvPicPr>
        <p:blipFill>
          <a:blip r:embed="rId3"/>
          <a:srcRect l="3004" r="4535" b="3051"/>
          <a:stretch>
            <a:fillRect/>
          </a:stretch>
        </p:blipFill>
        <p:spPr>
          <a:xfrm>
            <a:off x="2877703" y="537254"/>
            <a:ext cx="2576946" cy="1513115"/>
          </a:xfrm>
          <a:prstGeom prst="rect">
            <a:avLst/>
          </a:prstGeom>
        </p:spPr>
      </p:pic>
    </p:spTree>
    <p:extLst>
      <p:ext uri="{BB962C8B-B14F-4D97-AF65-F5344CB8AC3E}">
        <p14:creationId xmlns:p14="http://schemas.microsoft.com/office/powerpoint/2010/main" val="15617322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BAC0073-6D33-2A8C-427E-AEC12D7FC505}"/>
              </a:ext>
            </a:extLst>
          </p:cNvPr>
          <p:cNvSpPr>
            <a:spLocks noGrp="1"/>
          </p:cNvSpPr>
          <p:nvPr>
            <p:ph type="title"/>
          </p:nvPr>
        </p:nvSpPr>
        <p:spPr/>
        <p:txBody>
          <a:bodyPr>
            <a:normAutofit/>
          </a:bodyPr>
          <a:lstStyle/>
          <a:p>
            <a:r>
              <a:rPr lang="fr-FR" b="0" dirty="0"/>
              <a:t> L’évolution spectaculaire du web</a:t>
            </a:r>
            <a:endParaRPr lang="fr-FR" dirty="0"/>
          </a:p>
        </p:txBody>
      </p:sp>
      <p:sp>
        <p:nvSpPr>
          <p:cNvPr id="3" name="Espace réservé de la date 2">
            <a:extLst>
              <a:ext uri="{FF2B5EF4-FFF2-40B4-BE49-F238E27FC236}">
                <a16:creationId xmlns:a16="http://schemas.microsoft.com/office/drawing/2014/main" id="{19FAA5A9-6309-EA07-F8DB-A4D12E2BA7A2}"/>
              </a:ext>
            </a:extLst>
          </p:cNvPr>
          <p:cNvSpPr>
            <a:spLocks noGrp="1"/>
          </p:cNvSpPr>
          <p:nvPr>
            <p:ph type="dt" sz="half" idx="10"/>
          </p:nvPr>
        </p:nvSpPr>
        <p:spPr/>
        <p:txBody>
          <a:bodyPr/>
          <a:lstStyle/>
          <a:p>
            <a:fld id="{8282D8D2-F5F0-2744-864E-8466BE2E099D}" type="datetime2">
              <a:rPr lang="fr-FR" smtClean="0"/>
              <a:t>lundi 22 juin 2026</a:t>
            </a:fld>
            <a:endParaRPr lang="fr-FR" dirty="0"/>
          </a:p>
        </p:txBody>
      </p:sp>
      <p:sp>
        <p:nvSpPr>
          <p:cNvPr id="4" name="Espace réservé du pied de page 3">
            <a:extLst>
              <a:ext uri="{FF2B5EF4-FFF2-40B4-BE49-F238E27FC236}">
                <a16:creationId xmlns:a16="http://schemas.microsoft.com/office/drawing/2014/main" id="{31B022F2-D221-79CF-CE72-171FAC185B6C}"/>
              </a:ext>
            </a:extLst>
          </p:cNvPr>
          <p:cNvSpPr>
            <a:spLocks noGrp="1"/>
          </p:cNvSpPr>
          <p:nvPr>
            <p:ph type="ftr" sz="quarter" idx="11"/>
          </p:nvPr>
        </p:nvSpPr>
        <p:spPr/>
        <p:txBody>
          <a:bodyPr/>
          <a:lstStyle/>
          <a:p>
            <a:r>
              <a:rPr lang="fr-FR"/>
              <a:t>S. Lamrous</a:t>
            </a:r>
            <a:endParaRPr lang="fr-FR" dirty="0"/>
          </a:p>
        </p:txBody>
      </p:sp>
      <p:sp>
        <p:nvSpPr>
          <p:cNvPr id="5" name="Espace réservé du contenu 4">
            <a:extLst>
              <a:ext uri="{FF2B5EF4-FFF2-40B4-BE49-F238E27FC236}">
                <a16:creationId xmlns:a16="http://schemas.microsoft.com/office/drawing/2014/main" id="{BE9FFD7A-FEAC-2281-E054-95B49FAC8364}"/>
              </a:ext>
            </a:extLst>
          </p:cNvPr>
          <p:cNvSpPr>
            <a:spLocks noGrp="1"/>
          </p:cNvSpPr>
          <p:nvPr>
            <p:ph sz="quarter" idx="13"/>
          </p:nvPr>
        </p:nvSpPr>
        <p:spPr>
          <a:xfrm>
            <a:off x="1085850" y="3791644"/>
            <a:ext cx="7600950" cy="2724078"/>
          </a:xfrm>
        </p:spPr>
        <p:txBody>
          <a:bodyPr>
            <a:normAutofit/>
          </a:bodyPr>
          <a:lstStyle/>
          <a:p>
            <a:r>
              <a:rPr lang="fr-FR" sz="1800" dirty="0"/>
              <a:t>Le Web 3.0, Web sémantique : Les données sont liées les unes aux autres pour créer une expérience plus </a:t>
            </a:r>
            <a:r>
              <a:rPr lang="fr-FR" sz="1800" b="1" dirty="0"/>
              <a:t>personnalisée</a:t>
            </a:r>
            <a:r>
              <a:rPr lang="fr-FR" sz="1800" dirty="0"/>
              <a:t> pour l’utilisateur. </a:t>
            </a:r>
          </a:p>
          <a:p>
            <a:pPr lvl="1"/>
            <a:r>
              <a:rPr lang="fr-FR" sz="1600" dirty="0"/>
              <a:t>Les machines sont capables de comprendre le contenu du Web, ce qui permet une navigation plus intelligente et une recherche plus précise. </a:t>
            </a:r>
          </a:p>
          <a:p>
            <a:pPr lvl="1"/>
            <a:r>
              <a:rPr lang="fr-FR" sz="1600" dirty="0"/>
              <a:t>Cela vise à améliorer l’expérience utilisateur en fournissant des résultats de recherche plus pertinents et en utilisant des </a:t>
            </a:r>
            <a:r>
              <a:rPr lang="fr-FR" sz="1600" b="1" dirty="0"/>
              <a:t>données sémantiques </a:t>
            </a:r>
            <a:r>
              <a:rPr lang="fr-FR" sz="1600" dirty="0"/>
              <a:t>pour comprendre le contenu.</a:t>
            </a:r>
          </a:p>
          <a:p>
            <a:pPr lvl="1"/>
            <a:r>
              <a:rPr lang="fr-FR" sz="1600" dirty="0"/>
              <a:t>Une nouvelle ère de l’Internet en donnant du </a:t>
            </a:r>
            <a:r>
              <a:rPr lang="fr-FR" sz="1600" b="1" dirty="0"/>
              <a:t>sens aux données</a:t>
            </a:r>
            <a:r>
              <a:rPr lang="fr-FR" sz="1600" dirty="0"/>
              <a:t>. </a:t>
            </a:r>
          </a:p>
          <a:p>
            <a:pPr marL="0" indent="0">
              <a:buNone/>
            </a:pPr>
            <a:endParaRPr lang="fr-FR" dirty="0"/>
          </a:p>
        </p:txBody>
      </p:sp>
      <p:pic>
        <p:nvPicPr>
          <p:cNvPr id="9" name="Image 8">
            <a:extLst>
              <a:ext uri="{FF2B5EF4-FFF2-40B4-BE49-F238E27FC236}">
                <a16:creationId xmlns:a16="http://schemas.microsoft.com/office/drawing/2014/main" id="{43B98C26-311F-E6B3-BDD9-BC4504DA5D5A}"/>
              </a:ext>
            </a:extLst>
          </p:cNvPr>
          <p:cNvPicPr>
            <a:picLocks noChangeAspect="1"/>
          </p:cNvPicPr>
          <p:nvPr/>
        </p:nvPicPr>
        <p:blipFill>
          <a:blip r:embed="rId3"/>
          <a:stretch>
            <a:fillRect/>
          </a:stretch>
        </p:blipFill>
        <p:spPr>
          <a:xfrm>
            <a:off x="1085850" y="1140876"/>
            <a:ext cx="8058150" cy="2565387"/>
          </a:xfrm>
          <a:prstGeom prst="rect">
            <a:avLst/>
          </a:prstGeom>
        </p:spPr>
      </p:pic>
    </p:spTree>
    <p:extLst>
      <p:ext uri="{BB962C8B-B14F-4D97-AF65-F5344CB8AC3E}">
        <p14:creationId xmlns:p14="http://schemas.microsoft.com/office/powerpoint/2010/main" val="7054054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19B2D-991D-B2D8-4B9D-5B6281733DB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3C385D8-F664-44CB-DD11-8AAFB523C47C}"/>
              </a:ext>
            </a:extLst>
          </p:cNvPr>
          <p:cNvSpPr>
            <a:spLocks noGrp="1"/>
          </p:cNvSpPr>
          <p:nvPr>
            <p:ph type="title"/>
          </p:nvPr>
        </p:nvSpPr>
        <p:spPr/>
        <p:txBody>
          <a:bodyPr>
            <a:normAutofit/>
          </a:bodyPr>
          <a:lstStyle/>
          <a:p>
            <a:r>
              <a:rPr lang="fr-FR" b="0" dirty="0"/>
              <a:t> L’évolution spectaculaire du web</a:t>
            </a:r>
            <a:endParaRPr lang="fr-FR" dirty="0"/>
          </a:p>
        </p:txBody>
      </p:sp>
      <p:sp>
        <p:nvSpPr>
          <p:cNvPr id="3" name="Espace réservé de la date 2">
            <a:extLst>
              <a:ext uri="{FF2B5EF4-FFF2-40B4-BE49-F238E27FC236}">
                <a16:creationId xmlns:a16="http://schemas.microsoft.com/office/drawing/2014/main" id="{F6363D41-8880-D488-9A68-E0B2D890F9D7}"/>
              </a:ext>
            </a:extLst>
          </p:cNvPr>
          <p:cNvSpPr>
            <a:spLocks noGrp="1"/>
          </p:cNvSpPr>
          <p:nvPr>
            <p:ph type="dt" sz="half" idx="10"/>
          </p:nvPr>
        </p:nvSpPr>
        <p:spPr/>
        <p:txBody>
          <a:bodyPr/>
          <a:lstStyle/>
          <a:p>
            <a:fld id="{8282D8D2-F5F0-2744-864E-8466BE2E099D}" type="datetime2">
              <a:rPr lang="fr-FR" smtClean="0"/>
              <a:t>lundi 22 juin 2026</a:t>
            </a:fld>
            <a:endParaRPr lang="fr-FR" dirty="0"/>
          </a:p>
        </p:txBody>
      </p:sp>
      <p:sp>
        <p:nvSpPr>
          <p:cNvPr id="4" name="Espace réservé du pied de page 3">
            <a:extLst>
              <a:ext uri="{FF2B5EF4-FFF2-40B4-BE49-F238E27FC236}">
                <a16:creationId xmlns:a16="http://schemas.microsoft.com/office/drawing/2014/main" id="{88A7CD0E-5491-18E3-8500-2C37F083AC89}"/>
              </a:ext>
            </a:extLst>
          </p:cNvPr>
          <p:cNvSpPr>
            <a:spLocks noGrp="1"/>
          </p:cNvSpPr>
          <p:nvPr>
            <p:ph type="ftr" sz="quarter" idx="11"/>
          </p:nvPr>
        </p:nvSpPr>
        <p:spPr/>
        <p:txBody>
          <a:bodyPr/>
          <a:lstStyle/>
          <a:p>
            <a:r>
              <a:rPr lang="fr-FR"/>
              <a:t>S. Lamrous</a:t>
            </a:r>
            <a:endParaRPr lang="fr-FR" dirty="0"/>
          </a:p>
        </p:txBody>
      </p:sp>
      <p:sp>
        <p:nvSpPr>
          <p:cNvPr id="5" name="Espace réservé du contenu 4">
            <a:extLst>
              <a:ext uri="{FF2B5EF4-FFF2-40B4-BE49-F238E27FC236}">
                <a16:creationId xmlns:a16="http://schemas.microsoft.com/office/drawing/2014/main" id="{05593E1C-6F00-F6B4-3E50-62168F2BB22E}"/>
              </a:ext>
            </a:extLst>
          </p:cNvPr>
          <p:cNvSpPr>
            <a:spLocks noGrp="1"/>
          </p:cNvSpPr>
          <p:nvPr>
            <p:ph sz="quarter" idx="13"/>
          </p:nvPr>
        </p:nvSpPr>
        <p:spPr>
          <a:xfrm>
            <a:off x="866775" y="3791644"/>
            <a:ext cx="8353425" cy="2724078"/>
          </a:xfrm>
        </p:spPr>
        <p:txBody>
          <a:bodyPr>
            <a:normAutofit/>
          </a:bodyPr>
          <a:lstStyle/>
          <a:p>
            <a:r>
              <a:rPr lang="fr-FR" sz="1800" dirty="0"/>
              <a:t>Le Web 4.0, Web symbiotique : Vers un internet plus intelligent</a:t>
            </a:r>
          </a:p>
          <a:p>
            <a:pPr lvl="1"/>
            <a:r>
              <a:rPr lang="fr-FR" sz="1700" dirty="0"/>
              <a:t>Emerge dans un monde où l</a:t>
            </a:r>
            <a:r>
              <a:rPr lang="fr-FR" sz="1700" b="1" dirty="0"/>
              <a:t>’IA</a:t>
            </a:r>
            <a:r>
              <a:rPr lang="fr-FR" sz="1700" dirty="0"/>
              <a:t>, l’</a:t>
            </a:r>
            <a:r>
              <a:rPr lang="fr-FR" sz="1700" b="1" dirty="0"/>
              <a:t>Internet des objets</a:t>
            </a:r>
            <a:r>
              <a:rPr lang="fr-FR" sz="1700" dirty="0"/>
              <a:t>, la réalité augmentée et virtuelle</a:t>
            </a:r>
          </a:p>
          <a:p>
            <a:pPr marL="457200" lvl="1" indent="0">
              <a:buNone/>
            </a:pPr>
            <a:r>
              <a:rPr lang="fr-FR" sz="1700" dirty="0"/>
              <a:t>Vit en </a:t>
            </a:r>
            <a:r>
              <a:rPr lang="fr-FR" sz="1700" b="1" dirty="0"/>
              <a:t>symbiose</a:t>
            </a:r>
            <a:r>
              <a:rPr lang="fr-FR" sz="1700" dirty="0"/>
              <a:t> avec les </a:t>
            </a:r>
            <a:r>
              <a:rPr lang="fr-FR" sz="1700" b="1" dirty="0"/>
              <a:t>objets connectés </a:t>
            </a:r>
            <a:r>
              <a:rPr lang="fr-FR" sz="1700" dirty="0"/>
              <a:t>dans l’environnement de l’utilisateur.</a:t>
            </a:r>
          </a:p>
          <a:p>
            <a:pPr lvl="1"/>
            <a:r>
              <a:rPr lang="fr-FR" sz="1700" dirty="0"/>
              <a:t>Ces objets et réseaux comprendront mieux le </a:t>
            </a:r>
            <a:r>
              <a:rPr lang="fr-FR" sz="1700" b="1" dirty="0"/>
              <a:t>langage naturel</a:t>
            </a:r>
            <a:r>
              <a:rPr lang="fr-FR" sz="1700" dirty="0"/>
              <a:t>, analysant le comportement des utilisateurs en fonction de leurs besoins.</a:t>
            </a:r>
          </a:p>
        </p:txBody>
      </p:sp>
      <p:pic>
        <p:nvPicPr>
          <p:cNvPr id="9" name="Image 8">
            <a:extLst>
              <a:ext uri="{FF2B5EF4-FFF2-40B4-BE49-F238E27FC236}">
                <a16:creationId xmlns:a16="http://schemas.microsoft.com/office/drawing/2014/main" id="{1F6144B1-9D32-019D-1941-14F45FE829F2}"/>
              </a:ext>
            </a:extLst>
          </p:cNvPr>
          <p:cNvPicPr>
            <a:picLocks noChangeAspect="1"/>
          </p:cNvPicPr>
          <p:nvPr/>
        </p:nvPicPr>
        <p:blipFill>
          <a:blip r:embed="rId3"/>
          <a:stretch>
            <a:fillRect/>
          </a:stretch>
        </p:blipFill>
        <p:spPr>
          <a:xfrm>
            <a:off x="1085850" y="1140876"/>
            <a:ext cx="8058150" cy="2565387"/>
          </a:xfrm>
          <a:prstGeom prst="rect">
            <a:avLst/>
          </a:prstGeom>
        </p:spPr>
      </p:pic>
      <p:pic>
        <p:nvPicPr>
          <p:cNvPr id="7" name="Image 6">
            <a:extLst>
              <a:ext uri="{FF2B5EF4-FFF2-40B4-BE49-F238E27FC236}">
                <a16:creationId xmlns:a16="http://schemas.microsoft.com/office/drawing/2014/main" id="{94FD14EE-8E4E-41CB-007B-9EEE2FD4602D}"/>
              </a:ext>
            </a:extLst>
          </p:cNvPr>
          <p:cNvPicPr>
            <a:picLocks noChangeAspect="1"/>
          </p:cNvPicPr>
          <p:nvPr/>
        </p:nvPicPr>
        <p:blipFill>
          <a:blip r:embed="rId4"/>
          <a:stretch>
            <a:fillRect/>
          </a:stretch>
        </p:blipFill>
        <p:spPr>
          <a:xfrm>
            <a:off x="7696200" y="5346200"/>
            <a:ext cx="1447800" cy="1254760"/>
          </a:xfrm>
          <a:prstGeom prst="rect">
            <a:avLst/>
          </a:prstGeom>
        </p:spPr>
      </p:pic>
    </p:spTree>
    <p:extLst>
      <p:ext uri="{BB962C8B-B14F-4D97-AF65-F5344CB8AC3E}">
        <p14:creationId xmlns:p14="http://schemas.microsoft.com/office/powerpoint/2010/main" val="10176459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449A34D-2086-229B-3088-B0429C80A4A5}"/>
              </a:ext>
            </a:extLst>
          </p:cNvPr>
          <p:cNvSpPr>
            <a:spLocks noGrp="1"/>
          </p:cNvSpPr>
          <p:nvPr>
            <p:ph type="title"/>
          </p:nvPr>
        </p:nvSpPr>
        <p:spPr/>
        <p:txBody>
          <a:bodyPr/>
          <a:lstStyle/>
          <a:p>
            <a:r>
              <a:rPr lang="fr-FR" dirty="0"/>
              <a:t>Comparatif Web 3.0 Web 4.0  / Nature des données</a:t>
            </a:r>
          </a:p>
        </p:txBody>
      </p:sp>
      <p:sp>
        <p:nvSpPr>
          <p:cNvPr id="3" name="Espace réservé de la date 2">
            <a:extLst>
              <a:ext uri="{FF2B5EF4-FFF2-40B4-BE49-F238E27FC236}">
                <a16:creationId xmlns:a16="http://schemas.microsoft.com/office/drawing/2014/main" id="{BABFE268-948D-098A-0F49-F3648E300725}"/>
              </a:ext>
            </a:extLst>
          </p:cNvPr>
          <p:cNvSpPr>
            <a:spLocks noGrp="1"/>
          </p:cNvSpPr>
          <p:nvPr>
            <p:ph type="dt" sz="half" idx="10"/>
          </p:nvPr>
        </p:nvSpPr>
        <p:spPr/>
        <p:txBody>
          <a:bodyPr/>
          <a:lstStyle/>
          <a:p>
            <a:fld id="{8282D8D2-F5F0-2744-864E-8466BE2E099D}" type="datetime2">
              <a:rPr lang="fr-FR" smtClean="0"/>
              <a:t>lundi 22 juin 2026</a:t>
            </a:fld>
            <a:endParaRPr lang="fr-FR" dirty="0"/>
          </a:p>
        </p:txBody>
      </p:sp>
      <p:sp>
        <p:nvSpPr>
          <p:cNvPr id="4" name="Espace réservé du pied de page 3">
            <a:extLst>
              <a:ext uri="{FF2B5EF4-FFF2-40B4-BE49-F238E27FC236}">
                <a16:creationId xmlns:a16="http://schemas.microsoft.com/office/drawing/2014/main" id="{BD8F008F-F5F3-A5A8-8F67-517CD7412BFC}"/>
              </a:ext>
            </a:extLst>
          </p:cNvPr>
          <p:cNvSpPr>
            <a:spLocks noGrp="1"/>
          </p:cNvSpPr>
          <p:nvPr>
            <p:ph type="ftr" sz="quarter" idx="11"/>
          </p:nvPr>
        </p:nvSpPr>
        <p:spPr/>
        <p:txBody>
          <a:bodyPr/>
          <a:lstStyle/>
          <a:p>
            <a:r>
              <a:rPr lang="fr-FR"/>
              <a:t>S. Lamrous</a:t>
            </a:r>
            <a:endParaRPr lang="fr-FR" dirty="0"/>
          </a:p>
        </p:txBody>
      </p:sp>
      <p:sp>
        <p:nvSpPr>
          <p:cNvPr id="5" name="Espace réservé du contenu 4">
            <a:extLst>
              <a:ext uri="{FF2B5EF4-FFF2-40B4-BE49-F238E27FC236}">
                <a16:creationId xmlns:a16="http://schemas.microsoft.com/office/drawing/2014/main" id="{798595CE-21E7-15D6-D16F-E43946993F44}"/>
              </a:ext>
            </a:extLst>
          </p:cNvPr>
          <p:cNvSpPr>
            <a:spLocks noGrp="1"/>
          </p:cNvSpPr>
          <p:nvPr>
            <p:ph sz="quarter" idx="13"/>
          </p:nvPr>
        </p:nvSpPr>
        <p:spPr>
          <a:xfrm>
            <a:off x="958300" y="1444386"/>
            <a:ext cx="7652300" cy="4751388"/>
          </a:xfrm>
        </p:spPr>
        <p:txBody>
          <a:bodyPr/>
          <a:lstStyle/>
          <a:p>
            <a:r>
              <a:rPr lang="fr-FR" b="1" dirty="0"/>
              <a:t>Web sémantique (3.0)</a:t>
            </a:r>
            <a:r>
              <a:rPr lang="fr-FR" dirty="0"/>
              <a:t> : Se concentre sur la structuration des données pour qu'elles soient compréhensibles par les machines. Utilise des </a:t>
            </a:r>
            <a:r>
              <a:rPr lang="fr-FR" b="1" dirty="0">
                <a:solidFill>
                  <a:schemeClr val="accent1"/>
                </a:solidFill>
              </a:rPr>
              <a:t>ontologies </a:t>
            </a:r>
            <a:r>
              <a:rPr lang="fr-FR" dirty="0"/>
              <a:t>et des </a:t>
            </a:r>
            <a:r>
              <a:rPr lang="fr-FR" b="1" dirty="0">
                <a:solidFill>
                  <a:schemeClr val="accent1"/>
                </a:solidFill>
              </a:rPr>
              <a:t>métadonnées</a:t>
            </a:r>
            <a:r>
              <a:rPr lang="fr-FR" dirty="0"/>
              <a:t> pour permettre aux applications de partager et de réutiliser les données.</a:t>
            </a:r>
          </a:p>
          <a:p>
            <a:r>
              <a:rPr lang="fr-FR" b="1" dirty="0"/>
              <a:t>Web symbiotique (4.0)</a:t>
            </a:r>
            <a:r>
              <a:rPr lang="fr-FR" dirty="0"/>
              <a:t> : Vise à créer une interaction plus fluide et intuitive entre les humains et les machines. Il intègre des technologies avancées comme </a:t>
            </a:r>
            <a:r>
              <a:rPr lang="fr-FR" dirty="0">
                <a:solidFill>
                  <a:schemeClr val="accent1"/>
                </a:solidFill>
              </a:rPr>
              <a:t>l'</a:t>
            </a:r>
            <a:r>
              <a:rPr lang="fr-FR" b="1" dirty="0">
                <a:solidFill>
                  <a:schemeClr val="accent1"/>
                </a:solidFill>
              </a:rPr>
              <a:t>intelligence artificielle et l’apprentissage automatique (le cœur) </a:t>
            </a:r>
            <a:r>
              <a:rPr lang="fr-FR" dirty="0"/>
              <a:t>et l'Internet des objets (IoT) pour une expérience utilisateur plus immersive.</a:t>
            </a:r>
          </a:p>
          <a:p>
            <a:endParaRPr lang="fr-FR" dirty="0"/>
          </a:p>
        </p:txBody>
      </p:sp>
    </p:spTree>
    <p:extLst>
      <p:ext uri="{BB962C8B-B14F-4D97-AF65-F5344CB8AC3E}">
        <p14:creationId xmlns:p14="http://schemas.microsoft.com/office/powerpoint/2010/main" val="32390536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0564F36-0E9B-3F42-1E3D-C58508B9CF8F}"/>
              </a:ext>
            </a:extLst>
          </p:cNvPr>
          <p:cNvSpPr>
            <a:spLocks noGrp="1"/>
          </p:cNvSpPr>
          <p:nvPr>
            <p:ph type="title"/>
          </p:nvPr>
        </p:nvSpPr>
        <p:spPr/>
        <p:txBody>
          <a:bodyPr/>
          <a:lstStyle/>
          <a:p>
            <a:r>
              <a:rPr lang="fr-FR" dirty="0"/>
              <a:t>Une ontologie c’est quoi ?</a:t>
            </a:r>
          </a:p>
        </p:txBody>
      </p:sp>
      <p:sp>
        <p:nvSpPr>
          <p:cNvPr id="3" name="Espace réservé de la date 2">
            <a:extLst>
              <a:ext uri="{FF2B5EF4-FFF2-40B4-BE49-F238E27FC236}">
                <a16:creationId xmlns:a16="http://schemas.microsoft.com/office/drawing/2014/main" id="{4882A466-CDB1-E1CC-A3A9-D085DEBC92AE}"/>
              </a:ext>
            </a:extLst>
          </p:cNvPr>
          <p:cNvSpPr>
            <a:spLocks noGrp="1"/>
          </p:cNvSpPr>
          <p:nvPr>
            <p:ph type="dt" sz="half" idx="10"/>
          </p:nvPr>
        </p:nvSpPr>
        <p:spPr/>
        <p:txBody>
          <a:bodyPr/>
          <a:lstStyle/>
          <a:p>
            <a:fld id="{8282D8D2-F5F0-2744-864E-8466BE2E099D}" type="datetime2">
              <a:rPr lang="fr-FR" smtClean="0"/>
              <a:t>lundi 22 juin 2026</a:t>
            </a:fld>
            <a:endParaRPr lang="fr-FR" dirty="0"/>
          </a:p>
        </p:txBody>
      </p:sp>
      <p:sp>
        <p:nvSpPr>
          <p:cNvPr id="4" name="Espace réservé du pied de page 3">
            <a:extLst>
              <a:ext uri="{FF2B5EF4-FFF2-40B4-BE49-F238E27FC236}">
                <a16:creationId xmlns:a16="http://schemas.microsoft.com/office/drawing/2014/main" id="{7E03733B-1AF7-4735-B48B-4650910299FA}"/>
              </a:ext>
            </a:extLst>
          </p:cNvPr>
          <p:cNvSpPr>
            <a:spLocks noGrp="1"/>
          </p:cNvSpPr>
          <p:nvPr>
            <p:ph type="ftr" sz="quarter" idx="11"/>
          </p:nvPr>
        </p:nvSpPr>
        <p:spPr/>
        <p:txBody>
          <a:bodyPr/>
          <a:lstStyle/>
          <a:p>
            <a:r>
              <a:rPr lang="fr-FR"/>
              <a:t>S. Lamrous</a:t>
            </a:r>
            <a:endParaRPr lang="fr-FR" dirty="0"/>
          </a:p>
        </p:txBody>
      </p:sp>
      <p:sp>
        <p:nvSpPr>
          <p:cNvPr id="5" name="Espace réservé du contenu 4">
            <a:extLst>
              <a:ext uri="{FF2B5EF4-FFF2-40B4-BE49-F238E27FC236}">
                <a16:creationId xmlns:a16="http://schemas.microsoft.com/office/drawing/2014/main" id="{50F71B18-3FAE-CB7B-F86C-81E239106F1F}"/>
              </a:ext>
            </a:extLst>
          </p:cNvPr>
          <p:cNvSpPr>
            <a:spLocks noGrp="1"/>
          </p:cNvSpPr>
          <p:nvPr>
            <p:ph sz="quarter" idx="13"/>
          </p:nvPr>
        </p:nvSpPr>
        <p:spPr>
          <a:xfrm>
            <a:off x="958299" y="1451495"/>
            <a:ext cx="7642775" cy="4751388"/>
          </a:xfrm>
        </p:spPr>
        <p:txBody>
          <a:bodyPr>
            <a:normAutofit/>
          </a:bodyPr>
          <a:lstStyle/>
          <a:p>
            <a:r>
              <a:rPr lang="fr-FR" dirty="0"/>
              <a:t>En informatique</a:t>
            </a:r>
          </a:p>
          <a:p>
            <a:pPr lvl="1"/>
            <a:r>
              <a:rPr lang="fr-FR" b="1" dirty="0"/>
              <a:t>Définition</a:t>
            </a:r>
            <a:r>
              <a:rPr lang="fr-FR" dirty="0"/>
              <a:t> : Une ontologie est une représentation formelle d'un domaine de connaissance. Elle définit les concepts, les catégories d'objets et les relations entre eux.</a:t>
            </a:r>
          </a:p>
          <a:p>
            <a:pPr lvl="1"/>
            <a:r>
              <a:rPr lang="fr-FR" b="1" dirty="0"/>
              <a:t>Utilisation</a:t>
            </a:r>
            <a:r>
              <a:rPr lang="fr-FR" dirty="0"/>
              <a:t> : Les ontologies sont utilisées pour :</a:t>
            </a:r>
          </a:p>
          <a:p>
            <a:pPr lvl="2"/>
            <a:r>
              <a:rPr lang="fr-FR" b="1" dirty="0"/>
              <a:t>Structurer les données</a:t>
            </a:r>
            <a:r>
              <a:rPr lang="fr-FR" dirty="0"/>
              <a:t> : Elles permettent de donner un sens aux données en les organisant de manière hiérarchique.</a:t>
            </a:r>
          </a:p>
          <a:p>
            <a:pPr lvl="2"/>
            <a:r>
              <a:rPr lang="fr-FR" b="1" dirty="0"/>
              <a:t>Faciliter l'interopérabilité</a:t>
            </a:r>
            <a:r>
              <a:rPr lang="fr-FR" dirty="0"/>
              <a:t> : Elles aident différents systèmes à comprendre et à partager des informations de manière cohérente.</a:t>
            </a:r>
          </a:p>
          <a:p>
            <a:pPr lvl="2"/>
            <a:r>
              <a:rPr lang="fr-FR" b="1" dirty="0"/>
              <a:t>Améliorer la recherche d'informations</a:t>
            </a:r>
            <a:r>
              <a:rPr lang="fr-FR" dirty="0"/>
              <a:t> : En fournissant un cadre pour l'analyse sémantique, elles permettent de mieux comprendre le contenu des données.</a:t>
            </a:r>
          </a:p>
          <a:p>
            <a:endParaRPr lang="fr-FR" dirty="0"/>
          </a:p>
        </p:txBody>
      </p:sp>
    </p:spTree>
    <p:extLst>
      <p:ext uri="{BB962C8B-B14F-4D97-AF65-F5344CB8AC3E}">
        <p14:creationId xmlns:p14="http://schemas.microsoft.com/office/powerpoint/2010/main" val="17538186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2B188B-6998-E05D-9DA6-D38CEF58B3C5}"/>
              </a:ext>
            </a:extLst>
          </p:cNvPr>
          <p:cNvSpPr>
            <a:spLocks noGrp="1"/>
          </p:cNvSpPr>
          <p:nvPr>
            <p:ph type="title"/>
          </p:nvPr>
        </p:nvSpPr>
        <p:spPr/>
        <p:txBody>
          <a:bodyPr/>
          <a:lstStyle/>
          <a:p>
            <a:r>
              <a:rPr lang="fr-FR" dirty="0"/>
              <a:t>Exemple d’ontologie</a:t>
            </a:r>
          </a:p>
        </p:txBody>
      </p:sp>
      <p:sp>
        <p:nvSpPr>
          <p:cNvPr id="3" name="Espace réservé de la date 2">
            <a:extLst>
              <a:ext uri="{FF2B5EF4-FFF2-40B4-BE49-F238E27FC236}">
                <a16:creationId xmlns:a16="http://schemas.microsoft.com/office/drawing/2014/main" id="{42CC33FF-E6EB-4961-36C6-9BE7CBB66FD7}"/>
              </a:ext>
            </a:extLst>
          </p:cNvPr>
          <p:cNvSpPr>
            <a:spLocks noGrp="1"/>
          </p:cNvSpPr>
          <p:nvPr>
            <p:ph type="dt" sz="half" idx="10"/>
          </p:nvPr>
        </p:nvSpPr>
        <p:spPr/>
        <p:txBody>
          <a:bodyPr/>
          <a:lstStyle/>
          <a:p>
            <a:fld id="{8282D8D2-F5F0-2744-864E-8466BE2E099D}" type="datetime2">
              <a:rPr lang="fr-FR" smtClean="0"/>
              <a:t>lundi 22 juin 2026</a:t>
            </a:fld>
            <a:endParaRPr lang="fr-FR" dirty="0"/>
          </a:p>
        </p:txBody>
      </p:sp>
      <p:sp>
        <p:nvSpPr>
          <p:cNvPr id="4" name="Espace réservé du pied de page 3">
            <a:extLst>
              <a:ext uri="{FF2B5EF4-FFF2-40B4-BE49-F238E27FC236}">
                <a16:creationId xmlns:a16="http://schemas.microsoft.com/office/drawing/2014/main" id="{123C40CC-F3B5-A333-8E82-7FECE30B7C21}"/>
              </a:ext>
            </a:extLst>
          </p:cNvPr>
          <p:cNvSpPr>
            <a:spLocks noGrp="1"/>
          </p:cNvSpPr>
          <p:nvPr>
            <p:ph type="ftr" sz="quarter" idx="11"/>
          </p:nvPr>
        </p:nvSpPr>
        <p:spPr/>
        <p:txBody>
          <a:bodyPr/>
          <a:lstStyle/>
          <a:p>
            <a:r>
              <a:rPr lang="fr-FR"/>
              <a:t>S. Lamrous</a:t>
            </a:r>
            <a:endParaRPr lang="fr-FR" dirty="0"/>
          </a:p>
        </p:txBody>
      </p:sp>
      <p:sp>
        <p:nvSpPr>
          <p:cNvPr id="5" name="Espace réservé du contenu 4">
            <a:extLst>
              <a:ext uri="{FF2B5EF4-FFF2-40B4-BE49-F238E27FC236}">
                <a16:creationId xmlns:a16="http://schemas.microsoft.com/office/drawing/2014/main" id="{E3BB68C5-0515-B20B-44CD-E6F82623A671}"/>
              </a:ext>
            </a:extLst>
          </p:cNvPr>
          <p:cNvSpPr>
            <a:spLocks noGrp="1"/>
          </p:cNvSpPr>
          <p:nvPr>
            <p:ph sz="quarter" idx="13"/>
          </p:nvPr>
        </p:nvSpPr>
        <p:spPr>
          <a:xfrm>
            <a:off x="958299" y="1451494"/>
            <a:ext cx="7938051" cy="5149465"/>
          </a:xfrm>
        </p:spPr>
        <p:txBody>
          <a:bodyPr>
            <a:normAutofit fontScale="55000" lnSpcReduction="20000"/>
          </a:bodyPr>
          <a:lstStyle/>
          <a:p>
            <a:r>
              <a:rPr lang="fr-FR" b="1" dirty="0">
                <a:highlight>
                  <a:srgbClr val="FFFF00"/>
                </a:highlight>
              </a:rPr>
              <a:t>Concepts:</a:t>
            </a:r>
            <a:endParaRPr lang="fr-FR" dirty="0">
              <a:highlight>
                <a:srgbClr val="FFFF00"/>
              </a:highlight>
            </a:endParaRPr>
          </a:p>
          <a:p>
            <a:r>
              <a:rPr lang="fr-FR" b="1" dirty="0" err="1"/>
              <a:t>AnimalDomestique</a:t>
            </a:r>
            <a:r>
              <a:rPr lang="fr-FR" b="1" dirty="0"/>
              <a:t>:</a:t>
            </a:r>
            <a:r>
              <a:rPr lang="fr-FR" dirty="0"/>
              <a:t> Concept général englobant tous les animaux domestiques.</a:t>
            </a:r>
          </a:p>
          <a:p>
            <a:r>
              <a:rPr lang="fr-FR" b="1" dirty="0"/>
              <a:t>Chien:</a:t>
            </a:r>
            <a:r>
              <a:rPr lang="fr-FR" dirty="0"/>
              <a:t> Type spécifique d'</a:t>
            </a:r>
            <a:r>
              <a:rPr lang="fr-FR" dirty="0" err="1"/>
              <a:t>AnimalDomestique</a:t>
            </a:r>
            <a:r>
              <a:rPr lang="fr-FR" dirty="0"/>
              <a:t>.</a:t>
            </a:r>
          </a:p>
          <a:p>
            <a:r>
              <a:rPr lang="fr-FR" b="1" dirty="0"/>
              <a:t>Chat:</a:t>
            </a:r>
            <a:r>
              <a:rPr lang="fr-FR" dirty="0"/>
              <a:t> Type spécifique d'</a:t>
            </a:r>
            <a:r>
              <a:rPr lang="fr-FR" dirty="0" err="1"/>
              <a:t>AnimalDomestique</a:t>
            </a:r>
            <a:r>
              <a:rPr lang="fr-FR" dirty="0"/>
              <a:t>.</a:t>
            </a:r>
          </a:p>
          <a:p>
            <a:r>
              <a:rPr lang="fr-FR" b="1" dirty="0" err="1"/>
              <a:t>PoissonRouge</a:t>
            </a:r>
            <a:r>
              <a:rPr lang="fr-FR" b="1" dirty="0"/>
              <a:t>:</a:t>
            </a:r>
            <a:r>
              <a:rPr lang="fr-FR" dirty="0"/>
              <a:t> Type spécifique d'</a:t>
            </a:r>
            <a:r>
              <a:rPr lang="fr-FR" dirty="0" err="1"/>
              <a:t>AnimalDomestique</a:t>
            </a:r>
            <a:r>
              <a:rPr lang="fr-FR" dirty="0"/>
              <a:t>.</a:t>
            </a:r>
          </a:p>
          <a:p>
            <a:r>
              <a:rPr lang="fr-FR" b="1" dirty="0"/>
              <a:t>Race:</a:t>
            </a:r>
            <a:r>
              <a:rPr lang="fr-FR" dirty="0"/>
              <a:t> Propriété d'un </a:t>
            </a:r>
            <a:r>
              <a:rPr lang="fr-FR" dirty="0" err="1"/>
              <a:t>AnimalDomestique</a:t>
            </a:r>
            <a:r>
              <a:rPr lang="fr-FR" dirty="0"/>
              <a:t> (ex: Berger Allemand, Persan, etc.)</a:t>
            </a:r>
          </a:p>
          <a:p>
            <a:r>
              <a:rPr lang="fr-FR" b="1" dirty="0"/>
              <a:t>Couleur:</a:t>
            </a:r>
            <a:r>
              <a:rPr lang="fr-FR" dirty="0"/>
              <a:t> Propriété d'un </a:t>
            </a:r>
            <a:r>
              <a:rPr lang="fr-FR" dirty="0" err="1"/>
              <a:t>AnimalDomestique</a:t>
            </a:r>
            <a:r>
              <a:rPr lang="fr-FR" dirty="0"/>
              <a:t> (ex: Brun, Blanc, Noir, etc.)</a:t>
            </a:r>
          </a:p>
          <a:p>
            <a:r>
              <a:rPr lang="fr-FR" b="1" dirty="0"/>
              <a:t>Age:</a:t>
            </a:r>
            <a:r>
              <a:rPr lang="fr-FR" dirty="0"/>
              <a:t> Propriété d'un </a:t>
            </a:r>
            <a:r>
              <a:rPr lang="fr-FR" dirty="0" err="1"/>
              <a:t>AnimalDomestique</a:t>
            </a:r>
            <a:r>
              <a:rPr lang="fr-FR" dirty="0"/>
              <a:t> (en années).</a:t>
            </a:r>
          </a:p>
          <a:p>
            <a:r>
              <a:rPr lang="fr-FR" b="1" dirty="0">
                <a:highlight>
                  <a:srgbClr val="FFFF00"/>
                </a:highlight>
              </a:rPr>
              <a:t>Relations:</a:t>
            </a:r>
            <a:endParaRPr lang="fr-FR" dirty="0">
              <a:highlight>
                <a:srgbClr val="FFFF00"/>
              </a:highlight>
            </a:endParaRPr>
          </a:p>
          <a:p>
            <a:r>
              <a:rPr lang="fr-FR" b="1" dirty="0" err="1"/>
              <a:t>estUnTypeDe</a:t>
            </a:r>
            <a:r>
              <a:rPr lang="fr-FR" b="1" dirty="0"/>
              <a:t>:</a:t>
            </a:r>
            <a:r>
              <a:rPr lang="fr-FR" dirty="0"/>
              <a:t> Chien </a:t>
            </a:r>
            <a:r>
              <a:rPr lang="fr-FR" dirty="0" err="1"/>
              <a:t>estUnTypeDe</a:t>
            </a:r>
            <a:r>
              <a:rPr lang="fr-FR" dirty="0"/>
              <a:t> </a:t>
            </a:r>
            <a:r>
              <a:rPr lang="fr-FR" dirty="0" err="1"/>
              <a:t>AnimalDomestique</a:t>
            </a:r>
            <a:r>
              <a:rPr lang="fr-FR" dirty="0"/>
              <a:t> ; Chat </a:t>
            </a:r>
            <a:r>
              <a:rPr lang="fr-FR" dirty="0" err="1"/>
              <a:t>estUnTypeDe</a:t>
            </a:r>
            <a:r>
              <a:rPr lang="fr-FR" dirty="0"/>
              <a:t> </a:t>
            </a:r>
            <a:r>
              <a:rPr lang="fr-FR" dirty="0" err="1"/>
              <a:t>AnimalDomestique</a:t>
            </a:r>
            <a:r>
              <a:rPr lang="fr-FR" dirty="0"/>
              <a:t> ; </a:t>
            </a:r>
            <a:r>
              <a:rPr lang="fr-FR" dirty="0" err="1"/>
              <a:t>PoissonRouge</a:t>
            </a:r>
            <a:r>
              <a:rPr lang="fr-FR" dirty="0"/>
              <a:t> </a:t>
            </a:r>
            <a:r>
              <a:rPr lang="fr-FR" dirty="0" err="1"/>
              <a:t>estUnTypeDe</a:t>
            </a:r>
            <a:r>
              <a:rPr lang="fr-FR" dirty="0"/>
              <a:t> </a:t>
            </a:r>
            <a:r>
              <a:rPr lang="fr-FR" dirty="0" err="1"/>
              <a:t>AnimalDomestique</a:t>
            </a:r>
            <a:r>
              <a:rPr lang="fr-FR" dirty="0"/>
              <a:t>.</a:t>
            </a:r>
          </a:p>
          <a:p>
            <a:r>
              <a:rPr lang="fr-FR" b="1" dirty="0" err="1"/>
              <a:t>aUneRace</a:t>
            </a:r>
            <a:r>
              <a:rPr lang="fr-FR" b="1" dirty="0"/>
              <a:t>:</a:t>
            </a:r>
            <a:r>
              <a:rPr lang="fr-FR" dirty="0"/>
              <a:t> Un Chien </a:t>
            </a:r>
            <a:r>
              <a:rPr lang="fr-FR" dirty="0" err="1"/>
              <a:t>aUneRace</a:t>
            </a:r>
            <a:r>
              <a:rPr lang="fr-FR" dirty="0"/>
              <a:t> Berger Allemand ; Un Chat </a:t>
            </a:r>
            <a:r>
              <a:rPr lang="fr-FR" dirty="0" err="1"/>
              <a:t>aUneRace</a:t>
            </a:r>
            <a:r>
              <a:rPr lang="fr-FR" dirty="0"/>
              <a:t> Persan.</a:t>
            </a:r>
          </a:p>
          <a:p>
            <a:r>
              <a:rPr lang="fr-FR" b="1" dirty="0" err="1"/>
              <a:t>aUneCouleur</a:t>
            </a:r>
            <a:r>
              <a:rPr lang="fr-FR" b="1" dirty="0"/>
              <a:t>:</a:t>
            </a:r>
            <a:r>
              <a:rPr lang="fr-FR" dirty="0"/>
              <a:t> Un Chien </a:t>
            </a:r>
            <a:r>
              <a:rPr lang="fr-FR" dirty="0" err="1"/>
              <a:t>aUneCouleur</a:t>
            </a:r>
            <a:r>
              <a:rPr lang="fr-FR" dirty="0"/>
              <a:t> Brun ; Un Chat </a:t>
            </a:r>
            <a:r>
              <a:rPr lang="fr-FR" dirty="0" err="1"/>
              <a:t>aUneCouleur</a:t>
            </a:r>
            <a:r>
              <a:rPr lang="fr-FR" dirty="0"/>
              <a:t> Blanc.</a:t>
            </a:r>
          </a:p>
          <a:p>
            <a:r>
              <a:rPr lang="fr-FR" b="1" dirty="0" err="1"/>
              <a:t>aUnAge</a:t>
            </a:r>
            <a:r>
              <a:rPr lang="fr-FR" b="1" dirty="0"/>
              <a:t>:</a:t>
            </a:r>
            <a:r>
              <a:rPr lang="fr-FR" dirty="0"/>
              <a:t> Un Chien </a:t>
            </a:r>
            <a:r>
              <a:rPr lang="fr-FR" dirty="0" err="1"/>
              <a:t>aUnAge</a:t>
            </a:r>
            <a:r>
              <a:rPr lang="fr-FR" dirty="0"/>
              <a:t> 5 ; Un Chat </a:t>
            </a:r>
            <a:r>
              <a:rPr lang="fr-FR" dirty="0" err="1"/>
              <a:t>aUnAge</a:t>
            </a:r>
            <a:r>
              <a:rPr lang="fr-FR" dirty="0"/>
              <a:t> 3.</a:t>
            </a:r>
          </a:p>
          <a:p>
            <a:r>
              <a:rPr lang="fr-FR" b="1" dirty="0">
                <a:highlight>
                  <a:srgbClr val="FFFF00"/>
                </a:highlight>
              </a:rPr>
              <a:t>Exemple d'instance:</a:t>
            </a:r>
            <a:endParaRPr lang="fr-FR" dirty="0">
              <a:highlight>
                <a:srgbClr val="FFFF00"/>
              </a:highlight>
            </a:endParaRPr>
          </a:p>
          <a:p>
            <a:r>
              <a:rPr lang="fr-FR" b="1" dirty="0"/>
              <a:t>Médor:</a:t>
            </a:r>
            <a:r>
              <a:rPr lang="fr-FR" dirty="0"/>
              <a:t> </a:t>
            </a:r>
            <a:r>
              <a:rPr lang="fr-FR" dirty="0" err="1"/>
              <a:t>estUnTypeDe</a:t>
            </a:r>
            <a:r>
              <a:rPr lang="fr-FR" dirty="0"/>
              <a:t> Chien, </a:t>
            </a:r>
            <a:r>
              <a:rPr lang="fr-FR" dirty="0" err="1"/>
              <a:t>aUneRace</a:t>
            </a:r>
            <a:r>
              <a:rPr lang="fr-FR" dirty="0"/>
              <a:t> Berger Allemand, </a:t>
            </a:r>
            <a:r>
              <a:rPr lang="fr-FR" dirty="0" err="1"/>
              <a:t>aUneCouleur</a:t>
            </a:r>
            <a:r>
              <a:rPr lang="fr-FR" dirty="0"/>
              <a:t> Brun, </a:t>
            </a:r>
            <a:r>
              <a:rPr lang="fr-FR" dirty="0" err="1"/>
              <a:t>aUnAge</a:t>
            </a:r>
            <a:r>
              <a:rPr lang="fr-FR" dirty="0"/>
              <a:t> 5.</a:t>
            </a:r>
          </a:p>
          <a:p>
            <a:r>
              <a:rPr lang="fr-FR" b="1" dirty="0"/>
              <a:t>Minou:</a:t>
            </a:r>
            <a:r>
              <a:rPr lang="fr-FR" dirty="0"/>
              <a:t> </a:t>
            </a:r>
            <a:r>
              <a:rPr lang="fr-FR" dirty="0" err="1"/>
              <a:t>estUnTypeDe</a:t>
            </a:r>
            <a:r>
              <a:rPr lang="fr-FR" dirty="0"/>
              <a:t> Chat, </a:t>
            </a:r>
            <a:r>
              <a:rPr lang="fr-FR" dirty="0" err="1"/>
              <a:t>aUneRace</a:t>
            </a:r>
            <a:r>
              <a:rPr lang="fr-FR" dirty="0"/>
              <a:t> Persan, </a:t>
            </a:r>
            <a:r>
              <a:rPr lang="fr-FR" dirty="0" err="1"/>
              <a:t>aUneCouleur</a:t>
            </a:r>
            <a:r>
              <a:rPr lang="fr-FR" dirty="0"/>
              <a:t> Blanc, </a:t>
            </a:r>
            <a:r>
              <a:rPr lang="fr-FR" dirty="0" err="1"/>
              <a:t>aUnAge</a:t>
            </a:r>
            <a:r>
              <a:rPr lang="fr-FR" dirty="0"/>
              <a:t> 3.</a:t>
            </a:r>
          </a:p>
          <a:p>
            <a:pPr marL="0" indent="0">
              <a:buNone/>
            </a:pPr>
            <a:endParaRPr lang="fr-FR" dirty="0"/>
          </a:p>
          <a:p>
            <a:pPr marL="0" indent="0">
              <a:buNone/>
            </a:pPr>
            <a:r>
              <a:rPr lang="fr-FR" dirty="0"/>
              <a:t>Cette ontologie simple définit les concepts clés (</a:t>
            </a:r>
            <a:r>
              <a:rPr lang="fr-FR" dirty="0" err="1"/>
              <a:t>AnimalDomestique</a:t>
            </a:r>
            <a:r>
              <a:rPr lang="fr-FR" dirty="0"/>
              <a:t>, Chien, Chat, etc.) et les relations entre eux. Elle pourrait être étendue pour inclure d'autres propriétés (taille, poids, etc.) et relations (aime, déteste, etc.). Dans une implémentation informatique réelle, on utiliserait un langage de représentation des connaissances comme OWL (Web </a:t>
            </a:r>
            <a:r>
              <a:rPr lang="fr-FR" dirty="0" err="1"/>
              <a:t>Ontology</a:t>
            </a:r>
            <a:r>
              <a:rPr lang="fr-FR" dirty="0"/>
              <a:t> </a:t>
            </a:r>
            <a:r>
              <a:rPr lang="fr-FR" dirty="0" err="1"/>
              <a:t>Language</a:t>
            </a:r>
            <a:r>
              <a:rPr lang="fr-FR" dirty="0"/>
              <a:t>) pour formaliser cette ontologie. Ceci permet ensuite de faire des requêtes et des raisonnements sur les données. Par exemple, on pourrait demander "Trouver tous les animaux domestiques de couleur blanche" et le système pourrait répondre "Minou".</a:t>
            </a:r>
          </a:p>
          <a:p>
            <a:endParaRPr lang="fr-FR" dirty="0"/>
          </a:p>
        </p:txBody>
      </p:sp>
    </p:spTree>
    <p:extLst>
      <p:ext uri="{BB962C8B-B14F-4D97-AF65-F5344CB8AC3E}">
        <p14:creationId xmlns:p14="http://schemas.microsoft.com/office/powerpoint/2010/main" val="1690054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529DE-B0E9-7B4A-AFB2-2F530AE1D7D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3B849C4-D0EB-1376-DB09-BB3FF8D5AA89}"/>
              </a:ext>
            </a:extLst>
          </p:cNvPr>
          <p:cNvSpPr>
            <a:spLocks noGrp="1"/>
          </p:cNvSpPr>
          <p:nvPr>
            <p:ph type="title"/>
          </p:nvPr>
        </p:nvSpPr>
        <p:spPr/>
        <p:txBody>
          <a:bodyPr/>
          <a:lstStyle/>
          <a:p>
            <a:r>
              <a:rPr lang="fr-FR" dirty="0"/>
              <a:t>Comparatif Web 3.0 Web 4.0  / Interaction Utilisateur</a:t>
            </a:r>
            <a:r>
              <a:rPr lang="fr-FR" b="0" dirty="0"/>
              <a:t> :</a:t>
            </a:r>
            <a:endParaRPr lang="fr-FR" dirty="0"/>
          </a:p>
        </p:txBody>
      </p:sp>
      <p:sp>
        <p:nvSpPr>
          <p:cNvPr id="3" name="Espace réservé de la date 2">
            <a:extLst>
              <a:ext uri="{FF2B5EF4-FFF2-40B4-BE49-F238E27FC236}">
                <a16:creationId xmlns:a16="http://schemas.microsoft.com/office/drawing/2014/main" id="{D457FDFB-7D26-2DB7-DB79-25E7E11E00FF}"/>
              </a:ext>
            </a:extLst>
          </p:cNvPr>
          <p:cNvSpPr>
            <a:spLocks noGrp="1"/>
          </p:cNvSpPr>
          <p:nvPr>
            <p:ph type="dt" sz="half" idx="10"/>
          </p:nvPr>
        </p:nvSpPr>
        <p:spPr/>
        <p:txBody>
          <a:bodyPr/>
          <a:lstStyle/>
          <a:p>
            <a:fld id="{8282D8D2-F5F0-2744-864E-8466BE2E099D}" type="datetime2">
              <a:rPr lang="fr-FR" smtClean="0"/>
              <a:t>lundi 22 juin 2026</a:t>
            </a:fld>
            <a:endParaRPr lang="fr-FR" dirty="0"/>
          </a:p>
        </p:txBody>
      </p:sp>
      <p:sp>
        <p:nvSpPr>
          <p:cNvPr id="4" name="Espace réservé du pied de page 3">
            <a:extLst>
              <a:ext uri="{FF2B5EF4-FFF2-40B4-BE49-F238E27FC236}">
                <a16:creationId xmlns:a16="http://schemas.microsoft.com/office/drawing/2014/main" id="{E7888F28-0F88-B108-24D6-EB8E48966872}"/>
              </a:ext>
            </a:extLst>
          </p:cNvPr>
          <p:cNvSpPr>
            <a:spLocks noGrp="1"/>
          </p:cNvSpPr>
          <p:nvPr>
            <p:ph type="ftr" sz="quarter" idx="11"/>
          </p:nvPr>
        </p:nvSpPr>
        <p:spPr/>
        <p:txBody>
          <a:bodyPr/>
          <a:lstStyle/>
          <a:p>
            <a:r>
              <a:rPr lang="fr-FR"/>
              <a:t>S. Lamrous</a:t>
            </a:r>
            <a:endParaRPr lang="fr-FR" dirty="0"/>
          </a:p>
        </p:txBody>
      </p:sp>
      <p:sp>
        <p:nvSpPr>
          <p:cNvPr id="5" name="Espace réservé du contenu 4">
            <a:extLst>
              <a:ext uri="{FF2B5EF4-FFF2-40B4-BE49-F238E27FC236}">
                <a16:creationId xmlns:a16="http://schemas.microsoft.com/office/drawing/2014/main" id="{2B41DBAC-57ED-984D-A6EE-387C17CA5DCC}"/>
              </a:ext>
            </a:extLst>
          </p:cNvPr>
          <p:cNvSpPr>
            <a:spLocks noGrp="1"/>
          </p:cNvSpPr>
          <p:nvPr>
            <p:ph sz="quarter" idx="13"/>
          </p:nvPr>
        </p:nvSpPr>
        <p:spPr>
          <a:xfrm>
            <a:off x="958300" y="1451495"/>
            <a:ext cx="7652300" cy="4751388"/>
          </a:xfrm>
        </p:spPr>
        <p:txBody>
          <a:bodyPr/>
          <a:lstStyle/>
          <a:p>
            <a:r>
              <a:rPr lang="fr-FR" b="1" dirty="0"/>
              <a:t>Web sémantique (3.0)</a:t>
            </a:r>
            <a:r>
              <a:rPr lang="fr-FR" dirty="0"/>
              <a:t> : Les utilisateurs interagissent principalement avec des données et des </a:t>
            </a:r>
            <a:r>
              <a:rPr lang="fr-FR" dirty="0">
                <a:solidFill>
                  <a:schemeClr val="accent1"/>
                </a:solidFill>
              </a:rPr>
              <a:t>informations structurées</a:t>
            </a:r>
            <a:r>
              <a:rPr lang="fr-FR" dirty="0"/>
              <a:t>. L'accent est mis sur la recherche et l'accès à l'information.</a:t>
            </a:r>
          </a:p>
          <a:p>
            <a:r>
              <a:rPr lang="fr-FR" b="1" dirty="0"/>
              <a:t>Web symbiotique (4.0)</a:t>
            </a:r>
            <a:r>
              <a:rPr lang="fr-FR" dirty="0"/>
              <a:t> : Met l'accent sur l'interaction </a:t>
            </a:r>
            <a:r>
              <a:rPr lang="fr-FR" dirty="0">
                <a:solidFill>
                  <a:schemeClr val="accent1"/>
                </a:solidFill>
              </a:rPr>
              <a:t>vocale</a:t>
            </a:r>
            <a:r>
              <a:rPr lang="fr-FR" dirty="0"/>
              <a:t> et la </a:t>
            </a:r>
            <a:r>
              <a:rPr lang="fr-FR" dirty="0">
                <a:solidFill>
                  <a:schemeClr val="accent1"/>
                </a:solidFill>
              </a:rPr>
              <a:t>mobilité</a:t>
            </a:r>
            <a:r>
              <a:rPr lang="fr-FR" dirty="0"/>
              <a:t>. Les utilisateurs peuvent interagir avec des objets du quotidien (comme des appareils électroménagers) de manière plus naturelle et intuitive.</a:t>
            </a:r>
          </a:p>
          <a:p>
            <a:endParaRPr lang="fr-FR" dirty="0"/>
          </a:p>
        </p:txBody>
      </p:sp>
    </p:spTree>
    <p:extLst>
      <p:ext uri="{BB962C8B-B14F-4D97-AF65-F5344CB8AC3E}">
        <p14:creationId xmlns:p14="http://schemas.microsoft.com/office/powerpoint/2010/main" val="2331029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CDFC9-A55E-80EF-9B74-592A7649E0B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269E637-9F09-C2DA-3F45-B430730F56F4}"/>
              </a:ext>
            </a:extLst>
          </p:cNvPr>
          <p:cNvSpPr>
            <a:spLocks noGrp="1"/>
          </p:cNvSpPr>
          <p:nvPr>
            <p:ph type="title"/>
          </p:nvPr>
        </p:nvSpPr>
        <p:spPr/>
        <p:txBody>
          <a:bodyPr>
            <a:normAutofit fontScale="90000"/>
          </a:bodyPr>
          <a:lstStyle/>
          <a:p>
            <a:r>
              <a:rPr lang="fr-FR" dirty="0"/>
              <a:t>Comparatif Web 3.0 Web 4.0  / Technologie et Infrastructure</a:t>
            </a:r>
            <a:r>
              <a:rPr lang="fr-FR" b="0" dirty="0"/>
              <a:t> </a:t>
            </a:r>
            <a:endParaRPr lang="fr-FR" dirty="0"/>
          </a:p>
        </p:txBody>
      </p:sp>
      <p:sp>
        <p:nvSpPr>
          <p:cNvPr id="3" name="Espace réservé de la date 2">
            <a:extLst>
              <a:ext uri="{FF2B5EF4-FFF2-40B4-BE49-F238E27FC236}">
                <a16:creationId xmlns:a16="http://schemas.microsoft.com/office/drawing/2014/main" id="{F82B3D7F-2773-711B-1E56-163971763A17}"/>
              </a:ext>
            </a:extLst>
          </p:cNvPr>
          <p:cNvSpPr>
            <a:spLocks noGrp="1"/>
          </p:cNvSpPr>
          <p:nvPr>
            <p:ph type="dt" sz="half" idx="10"/>
          </p:nvPr>
        </p:nvSpPr>
        <p:spPr/>
        <p:txBody>
          <a:bodyPr/>
          <a:lstStyle/>
          <a:p>
            <a:fld id="{8282D8D2-F5F0-2744-864E-8466BE2E099D}" type="datetime2">
              <a:rPr lang="fr-FR" smtClean="0"/>
              <a:t>lundi 22 juin 2026</a:t>
            </a:fld>
            <a:endParaRPr lang="fr-FR" dirty="0"/>
          </a:p>
        </p:txBody>
      </p:sp>
      <p:sp>
        <p:nvSpPr>
          <p:cNvPr id="4" name="Espace réservé du pied de page 3">
            <a:extLst>
              <a:ext uri="{FF2B5EF4-FFF2-40B4-BE49-F238E27FC236}">
                <a16:creationId xmlns:a16="http://schemas.microsoft.com/office/drawing/2014/main" id="{1C650858-E84A-665B-0296-455FA8135BA9}"/>
              </a:ext>
            </a:extLst>
          </p:cNvPr>
          <p:cNvSpPr>
            <a:spLocks noGrp="1"/>
          </p:cNvSpPr>
          <p:nvPr>
            <p:ph type="ftr" sz="quarter" idx="11"/>
          </p:nvPr>
        </p:nvSpPr>
        <p:spPr/>
        <p:txBody>
          <a:bodyPr/>
          <a:lstStyle/>
          <a:p>
            <a:r>
              <a:rPr lang="fr-FR"/>
              <a:t>S. Lamrous</a:t>
            </a:r>
            <a:endParaRPr lang="fr-FR" dirty="0"/>
          </a:p>
        </p:txBody>
      </p:sp>
      <p:sp>
        <p:nvSpPr>
          <p:cNvPr id="5" name="Espace réservé du contenu 4">
            <a:extLst>
              <a:ext uri="{FF2B5EF4-FFF2-40B4-BE49-F238E27FC236}">
                <a16:creationId xmlns:a16="http://schemas.microsoft.com/office/drawing/2014/main" id="{B5FF876A-25AC-7F76-F57A-0D1AC6982E8C}"/>
              </a:ext>
            </a:extLst>
          </p:cNvPr>
          <p:cNvSpPr>
            <a:spLocks noGrp="1"/>
          </p:cNvSpPr>
          <p:nvPr>
            <p:ph sz="quarter" idx="13"/>
          </p:nvPr>
        </p:nvSpPr>
        <p:spPr>
          <a:xfrm>
            <a:off x="958300" y="1451495"/>
            <a:ext cx="7652300" cy="4751388"/>
          </a:xfrm>
        </p:spPr>
        <p:txBody>
          <a:bodyPr/>
          <a:lstStyle/>
          <a:p>
            <a:r>
              <a:rPr lang="fr-FR" b="1" dirty="0"/>
              <a:t>Web sémantique (3.0)</a:t>
            </a:r>
            <a:r>
              <a:rPr lang="fr-FR" dirty="0"/>
              <a:t> : Utilise des technologies comme RDF (Resource Description Framework) et SPARQL pour la gestion des données.</a:t>
            </a:r>
          </a:p>
          <a:p>
            <a:r>
              <a:rPr lang="fr-FR" b="1" dirty="0"/>
              <a:t>Web symbiotique (4.0)</a:t>
            </a:r>
            <a:r>
              <a:rPr lang="fr-FR" dirty="0"/>
              <a:t> : Intègre des technologies émergentes telles que la réalité augmentée, la réalité virtuelle et des systèmes d'intelligence artificielle pour créer des environnements interactifs.</a:t>
            </a:r>
          </a:p>
        </p:txBody>
      </p:sp>
    </p:spTree>
    <p:extLst>
      <p:ext uri="{BB962C8B-B14F-4D97-AF65-F5344CB8AC3E}">
        <p14:creationId xmlns:p14="http://schemas.microsoft.com/office/powerpoint/2010/main" val="42277012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30EC7-1B7E-17FA-D54A-6D48ADAC932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E75B1C7-ADA7-1F54-F1AE-53E0A0FE3B63}"/>
              </a:ext>
            </a:extLst>
          </p:cNvPr>
          <p:cNvSpPr>
            <a:spLocks noGrp="1"/>
          </p:cNvSpPr>
          <p:nvPr>
            <p:ph type="title"/>
          </p:nvPr>
        </p:nvSpPr>
        <p:spPr/>
        <p:txBody>
          <a:bodyPr/>
          <a:lstStyle/>
          <a:p>
            <a:r>
              <a:rPr lang="fr-FR" dirty="0"/>
              <a:t>Comparatif Web 3.0 Web 4.0  / Objectifs</a:t>
            </a:r>
            <a:r>
              <a:rPr lang="fr-FR" b="0" dirty="0"/>
              <a:t> </a:t>
            </a:r>
            <a:endParaRPr lang="fr-FR" dirty="0"/>
          </a:p>
        </p:txBody>
      </p:sp>
      <p:sp>
        <p:nvSpPr>
          <p:cNvPr id="3" name="Espace réservé de la date 2">
            <a:extLst>
              <a:ext uri="{FF2B5EF4-FFF2-40B4-BE49-F238E27FC236}">
                <a16:creationId xmlns:a16="http://schemas.microsoft.com/office/drawing/2014/main" id="{052135BB-80F0-F4F0-52F5-E786901C7F42}"/>
              </a:ext>
            </a:extLst>
          </p:cNvPr>
          <p:cNvSpPr>
            <a:spLocks noGrp="1"/>
          </p:cNvSpPr>
          <p:nvPr>
            <p:ph type="dt" sz="half" idx="10"/>
          </p:nvPr>
        </p:nvSpPr>
        <p:spPr/>
        <p:txBody>
          <a:bodyPr/>
          <a:lstStyle/>
          <a:p>
            <a:fld id="{8282D8D2-F5F0-2744-864E-8466BE2E099D}" type="datetime2">
              <a:rPr lang="fr-FR" smtClean="0"/>
              <a:t>lundi 22 juin 2026</a:t>
            </a:fld>
            <a:endParaRPr lang="fr-FR" dirty="0"/>
          </a:p>
        </p:txBody>
      </p:sp>
      <p:sp>
        <p:nvSpPr>
          <p:cNvPr id="4" name="Espace réservé du pied de page 3">
            <a:extLst>
              <a:ext uri="{FF2B5EF4-FFF2-40B4-BE49-F238E27FC236}">
                <a16:creationId xmlns:a16="http://schemas.microsoft.com/office/drawing/2014/main" id="{D702D2C7-045A-DCD0-A931-D2DC11EFE630}"/>
              </a:ext>
            </a:extLst>
          </p:cNvPr>
          <p:cNvSpPr>
            <a:spLocks noGrp="1"/>
          </p:cNvSpPr>
          <p:nvPr>
            <p:ph type="ftr" sz="quarter" idx="11"/>
          </p:nvPr>
        </p:nvSpPr>
        <p:spPr/>
        <p:txBody>
          <a:bodyPr/>
          <a:lstStyle/>
          <a:p>
            <a:r>
              <a:rPr lang="fr-FR"/>
              <a:t>S. Lamrous</a:t>
            </a:r>
            <a:endParaRPr lang="fr-FR" dirty="0"/>
          </a:p>
        </p:txBody>
      </p:sp>
      <p:sp>
        <p:nvSpPr>
          <p:cNvPr id="5" name="Espace réservé du contenu 4">
            <a:extLst>
              <a:ext uri="{FF2B5EF4-FFF2-40B4-BE49-F238E27FC236}">
                <a16:creationId xmlns:a16="http://schemas.microsoft.com/office/drawing/2014/main" id="{75D52D9D-96A6-A9BF-1A92-1354A3B556FE}"/>
              </a:ext>
            </a:extLst>
          </p:cNvPr>
          <p:cNvSpPr>
            <a:spLocks noGrp="1"/>
          </p:cNvSpPr>
          <p:nvPr>
            <p:ph sz="quarter" idx="13"/>
          </p:nvPr>
        </p:nvSpPr>
        <p:spPr>
          <a:xfrm>
            <a:off x="958300" y="1451495"/>
            <a:ext cx="7652300" cy="4751388"/>
          </a:xfrm>
        </p:spPr>
        <p:txBody>
          <a:bodyPr/>
          <a:lstStyle/>
          <a:p>
            <a:r>
              <a:rPr lang="fr-FR" b="1" dirty="0"/>
              <a:t>Web sémantique (3.0)</a:t>
            </a:r>
            <a:r>
              <a:rPr lang="fr-FR" dirty="0"/>
              <a:t> : L'objectif principal est d'améliorer la recherche d'informations et la compréhension des données par les machines.</a:t>
            </a:r>
          </a:p>
          <a:p>
            <a:r>
              <a:rPr lang="fr-FR" b="1" dirty="0"/>
              <a:t>Web symbiotique (4.0)</a:t>
            </a:r>
            <a:r>
              <a:rPr lang="fr-FR" dirty="0"/>
              <a:t> : Vise à flouter la ligne entre l'humain et la machine, créant un monde virtuel où les utilisateurs peuvent s'immerger complètement.</a:t>
            </a:r>
          </a:p>
          <a:p>
            <a:endParaRPr lang="fr-FR" dirty="0"/>
          </a:p>
        </p:txBody>
      </p:sp>
    </p:spTree>
    <p:extLst>
      <p:ext uri="{BB962C8B-B14F-4D97-AF65-F5344CB8AC3E}">
        <p14:creationId xmlns:p14="http://schemas.microsoft.com/office/powerpoint/2010/main" val="24103723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5B0B5E-FDF5-50D7-ACBD-57A62F970B2F}"/>
              </a:ext>
            </a:extLst>
          </p:cNvPr>
          <p:cNvSpPr>
            <a:spLocks noGrp="1"/>
          </p:cNvSpPr>
          <p:nvPr>
            <p:ph type="title"/>
          </p:nvPr>
        </p:nvSpPr>
        <p:spPr/>
        <p:txBody>
          <a:bodyPr>
            <a:normAutofit/>
          </a:bodyPr>
          <a:lstStyle/>
          <a:p>
            <a:r>
              <a:rPr lang="fr-FR" dirty="0"/>
              <a:t>Projections Actuelles</a:t>
            </a:r>
          </a:p>
        </p:txBody>
      </p:sp>
      <p:sp>
        <p:nvSpPr>
          <p:cNvPr id="3" name="Espace réservé de la date 2">
            <a:extLst>
              <a:ext uri="{FF2B5EF4-FFF2-40B4-BE49-F238E27FC236}">
                <a16:creationId xmlns:a16="http://schemas.microsoft.com/office/drawing/2014/main" id="{9155A450-6D8C-AF91-4833-6B0A3810588F}"/>
              </a:ext>
            </a:extLst>
          </p:cNvPr>
          <p:cNvSpPr>
            <a:spLocks noGrp="1"/>
          </p:cNvSpPr>
          <p:nvPr>
            <p:ph type="dt" sz="half" idx="10"/>
          </p:nvPr>
        </p:nvSpPr>
        <p:spPr/>
        <p:txBody>
          <a:bodyPr/>
          <a:lstStyle/>
          <a:p>
            <a:fld id="{8282D8D2-F5F0-2744-864E-8466BE2E099D}" type="datetime2">
              <a:rPr lang="fr-FR" smtClean="0"/>
              <a:t>lundi 22 juin 2026</a:t>
            </a:fld>
            <a:endParaRPr lang="fr-FR" dirty="0"/>
          </a:p>
        </p:txBody>
      </p:sp>
      <p:sp>
        <p:nvSpPr>
          <p:cNvPr id="4" name="Espace réservé du pied de page 3">
            <a:extLst>
              <a:ext uri="{FF2B5EF4-FFF2-40B4-BE49-F238E27FC236}">
                <a16:creationId xmlns:a16="http://schemas.microsoft.com/office/drawing/2014/main" id="{A4EAFC23-DADD-02BD-B4B8-83AACD032590}"/>
              </a:ext>
            </a:extLst>
          </p:cNvPr>
          <p:cNvSpPr>
            <a:spLocks noGrp="1"/>
          </p:cNvSpPr>
          <p:nvPr>
            <p:ph type="ftr" sz="quarter" idx="11"/>
          </p:nvPr>
        </p:nvSpPr>
        <p:spPr/>
        <p:txBody>
          <a:bodyPr/>
          <a:lstStyle/>
          <a:p>
            <a:r>
              <a:rPr lang="fr-FR"/>
              <a:t>S. Lamrous</a:t>
            </a:r>
            <a:endParaRPr lang="fr-FR" dirty="0"/>
          </a:p>
        </p:txBody>
      </p:sp>
      <p:sp>
        <p:nvSpPr>
          <p:cNvPr id="5" name="Espace réservé du contenu 4">
            <a:extLst>
              <a:ext uri="{FF2B5EF4-FFF2-40B4-BE49-F238E27FC236}">
                <a16:creationId xmlns:a16="http://schemas.microsoft.com/office/drawing/2014/main" id="{FDD8409F-D3E7-3CD8-B858-93BFCBE5C582}"/>
              </a:ext>
            </a:extLst>
          </p:cNvPr>
          <p:cNvSpPr>
            <a:spLocks noGrp="1"/>
          </p:cNvSpPr>
          <p:nvPr>
            <p:ph sz="quarter" idx="13"/>
          </p:nvPr>
        </p:nvSpPr>
        <p:spPr>
          <a:xfrm>
            <a:off x="958300" y="1451495"/>
            <a:ext cx="7728500" cy="4751388"/>
          </a:xfrm>
        </p:spPr>
        <p:txBody>
          <a:bodyPr>
            <a:normAutofit fontScale="92500" lnSpcReduction="20000"/>
          </a:bodyPr>
          <a:lstStyle/>
          <a:p>
            <a:r>
              <a:rPr lang="fr-FR" b="1" dirty="0"/>
              <a:t>Omniprésence</a:t>
            </a:r>
            <a:r>
              <a:rPr lang="fr-FR" dirty="0"/>
              <a:t> : Le Web 4.0 sera omniprésent dans nos vies quotidiennes, intégrant des objets intelligents qui interagissent avec nous de manière proactive.</a:t>
            </a:r>
          </a:p>
          <a:p>
            <a:r>
              <a:rPr lang="fr-FR" b="1" dirty="0"/>
              <a:t>Intelligence Augmentée</a:t>
            </a:r>
            <a:r>
              <a:rPr lang="fr-FR" dirty="0"/>
              <a:t> : Les systèmes deviendront plus intelligents, capables d'apprendre et de s'adapter aux préférences des utilisateurs, rendant les interactions plus personnalisées.</a:t>
            </a:r>
          </a:p>
          <a:p>
            <a:r>
              <a:rPr lang="fr-FR" b="1" dirty="0"/>
              <a:t>Interopérabilité</a:t>
            </a:r>
            <a:r>
              <a:rPr lang="fr-FR" dirty="0"/>
              <a:t> : Une meilleure interconnexion entre les différents systèmes et appareils, permettant une communication fluide et une expérience utilisateur cohérente.</a:t>
            </a:r>
          </a:p>
          <a:p>
            <a:r>
              <a:rPr lang="fr-FR" b="1" dirty="0"/>
              <a:t>Éthique et Sécurité</a:t>
            </a:r>
            <a:r>
              <a:rPr lang="fr-FR" dirty="0"/>
              <a:t> : Avec l'augmentation de l'utilisation des données personnelles, des préoccupations éthiques et de sécurité émergeront, nécessitant des réglementations et des normes plus strictes.</a:t>
            </a:r>
          </a:p>
          <a:p>
            <a:endParaRPr lang="fr-FR" dirty="0"/>
          </a:p>
        </p:txBody>
      </p:sp>
    </p:spTree>
    <p:extLst>
      <p:ext uri="{BB962C8B-B14F-4D97-AF65-F5344CB8AC3E}">
        <p14:creationId xmlns:p14="http://schemas.microsoft.com/office/powerpoint/2010/main" val="14326870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E10FA2-39B9-8726-FB81-8A606CF8F0D1}"/>
              </a:ext>
            </a:extLst>
          </p:cNvPr>
          <p:cNvSpPr>
            <a:spLocks noGrp="1"/>
          </p:cNvSpPr>
          <p:nvPr>
            <p:ph type="title"/>
          </p:nvPr>
        </p:nvSpPr>
        <p:spPr/>
        <p:txBody>
          <a:bodyPr/>
          <a:lstStyle/>
          <a:p>
            <a:r>
              <a:rPr lang="fr-FR" dirty="0"/>
              <a:t>Le web 5.0, de quoi s’agit-il ?</a:t>
            </a:r>
          </a:p>
        </p:txBody>
      </p:sp>
      <p:sp>
        <p:nvSpPr>
          <p:cNvPr id="3" name="Espace réservé de la date 2">
            <a:extLst>
              <a:ext uri="{FF2B5EF4-FFF2-40B4-BE49-F238E27FC236}">
                <a16:creationId xmlns:a16="http://schemas.microsoft.com/office/drawing/2014/main" id="{99B79B9B-CA23-1F6C-338B-F6A90CF2768F}"/>
              </a:ext>
            </a:extLst>
          </p:cNvPr>
          <p:cNvSpPr>
            <a:spLocks noGrp="1"/>
          </p:cNvSpPr>
          <p:nvPr>
            <p:ph type="dt" sz="half" idx="10"/>
          </p:nvPr>
        </p:nvSpPr>
        <p:spPr/>
        <p:txBody>
          <a:bodyPr/>
          <a:lstStyle/>
          <a:p>
            <a:fld id="{8282D8D2-F5F0-2744-864E-8466BE2E099D}" type="datetime2">
              <a:rPr lang="fr-FR" smtClean="0"/>
              <a:t>lundi 22 juin 2026</a:t>
            </a:fld>
            <a:endParaRPr lang="fr-FR" dirty="0"/>
          </a:p>
        </p:txBody>
      </p:sp>
      <p:sp>
        <p:nvSpPr>
          <p:cNvPr id="4" name="Espace réservé du pied de page 3">
            <a:extLst>
              <a:ext uri="{FF2B5EF4-FFF2-40B4-BE49-F238E27FC236}">
                <a16:creationId xmlns:a16="http://schemas.microsoft.com/office/drawing/2014/main" id="{DC36C5FC-24C7-E450-20C5-65A3DDBD2AC3}"/>
              </a:ext>
            </a:extLst>
          </p:cNvPr>
          <p:cNvSpPr>
            <a:spLocks noGrp="1"/>
          </p:cNvSpPr>
          <p:nvPr>
            <p:ph type="ftr" sz="quarter" idx="11"/>
          </p:nvPr>
        </p:nvSpPr>
        <p:spPr/>
        <p:txBody>
          <a:bodyPr/>
          <a:lstStyle/>
          <a:p>
            <a:r>
              <a:rPr lang="fr-FR"/>
              <a:t>S. Lamrous</a:t>
            </a:r>
            <a:endParaRPr lang="fr-FR" dirty="0"/>
          </a:p>
        </p:txBody>
      </p:sp>
      <p:sp>
        <p:nvSpPr>
          <p:cNvPr id="5" name="Espace réservé du contenu 4">
            <a:extLst>
              <a:ext uri="{FF2B5EF4-FFF2-40B4-BE49-F238E27FC236}">
                <a16:creationId xmlns:a16="http://schemas.microsoft.com/office/drawing/2014/main" id="{B3FC9D20-B680-4240-AB79-B22D0BAE7446}"/>
              </a:ext>
            </a:extLst>
          </p:cNvPr>
          <p:cNvSpPr>
            <a:spLocks noGrp="1"/>
          </p:cNvSpPr>
          <p:nvPr>
            <p:ph sz="quarter" idx="13"/>
          </p:nvPr>
        </p:nvSpPr>
        <p:spPr>
          <a:xfrm>
            <a:off x="958300" y="1451495"/>
            <a:ext cx="7080800" cy="4751388"/>
          </a:xfrm>
        </p:spPr>
        <p:txBody>
          <a:bodyPr/>
          <a:lstStyle/>
          <a:p>
            <a:r>
              <a:rPr lang="fr-FR" dirty="0"/>
              <a:t>à synthétiser sur une slide et à débattre </a:t>
            </a:r>
          </a:p>
        </p:txBody>
      </p:sp>
    </p:spTree>
    <p:extLst>
      <p:ext uri="{BB962C8B-B14F-4D97-AF65-F5344CB8AC3E}">
        <p14:creationId xmlns:p14="http://schemas.microsoft.com/office/powerpoint/2010/main" val="15410679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Merci</a:t>
            </a:r>
          </a:p>
        </p:txBody>
      </p:sp>
    </p:spTree>
    <p:extLst>
      <p:ext uri="{BB962C8B-B14F-4D97-AF65-F5344CB8AC3E}">
        <p14:creationId xmlns:p14="http://schemas.microsoft.com/office/powerpoint/2010/main" val="3939357557"/>
      </p:ext>
    </p:extLst>
  </p:cSld>
  <p:clrMapOvr>
    <a:masterClrMapping/>
  </p:clrMapOvr>
</p:sld>
</file>

<file path=ppt/theme/theme1.xml><?xml version="1.0" encoding="utf-8"?>
<a:theme xmlns:a="http://schemas.openxmlformats.org/drawingml/2006/main" name="Masque page de gard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Masque chapitr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Masque page contenu">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Masque page final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19619</TotalTime>
  <Words>1071</Words>
  <Application>Microsoft Office PowerPoint</Application>
  <PresentationFormat>Affichage à l'écran (4:3)</PresentationFormat>
  <Paragraphs>88</Paragraphs>
  <Slides>13</Slides>
  <Notes>3</Notes>
  <HiddenSlides>0</HiddenSlides>
  <MMClips>0</MMClips>
  <ScaleCrop>false</ScaleCrop>
  <HeadingPairs>
    <vt:vector size="6" baseType="variant">
      <vt:variant>
        <vt:lpstr>Polices utilisées</vt:lpstr>
      </vt:variant>
      <vt:variant>
        <vt:i4>4</vt:i4>
      </vt:variant>
      <vt:variant>
        <vt:lpstr>Thème</vt:lpstr>
      </vt:variant>
      <vt:variant>
        <vt:i4>4</vt:i4>
      </vt:variant>
      <vt:variant>
        <vt:lpstr>Titres des diapositives</vt:lpstr>
      </vt:variant>
      <vt:variant>
        <vt:i4>13</vt:i4>
      </vt:variant>
    </vt:vector>
  </HeadingPairs>
  <TitlesOfParts>
    <vt:vector size="21" baseType="lpstr">
      <vt:lpstr>Lucida Grande</vt:lpstr>
      <vt:lpstr>Arial</vt:lpstr>
      <vt:lpstr>Calibri</vt:lpstr>
      <vt:lpstr>Wingdings</vt:lpstr>
      <vt:lpstr>Masque page de garde</vt:lpstr>
      <vt:lpstr>Masque chapitre</vt:lpstr>
      <vt:lpstr>Masque page contenu</vt:lpstr>
      <vt:lpstr>Masque page finale</vt:lpstr>
      <vt:lpstr>LUDS02 : Web stratégies, surveillance, et analyse de données Web sémantique (3.0) / web symbiotique (4.0)   Projections actuelles    </vt:lpstr>
      <vt:lpstr>Web sémantique 3.0  Web symbiotique 4.0</vt:lpstr>
      <vt:lpstr> L’évolution spectaculaire du web</vt:lpstr>
      <vt:lpstr> L’évolution spectaculaire du web</vt:lpstr>
      <vt:lpstr>Comparatif Web 3.0 Web 4.0  / Nature des données</vt:lpstr>
      <vt:lpstr>Une ontologie c’est quoi ?</vt:lpstr>
      <vt:lpstr>Exemple d’ontologie</vt:lpstr>
      <vt:lpstr>Comparatif Web 3.0 Web 4.0  / Interaction Utilisateur :</vt:lpstr>
      <vt:lpstr>Comparatif Web 3.0 Web 4.0  / Technologie et Infrastructure </vt:lpstr>
      <vt:lpstr>Comparatif Web 3.0 Web 4.0  / Objectifs </vt:lpstr>
      <vt:lpstr>Projections Actuelles</vt:lpstr>
      <vt:lpstr>Le web 5.0, de quoi s’agit-il ?</vt:lpstr>
      <vt:lpstr>Merci</vt:lpstr>
    </vt:vector>
  </TitlesOfParts>
  <Company>UTBM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Julie Lucchina</dc:creator>
  <cp:lastModifiedBy>Sid Ahmed LAMROUS</cp:lastModifiedBy>
  <cp:revision>671</cp:revision>
  <dcterms:created xsi:type="dcterms:W3CDTF">2014-01-16T11:55:08Z</dcterms:created>
  <dcterms:modified xsi:type="dcterms:W3CDTF">2026-06-22T13:37:12Z</dcterms:modified>
</cp:coreProperties>
</file>