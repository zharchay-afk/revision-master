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 id="2147483653" r:id="rId2"/>
    <p:sldMasterId id="2147483655" r:id="rId3"/>
    <p:sldMasterId id="2147483657" r:id="rId4"/>
  </p:sldMasterIdLst>
  <p:notesMasterIdLst>
    <p:notesMasterId r:id="rId35"/>
  </p:notesMasterIdLst>
  <p:handoutMasterIdLst>
    <p:handoutMasterId r:id="rId36"/>
  </p:handoutMasterIdLst>
  <p:sldIdLst>
    <p:sldId id="256" r:id="rId5"/>
    <p:sldId id="335" r:id="rId6"/>
    <p:sldId id="415" r:id="rId7"/>
    <p:sldId id="416" r:id="rId8"/>
    <p:sldId id="417" r:id="rId9"/>
    <p:sldId id="418" r:id="rId10"/>
    <p:sldId id="349" r:id="rId11"/>
    <p:sldId id="400" r:id="rId12"/>
    <p:sldId id="401" r:id="rId13"/>
    <p:sldId id="402" r:id="rId14"/>
    <p:sldId id="403" r:id="rId15"/>
    <p:sldId id="404" r:id="rId16"/>
    <p:sldId id="405" r:id="rId17"/>
    <p:sldId id="406" r:id="rId18"/>
    <p:sldId id="420" r:id="rId19"/>
    <p:sldId id="421" r:id="rId20"/>
    <p:sldId id="422" r:id="rId21"/>
    <p:sldId id="423" r:id="rId22"/>
    <p:sldId id="424" r:id="rId23"/>
    <p:sldId id="419" r:id="rId24"/>
    <p:sldId id="425" r:id="rId25"/>
    <p:sldId id="407" r:id="rId26"/>
    <p:sldId id="408" r:id="rId27"/>
    <p:sldId id="409" r:id="rId28"/>
    <p:sldId id="410" r:id="rId29"/>
    <p:sldId id="355" r:id="rId30"/>
    <p:sldId id="412" r:id="rId31"/>
    <p:sldId id="413" r:id="rId32"/>
    <p:sldId id="414" r:id="rId33"/>
    <p:sldId id="259" r:id="rId34"/>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d Ahmed Lamrous" initials="SAL" lastIdx="1" clrIdx="0">
    <p:extLst>
      <p:ext uri="{19B8F6BF-5375-455C-9EA6-DF929625EA0E}">
        <p15:presenceInfo xmlns:p15="http://schemas.microsoft.com/office/powerpoint/2012/main" userId="S::slamrous@utbm.fr::2560368c-70de-42bf-8834-daa93aedb0a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6A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7" autoAdjust="0"/>
    <p:restoredTop sz="88707" autoAdjust="0"/>
  </p:normalViewPr>
  <p:slideViewPr>
    <p:cSldViewPr snapToGrid="0" snapToObjects="1">
      <p:cViewPr varScale="1">
        <p:scale>
          <a:sx n="87" d="100"/>
          <a:sy n="87" d="100"/>
        </p:scale>
        <p:origin x="960" y="84"/>
      </p:cViewPr>
      <p:guideLst>
        <p:guide orient="horz" pos="2160"/>
        <p:guide pos="2880"/>
      </p:guideLst>
    </p:cSldViewPr>
  </p:slideViewPr>
  <p:outlineViewPr>
    <p:cViewPr>
      <p:scale>
        <a:sx n="33" d="100"/>
        <a:sy n="33" d="100"/>
      </p:scale>
      <p:origin x="0" y="-1152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72" d="100"/>
          <a:sy n="72" d="100"/>
        </p:scale>
        <p:origin x="2232"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166F91F-9D93-394B-8FD3-60A5DE0A647A}" type="datetimeFigureOut">
              <a:rPr lang="fr-FR" smtClean="0"/>
              <a:pPr/>
              <a:t>05/06/2026</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DC73FE-DA34-A54B-9936-7064B5F708B9}" type="slidenum">
              <a:rPr lang="fr-FR" smtClean="0"/>
              <a:pPr/>
              <a:t>‹N°›</a:t>
            </a:fld>
            <a:endParaRPr lang="fr-FR"/>
          </a:p>
        </p:txBody>
      </p:sp>
    </p:spTree>
    <p:extLst>
      <p:ext uri="{BB962C8B-B14F-4D97-AF65-F5344CB8AC3E}">
        <p14:creationId xmlns:p14="http://schemas.microsoft.com/office/powerpoint/2010/main" val="4869231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CEFA2C-026D-5E4F-94AA-AE94A65147A9}" type="datetimeFigureOut">
              <a:rPr lang="fr-FR" smtClean="0"/>
              <a:pPr/>
              <a:t>05/06/2026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795D8B8-548D-4C44-B179-E2F27AFF9943}" type="slidenum">
              <a:rPr lang="fr-FR" smtClean="0"/>
              <a:pPr/>
              <a:t>‹N°›</a:t>
            </a:fld>
            <a:endParaRPr lang="fr-FR"/>
          </a:p>
        </p:txBody>
      </p:sp>
    </p:spTree>
    <p:extLst>
      <p:ext uri="{BB962C8B-B14F-4D97-AF65-F5344CB8AC3E}">
        <p14:creationId xmlns:p14="http://schemas.microsoft.com/office/powerpoint/2010/main" val="397548482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fr-FR" dirty="0"/>
              <a:t>Paramétrez</a:t>
            </a:r>
            <a:r>
              <a:rPr lang="fr-FR" baseline="0" dirty="0"/>
              <a:t> vos champs : numéros de pages, titre de la présentation en pied de page et date dans le menu INSERTION &gt; EN-TÊTE ET PIED DE PAGE et cliquez sur APPLIQUER PARTOUT</a:t>
            </a:r>
            <a:endParaRPr lang="fr-FR" dirty="0"/>
          </a:p>
          <a:p>
            <a:endParaRPr lang="fr-FR" dirty="0"/>
          </a:p>
        </p:txBody>
      </p:sp>
      <p:sp>
        <p:nvSpPr>
          <p:cNvPr id="4" name="Espace réservé du numéro de diapositive 3"/>
          <p:cNvSpPr>
            <a:spLocks noGrp="1"/>
          </p:cNvSpPr>
          <p:nvPr>
            <p:ph type="sldNum" sz="quarter" idx="10"/>
          </p:nvPr>
        </p:nvSpPr>
        <p:spPr/>
        <p:txBody>
          <a:bodyPr/>
          <a:lstStyle/>
          <a:p>
            <a:fld id="{5795D8B8-548D-4C44-B179-E2F27AFF9943}" type="slidenum">
              <a:rPr lang="fr-FR" smtClean="0"/>
              <a:pPr/>
              <a:t>1</a:t>
            </a:fld>
            <a:endParaRPr lang="fr-FR"/>
          </a:p>
        </p:txBody>
      </p:sp>
    </p:spTree>
    <p:extLst>
      <p:ext uri="{BB962C8B-B14F-4D97-AF65-F5344CB8AC3E}">
        <p14:creationId xmlns:p14="http://schemas.microsoft.com/office/powerpoint/2010/main" val="3640972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795D8B8-548D-4C44-B179-E2F27AFF9943}" type="slidenum">
              <a:rPr lang="fr-FR" smtClean="0"/>
              <a:pPr/>
              <a:t>9</a:t>
            </a:fld>
            <a:endParaRPr lang="fr-FR"/>
          </a:p>
        </p:txBody>
      </p:sp>
    </p:spTree>
    <p:extLst>
      <p:ext uri="{BB962C8B-B14F-4D97-AF65-F5344CB8AC3E}">
        <p14:creationId xmlns:p14="http://schemas.microsoft.com/office/powerpoint/2010/main" val="1058364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 page de garde">
    <p:spTree>
      <p:nvGrpSpPr>
        <p:cNvPr id="1" name=""/>
        <p:cNvGrpSpPr/>
        <p:nvPr/>
      </p:nvGrpSpPr>
      <p:grpSpPr>
        <a:xfrm>
          <a:off x="0" y="0"/>
          <a:ext cx="0" cy="0"/>
          <a:chOff x="0" y="0"/>
          <a:chExt cx="0" cy="0"/>
        </a:xfrm>
      </p:grpSpPr>
      <p:sp>
        <p:nvSpPr>
          <p:cNvPr id="7" name="Espace réservé de la date 7"/>
          <p:cNvSpPr>
            <a:spLocks noGrp="1"/>
          </p:cNvSpPr>
          <p:nvPr>
            <p:ph type="dt" sz="half" idx="10"/>
          </p:nvPr>
        </p:nvSpPr>
        <p:spPr>
          <a:xfrm>
            <a:off x="6589485" y="6596743"/>
            <a:ext cx="2540002" cy="261258"/>
          </a:xfrm>
          <a:prstGeom prst="rect">
            <a:avLst/>
          </a:prstGeom>
        </p:spPr>
        <p:txBody>
          <a:bodyPr/>
          <a:lstStyle>
            <a:lvl1pPr>
              <a:defRPr>
                <a:solidFill>
                  <a:schemeClr val="bg1"/>
                </a:solidFill>
              </a:defRPr>
            </a:lvl1pPr>
          </a:lstStyle>
          <a:p>
            <a:pPr algn="r"/>
            <a:fld id="{52A364AE-53DB-1242-8535-5BB774B8AE58}" type="datetime2">
              <a:rPr lang="fr-FR" smtClean="0"/>
              <a:t>vendredi 5 juin 2026</a:t>
            </a:fld>
            <a:endParaRPr lang="fr-FR" dirty="0"/>
          </a:p>
        </p:txBody>
      </p:sp>
      <p:sp>
        <p:nvSpPr>
          <p:cNvPr id="8" name="Espace réservé du pied de page 8"/>
          <p:cNvSpPr>
            <a:spLocks noGrp="1"/>
          </p:cNvSpPr>
          <p:nvPr>
            <p:ph type="ftr" sz="quarter" idx="11"/>
          </p:nvPr>
        </p:nvSpPr>
        <p:spPr>
          <a:xfrm>
            <a:off x="94342" y="6596743"/>
            <a:ext cx="5268687" cy="261257"/>
          </a:xfrm>
          <a:prstGeom prst="rect">
            <a:avLst/>
          </a:prstGeom>
        </p:spPr>
        <p:txBody>
          <a:bodyPr/>
          <a:lstStyle>
            <a:lvl1pPr algn="l">
              <a:defRPr>
                <a:solidFill>
                  <a:schemeClr val="bg1"/>
                </a:solidFill>
              </a:defRPr>
            </a:lvl1pPr>
          </a:lstStyle>
          <a:p>
            <a:r>
              <a:rPr lang="fr-FR"/>
              <a:t>S. Lamrous</a:t>
            </a:r>
            <a:endParaRPr lang="fr-FR" dirty="0"/>
          </a:p>
        </p:txBody>
      </p:sp>
      <p:sp>
        <p:nvSpPr>
          <p:cNvPr id="12" name="Espace réservé du texte 11"/>
          <p:cNvSpPr>
            <a:spLocks noGrp="1"/>
          </p:cNvSpPr>
          <p:nvPr>
            <p:ph type="body" sz="quarter" idx="12" hasCustomPrompt="1"/>
          </p:nvPr>
        </p:nvSpPr>
        <p:spPr>
          <a:xfrm>
            <a:off x="203199" y="5377543"/>
            <a:ext cx="8410575" cy="420914"/>
          </a:xfrm>
          <a:prstGeom prst="rect">
            <a:avLst/>
          </a:prstGeom>
        </p:spPr>
        <p:txBody>
          <a:bodyPr vert="horz" anchor="ctr" anchorCtr="0"/>
          <a:lstStyle>
            <a:lvl1pPr marL="0" indent="0" algn="l">
              <a:spcBef>
                <a:spcPts val="0"/>
              </a:spcBef>
              <a:buNone/>
              <a:defRPr sz="1600" baseline="0">
                <a:solidFill>
                  <a:schemeClr val="bg1"/>
                </a:solidFill>
                <a:latin typeface="Calibri"/>
                <a:cs typeface="Calibri"/>
              </a:defRPr>
            </a:lvl1pPr>
            <a:lvl2pPr marL="457200" indent="0" algn="l">
              <a:buNone/>
              <a:defRPr sz="1600">
                <a:solidFill>
                  <a:schemeClr val="bg1"/>
                </a:solidFill>
                <a:latin typeface="Calibri"/>
                <a:cs typeface="Calibri"/>
              </a:defRPr>
            </a:lvl2pPr>
            <a:lvl3pPr marL="914400" indent="0" algn="l">
              <a:buNone/>
              <a:defRPr sz="1600">
                <a:solidFill>
                  <a:schemeClr val="bg1"/>
                </a:solidFill>
                <a:latin typeface="Calibri"/>
                <a:cs typeface="Calibri"/>
              </a:defRPr>
            </a:lvl3pPr>
            <a:lvl4pPr marL="1371600" indent="0" algn="l">
              <a:buNone/>
              <a:defRPr sz="1600">
                <a:solidFill>
                  <a:schemeClr val="bg1"/>
                </a:solidFill>
                <a:latin typeface="Calibri"/>
                <a:cs typeface="Calibri"/>
              </a:defRPr>
            </a:lvl4pPr>
            <a:lvl5pPr marL="1828800" indent="0" algn="l">
              <a:buNone/>
              <a:defRPr sz="1600">
                <a:solidFill>
                  <a:schemeClr val="bg1"/>
                </a:solidFill>
                <a:latin typeface="Calibri"/>
                <a:cs typeface="Calibri"/>
              </a:defRPr>
            </a:lvl5pPr>
          </a:lstStyle>
          <a:p>
            <a:pPr lvl="0"/>
            <a:r>
              <a:rPr lang="fr-FR" dirty="0"/>
              <a:t>Prénom Nom – fonction à l’UTBM</a:t>
            </a:r>
          </a:p>
        </p:txBody>
      </p:sp>
      <p:sp>
        <p:nvSpPr>
          <p:cNvPr id="14" name="Espace réservé pour une image  13"/>
          <p:cNvSpPr>
            <a:spLocks noGrp="1"/>
          </p:cNvSpPr>
          <p:nvPr>
            <p:ph type="pic" sz="quarter" idx="13" hasCustomPrompt="1"/>
          </p:nvPr>
        </p:nvSpPr>
        <p:spPr>
          <a:xfrm>
            <a:off x="0" y="0"/>
            <a:ext cx="9144000" cy="3690000"/>
          </a:xfrm>
          <a:prstGeom prst="rect">
            <a:avLst/>
          </a:prstGeom>
        </p:spPr>
        <p:txBody>
          <a:bodyPr vert="horz" anchor="ctr" anchorCtr="0"/>
          <a:lstStyle>
            <a:lvl1pPr marL="0" indent="0" algn="ctr">
              <a:spcBef>
                <a:spcPts val="0"/>
              </a:spcBef>
              <a:buFontTx/>
              <a:buNone/>
              <a:defRPr baseline="0"/>
            </a:lvl1pPr>
          </a:lstStyle>
          <a:p>
            <a:r>
              <a:rPr lang="fr-FR" dirty="0"/>
              <a:t>Insérez ici votre image personnalisée si besoin.</a:t>
            </a:r>
          </a:p>
        </p:txBody>
      </p:sp>
      <p:sp>
        <p:nvSpPr>
          <p:cNvPr id="16" name="Espace réservé du titre 10"/>
          <p:cNvSpPr>
            <a:spLocks noGrp="1"/>
          </p:cNvSpPr>
          <p:nvPr>
            <p:ph type="title"/>
          </p:nvPr>
        </p:nvSpPr>
        <p:spPr>
          <a:xfrm>
            <a:off x="203199" y="3954008"/>
            <a:ext cx="8229600" cy="1350962"/>
          </a:xfrm>
          <a:prstGeom prst="rect">
            <a:avLst/>
          </a:prstGeom>
        </p:spPr>
        <p:txBody>
          <a:bodyPr vert="horz" lIns="91440" tIns="45720" rIns="91440" bIns="45720" rtlCol="0" anchor="ctr">
            <a:normAutofit/>
          </a:bodyPr>
          <a:lstStyle/>
          <a:p>
            <a:r>
              <a:rPr lang="fr-FR" dirty="0"/>
              <a:t>Cliquez et modifiez le titre</a:t>
            </a:r>
          </a:p>
        </p:txBody>
      </p:sp>
    </p:spTree>
    <p:extLst>
      <p:ext uri="{BB962C8B-B14F-4D97-AF65-F5344CB8AC3E}">
        <p14:creationId xmlns:p14="http://schemas.microsoft.com/office/powerpoint/2010/main" val="1431469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 chapitre">
    <p:spTree>
      <p:nvGrpSpPr>
        <p:cNvPr id="1" name=""/>
        <p:cNvGrpSpPr/>
        <p:nvPr/>
      </p:nvGrpSpPr>
      <p:grpSpPr>
        <a:xfrm>
          <a:off x="0" y="0"/>
          <a:ext cx="0" cy="0"/>
          <a:chOff x="0" y="0"/>
          <a:chExt cx="0" cy="0"/>
        </a:xfrm>
      </p:grpSpPr>
      <p:sp>
        <p:nvSpPr>
          <p:cNvPr id="7" name="Espace réservé de la date 6"/>
          <p:cNvSpPr>
            <a:spLocks noGrp="1"/>
          </p:cNvSpPr>
          <p:nvPr>
            <p:ph type="dt" sz="half" idx="10"/>
          </p:nvPr>
        </p:nvSpPr>
        <p:spPr/>
        <p:txBody>
          <a:bodyPr/>
          <a:lstStyle/>
          <a:p>
            <a:fld id="{C6353C78-F78F-5D4D-A4C6-E9D6E8B7A25B}" type="datetime2">
              <a:rPr lang="fr-FR" smtClean="0"/>
              <a:t>vendredi 5 juin 2026</a:t>
            </a:fld>
            <a:endParaRPr lang="fr-FR" dirty="0"/>
          </a:p>
        </p:txBody>
      </p:sp>
      <p:sp>
        <p:nvSpPr>
          <p:cNvPr id="8" name="Espace réservé du pied de page 7"/>
          <p:cNvSpPr>
            <a:spLocks noGrp="1"/>
          </p:cNvSpPr>
          <p:nvPr>
            <p:ph type="ftr" sz="quarter" idx="11"/>
          </p:nvPr>
        </p:nvSpPr>
        <p:spPr/>
        <p:txBody>
          <a:bodyPr/>
          <a:lstStyle>
            <a:lvl1pPr algn="l">
              <a:defRPr/>
            </a:lvl1pPr>
          </a:lstStyle>
          <a:p>
            <a:r>
              <a:rPr lang="fr-FR"/>
              <a:t>S. Lamrous</a:t>
            </a:r>
            <a:endParaRPr lang="fr-FR" dirty="0"/>
          </a:p>
        </p:txBody>
      </p:sp>
      <p:sp>
        <p:nvSpPr>
          <p:cNvPr id="10" name="Espace réservé du titre 8"/>
          <p:cNvSpPr>
            <a:spLocks noGrp="1"/>
          </p:cNvSpPr>
          <p:nvPr>
            <p:ph type="title"/>
          </p:nvPr>
        </p:nvSpPr>
        <p:spPr>
          <a:xfrm>
            <a:off x="159657" y="2365828"/>
            <a:ext cx="5762173" cy="1016001"/>
          </a:xfrm>
          <a:prstGeom prst="rect">
            <a:avLst/>
          </a:prstGeom>
        </p:spPr>
        <p:txBody>
          <a:bodyPr vert="horz" lIns="91440" tIns="45720" rIns="91440" bIns="45720" rtlCol="0" anchor="ctr">
            <a:normAutofit/>
          </a:bodyPr>
          <a:lstStyle/>
          <a:p>
            <a:r>
              <a:rPr lang="fr-FR" dirty="0"/>
              <a:t>Cliquez et modifiez le titre</a:t>
            </a:r>
          </a:p>
        </p:txBody>
      </p:sp>
      <p:sp>
        <p:nvSpPr>
          <p:cNvPr id="15" name="Espace réservé pour une image  13"/>
          <p:cNvSpPr>
            <a:spLocks noGrp="1"/>
          </p:cNvSpPr>
          <p:nvPr>
            <p:ph type="pic" sz="quarter" idx="13" hasCustomPrompt="1"/>
          </p:nvPr>
        </p:nvSpPr>
        <p:spPr>
          <a:xfrm>
            <a:off x="0" y="559939"/>
            <a:ext cx="1962000" cy="1476000"/>
          </a:xfrm>
          <a:prstGeom prst="rect">
            <a:avLst/>
          </a:prstGeom>
          <a:noFill/>
        </p:spPr>
        <p:txBody>
          <a:bodyPr vert="horz" anchor="ctr" anchorCtr="0"/>
          <a:lstStyle>
            <a:lvl1pPr marL="0" indent="0" algn="ctr">
              <a:spcBef>
                <a:spcPts val="0"/>
              </a:spcBef>
              <a:buFontTx/>
              <a:buNone/>
              <a:defRPr sz="1000" baseline="0"/>
            </a:lvl1pPr>
          </a:lstStyle>
          <a:p>
            <a:r>
              <a:rPr lang="fr-FR" dirty="0"/>
              <a:t>Insérez ici votre image personnalisée si besoin.</a:t>
            </a:r>
          </a:p>
        </p:txBody>
      </p:sp>
      <p:sp>
        <p:nvSpPr>
          <p:cNvPr id="18" name="Espace réservé pour une image  13"/>
          <p:cNvSpPr>
            <a:spLocks noGrp="1"/>
          </p:cNvSpPr>
          <p:nvPr>
            <p:ph type="pic" sz="quarter" idx="14" hasCustomPrompt="1"/>
          </p:nvPr>
        </p:nvSpPr>
        <p:spPr>
          <a:xfrm>
            <a:off x="1963927" y="559939"/>
            <a:ext cx="1980000" cy="1476000"/>
          </a:xfrm>
          <a:prstGeom prst="rect">
            <a:avLst/>
          </a:prstGeom>
          <a:noFill/>
        </p:spPr>
        <p:txBody>
          <a:bodyPr vert="horz" anchor="ctr" anchorCtr="0"/>
          <a:lstStyle>
            <a:lvl1pPr marL="0" indent="0" algn="ctr">
              <a:spcBef>
                <a:spcPts val="0"/>
              </a:spcBef>
              <a:buFontTx/>
              <a:buNone/>
              <a:defRPr sz="1000" baseline="0"/>
            </a:lvl1pPr>
          </a:lstStyle>
          <a:p>
            <a:r>
              <a:rPr lang="fr-FR" dirty="0"/>
              <a:t>Insérez ici votre image personnalisée si besoin.</a:t>
            </a:r>
          </a:p>
        </p:txBody>
      </p:sp>
      <p:sp>
        <p:nvSpPr>
          <p:cNvPr id="19" name="Espace réservé pour une image  13"/>
          <p:cNvSpPr>
            <a:spLocks noGrp="1"/>
          </p:cNvSpPr>
          <p:nvPr>
            <p:ph type="pic" sz="quarter" idx="15" hasCustomPrompt="1"/>
          </p:nvPr>
        </p:nvSpPr>
        <p:spPr>
          <a:xfrm>
            <a:off x="3954729" y="559939"/>
            <a:ext cx="1962000" cy="1476000"/>
          </a:xfrm>
          <a:prstGeom prst="rect">
            <a:avLst/>
          </a:prstGeom>
          <a:noFill/>
        </p:spPr>
        <p:txBody>
          <a:bodyPr vert="horz" anchor="ctr" anchorCtr="0"/>
          <a:lstStyle>
            <a:lvl1pPr marL="0" indent="0" algn="ctr">
              <a:spcBef>
                <a:spcPts val="0"/>
              </a:spcBef>
              <a:buFontTx/>
              <a:buNone/>
              <a:defRPr sz="1000" baseline="0"/>
            </a:lvl1pPr>
          </a:lstStyle>
          <a:p>
            <a:r>
              <a:rPr lang="fr-FR" dirty="0"/>
              <a:t>Insérez ici votre image personnalisée si besoin..</a:t>
            </a:r>
          </a:p>
        </p:txBody>
      </p:sp>
      <p:sp>
        <p:nvSpPr>
          <p:cNvPr id="24" name="Espace réservé du texte 23"/>
          <p:cNvSpPr>
            <a:spLocks noGrp="1"/>
          </p:cNvSpPr>
          <p:nvPr>
            <p:ph type="body" sz="quarter" idx="16"/>
          </p:nvPr>
        </p:nvSpPr>
        <p:spPr>
          <a:xfrm>
            <a:off x="160338" y="3697288"/>
            <a:ext cx="5446712" cy="2679700"/>
          </a:xfrm>
        </p:spPr>
        <p:txBody>
          <a:bodyPr/>
          <a:lstStyle/>
          <a:p>
            <a:pPr lvl="0"/>
            <a:r>
              <a:rPr lang="fr-FR" dirty="0"/>
              <a:t>Cliquez pour modifier les styles du texte du masque</a:t>
            </a:r>
          </a:p>
          <a:p>
            <a:pPr lvl="0"/>
            <a:endParaRPr lang="fr-FR" dirty="0"/>
          </a:p>
        </p:txBody>
      </p:sp>
    </p:spTree>
    <p:extLst>
      <p:ext uri="{BB962C8B-B14F-4D97-AF65-F5344CB8AC3E}">
        <p14:creationId xmlns:p14="http://schemas.microsoft.com/office/powerpoint/2010/main" val="1077585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 page contenu">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p:txBody>
          <a:bodyPr/>
          <a:lstStyle/>
          <a:p>
            <a:fld id="{9C1C20E0-47BB-CF4C-9281-E2EE61B02EFE}" type="datetime2">
              <a:rPr lang="fr-FR" smtClean="0"/>
              <a:t>vendredi 5 juin 2026</a:t>
            </a:fld>
            <a:endParaRPr lang="fr-FR"/>
          </a:p>
        </p:txBody>
      </p:sp>
      <p:sp>
        <p:nvSpPr>
          <p:cNvPr id="5" name="Espace réservé du pied de page 4"/>
          <p:cNvSpPr>
            <a:spLocks noGrp="1"/>
          </p:cNvSpPr>
          <p:nvPr>
            <p:ph type="ftr" sz="quarter" idx="11"/>
          </p:nvPr>
        </p:nvSpPr>
        <p:spPr>
          <a:xfrm>
            <a:off x="717092" y="6600960"/>
            <a:ext cx="2232054" cy="245710"/>
          </a:xfrm>
        </p:spPr>
        <p:txBody>
          <a:bodyPr/>
          <a:lstStyle>
            <a:lvl1pPr>
              <a:defRPr/>
            </a:lvl1pPr>
          </a:lstStyle>
          <a:p>
            <a:r>
              <a:rPr lang="fr-FR"/>
              <a:t>S. Lamrous</a:t>
            </a:r>
            <a:endParaRPr lang="fr-FR" dirty="0"/>
          </a:p>
        </p:txBody>
      </p:sp>
      <p:sp>
        <p:nvSpPr>
          <p:cNvPr id="6" name="Espace réservé du numéro de diapositive 5"/>
          <p:cNvSpPr>
            <a:spLocks noGrp="1"/>
          </p:cNvSpPr>
          <p:nvPr>
            <p:ph type="sldNum" sz="quarter" idx="12"/>
          </p:nvPr>
        </p:nvSpPr>
        <p:spPr/>
        <p:txBody>
          <a:bodyPr/>
          <a:lstStyle/>
          <a:p>
            <a:fld id="{46BC2503-DDBB-404C-B680-0E4C002F0FCF}" type="slidenum">
              <a:rPr lang="fr-FR" smtClean="0"/>
              <a:pPr/>
              <a:t>‹N°›</a:t>
            </a:fld>
            <a:endParaRPr lang="fr-FR"/>
          </a:p>
        </p:txBody>
      </p:sp>
      <p:sp>
        <p:nvSpPr>
          <p:cNvPr id="7" name="Titre 6"/>
          <p:cNvSpPr>
            <a:spLocks noGrp="1"/>
          </p:cNvSpPr>
          <p:nvPr>
            <p:ph type="title"/>
          </p:nvPr>
        </p:nvSpPr>
        <p:spPr/>
        <p:txBody>
          <a:bodyPr/>
          <a:lstStyle/>
          <a:p>
            <a:r>
              <a:rPr lang="fr-FR"/>
              <a:t>Cliquez et modifiez le titre</a:t>
            </a:r>
          </a:p>
        </p:txBody>
      </p:sp>
      <p:sp>
        <p:nvSpPr>
          <p:cNvPr id="9" name="Espace réservé du texte 8"/>
          <p:cNvSpPr>
            <a:spLocks noGrp="1"/>
          </p:cNvSpPr>
          <p:nvPr>
            <p:ph type="body" sz="quarter" idx="13"/>
          </p:nvPr>
        </p:nvSpPr>
        <p:spPr>
          <a:xfrm>
            <a:off x="958850" y="1450975"/>
            <a:ext cx="7793038" cy="49085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700681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e la date 2"/>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p:cNvSpPr>
            <a:spLocks noGrp="1"/>
          </p:cNvSpPr>
          <p:nvPr>
            <p:ph type="ftr" sz="quarter" idx="11"/>
          </p:nvPr>
        </p:nvSpPr>
        <p:spPr/>
        <p:txBody>
          <a:bodyPr/>
          <a:lstStyle>
            <a:lvl1pPr>
              <a:defRPr/>
            </a:lvl1pPr>
          </a:lstStyle>
          <a:p>
            <a:r>
              <a:rPr lang="fr-FR"/>
              <a:t>S. Lamrous</a:t>
            </a:r>
            <a:endParaRPr lang="fr-FR" dirty="0"/>
          </a:p>
        </p:txBody>
      </p:sp>
      <p:sp>
        <p:nvSpPr>
          <p:cNvPr id="5" name="Espace réservé du numéro de diapositive 4"/>
          <p:cNvSpPr>
            <a:spLocks noGrp="1"/>
          </p:cNvSpPr>
          <p:nvPr>
            <p:ph type="sldNum" sz="quarter" idx="12"/>
          </p:nvPr>
        </p:nvSpPr>
        <p:spPr/>
        <p:txBody>
          <a:bodyPr/>
          <a:lstStyle/>
          <a:p>
            <a:fld id="{46BC2503-DDBB-404C-B680-0E4C002F0FCF}" type="slidenum">
              <a:rPr lang="fr-FR" smtClean="0"/>
              <a:pPr/>
              <a:t>‹N°›</a:t>
            </a:fld>
            <a:endParaRPr lang="fr-FR" dirty="0"/>
          </a:p>
        </p:txBody>
      </p:sp>
      <p:sp>
        <p:nvSpPr>
          <p:cNvPr id="7" name="Espace réservé du contenu 6"/>
          <p:cNvSpPr>
            <a:spLocks noGrp="1"/>
          </p:cNvSpPr>
          <p:nvPr>
            <p:ph sz="quarter" idx="13"/>
          </p:nvPr>
        </p:nvSpPr>
        <p:spPr>
          <a:xfrm>
            <a:off x="958300" y="1451495"/>
            <a:ext cx="3586160" cy="47513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contenu 6"/>
          <p:cNvSpPr>
            <a:spLocks noGrp="1"/>
          </p:cNvSpPr>
          <p:nvPr>
            <p:ph sz="quarter" idx="14"/>
          </p:nvPr>
        </p:nvSpPr>
        <p:spPr>
          <a:xfrm>
            <a:off x="5022880" y="1451495"/>
            <a:ext cx="3586160" cy="47513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938669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 page finale">
    <p:spTree>
      <p:nvGrpSpPr>
        <p:cNvPr id="1" name=""/>
        <p:cNvGrpSpPr/>
        <p:nvPr/>
      </p:nvGrpSpPr>
      <p:grpSpPr>
        <a:xfrm>
          <a:off x="0" y="0"/>
          <a:ext cx="0" cy="0"/>
          <a:chOff x="0" y="0"/>
          <a:chExt cx="0" cy="0"/>
        </a:xfrm>
      </p:grpSpPr>
      <p:sp>
        <p:nvSpPr>
          <p:cNvPr id="7" name="Titre 6"/>
          <p:cNvSpPr>
            <a:spLocks noGrp="1"/>
          </p:cNvSpPr>
          <p:nvPr>
            <p:ph type="title" hasCustomPrompt="1"/>
          </p:nvPr>
        </p:nvSpPr>
        <p:spPr/>
        <p:txBody>
          <a:bodyPr/>
          <a:lstStyle/>
          <a:p>
            <a:r>
              <a:rPr lang="fr-FR" dirty="0"/>
              <a:t>Modifier</a:t>
            </a:r>
            <a:br>
              <a:rPr lang="fr-FR" dirty="0"/>
            </a:br>
            <a:r>
              <a:rPr lang="fr-FR" dirty="0"/>
              <a:t>le message de fin de présentation</a:t>
            </a:r>
          </a:p>
        </p:txBody>
      </p:sp>
    </p:spTree>
    <p:extLst>
      <p:ext uri="{BB962C8B-B14F-4D97-AF65-F5344CB8AC3E}">
        <p14:creationId xmlns:p14="http://schemas.microsoft.com/office/powerpoint/2010/main" val="21472626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7" name="Espace réservé de la date 7"/>
          <p:cNvSpPr>
            <a:spLocks noGrp="1"/>
          </p:cNvSpPr>
          <p:nvPr>
            <p:ph type="dt" sz="half" idx="2"/>
          </p:nvPr>
        </p:nvSpPr>
        <p:spPr>
          <a:xfrm>
            <a:off x="6589485" y="6596743"/>
            <a:ext cx="2540002" cy="261258"/>
          </a:xfrm>
          <a:prstGeom prst="rect">
            <a:avLst/>
          </a:prstGeom>
        </p:spPr>
        <p:txBody>
          <a:bodyPr/>
          <a:lstStyle>
            <a:lvl1pPr>
              <a:defRPr sz="1200">
                <a:solidFill>
                  <a:srgbClr val="FFFFFF"/>
                </a:solidFill>
                <a:latin typeface="Calibri"/>
                <a:cs typeface="Calibri"/>
              </a:defRPr>
            </a:lvl1pPr>
          </a:lstStyle>
          <a:p>
            <a:pPr algn="r"/>
            <a:fld id="{6D6F3317-6AEF-C949-AFD8-F551F18271D6}" type="datetime2">
              <a:rPr lang="fr-FR" smtClean="0"/>
              <a:t>vendredi 5 juin 2026</a:t>
            </a:fld>
            <a:endParaRPr lang="fr-FR" dirty="0"/>
          </a:p>
        </p:txBody>
      </p:sp>
      <p:sp>
        <p:nvSpPr>
          <p:cNvPr id="8" name="Espace réservé du pied de page 8"/>
          <p:cNvSpPr>
            <a:spLocks noGrp="1"/>
          </p:cNvSpPr>
          <p:nvPr>
            <p:ph type="ftr" sz="quarter" idx="3"/>
          </p:nvPr>
        </p:nvSpPr>
        <p:spPr>
          <a:xfrm>
            <a:off x="94342" y="6596743"/>
            <a:ext cx="5268687" cy="261257"/>
          </a:xfrm>
          <a:prstGeom prst="rect">
            <a:avLst/>
          </a:prstGeom>
        </p:spPr>
        <p:txBody>
          <a:bodyPr/>
          <a:lstStyle>
            <a:lvl1pPr algn="l">
              <a:defRPr sz="1200">
                <a:solidFill>
                  <a:schemeClr val="bg1"/>
                </a:solidFill>
                <a:latin typeface="Calibri"/>
                <a:cs typeface="Calibri"/>
              </a:defRPr>
            </a:lvl1pPr>
          </a:lstStyle>
          <a:p>
            <a:r>
              <a:rPr lang="fr-FR"/>
              <a:t>S. Lamrous</a:t>
            </a:r>
            <a:endParaRPr lang="fr-FR" dirty="0"/>
          </a:p>
        </p:txBody>
      </p:sp>
      <p:sp>
        <p:nvSpPr>
          <p:cNvPr id="12" name="Espace réservé du titre 10"/>
          <p:cNvSpPr>
            <a:spLocks noGrp="1"/>
          </p:cNvSpPr>
          <p:nvPr>
            <p:ph type="title"/>
          </p:nvPr>
        </p:nvSpPr>
        <p:spPr>
          <a:xfrm>
            <a:off x="203199" y="3954008"/>
            <a:ext cx="8229600" cy="1350962"/>
          </a:xfrm>
          <a:prstGeom prst="rect">
            <a:avLst/>
          </a:prstGeom>
        </p:spPr>
        <p:txBody>
          <a:bodyPr vert="horz" lIns="91440" tIns="45720" rIns="91440" bIns="45720" rtlCol="0" anchor="ctr">
            <a:normAutofit/>
          </a:bodyPr>
          <a:lstStyle/>
          <a:p>
            <a:r>
              <a:rPr lang="fr-FR" dirty="0"/>
              <a:t>Cliquez et modifiez le titre</a:t>
            </a:r>
          </a:p>
        </p:txBody>
      </p:sp>
    </p:spTree>
    <p:extLst>
      <p:ext uri="{BB962C8B-B14F-4D97-AF65-F5344CB8AC3E}">
        <p14:creationId xmlns:p14="http://schemas.microsoft.com/office/powerpoint/2010/main" val="2950371456"/>
      </p:ext>
    </p:extLst>
  </p:cSld>
  <p:clrMap bg1="lt1" tx1="dk1" bg2="lt2" tx2="dk2" accent1="accent1" accent2="accent2" accent3="accent3" accent4="accent4" accent5="accent5" accent6="accent6" hlink="hlink" folHlink="folHlink"/>
  <p:sldLayoutIdLst>
    <p:sldLayoutId id="2147483652" r:id="rId1"/>
  </p:sldLayoutIdLst>
  <p:hf sldNum="0" hdr="0"/>
  <p:txStyles>
    <p:titleStyle>
      <a:lvl1pPr algn="l" defTabSz="457200" rtl="0" eaLnBrk="1" latinLnBrk="0" hangingPunct="1">
        <a:spcBef>
          <a:spcPct val="0"/>
        </a:spcBef>
        <a:buNone/>
        <a:defRPr sz="4000" b="1" kern="1200">
          <a:solidFill>
            <a:schemeClr val="bg1"/>
          </a:solidFill>
          <a:latin typeface="Calibri"/>
          <a:ea typeface="+mj-ea"/>
          <a:cs typeface="Calibri"/>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7" name="Espace réservé du pied de page 3"/>
          <p:cNvSpPr>
            <a:spLocks noGrp="1"/>
          </p:cNvSpPr>
          <p:nvPr>
            <p:ph type="ftr" sz="quarter" idx="3"/>
          </p:nvPr>
        </p:nvSpPr>
        <p:spPr>
          <a:xfrm>
            <a:off x="159657" y="6596743"/>
            <a:ext cx="5762173" cy="261257"/>
          </a:xfrm>
          <a:prstGeom prst="rect">
            <a:avLst/>
          </a:prstGeom>
        </p:spPr>
        <p:txBody>
          <a:bodyPr/>
          <a:lstStyle>
            <a:lvl1pPr algn="l">
              <a:defRPr sz="1200">
                <a:solidFill>
                  <a:srgbClr val="FFFFFF"/>
                </a:solidFill>
                <a:latin typeface="Calibri"/>
                <a:cs typeface="Calibri"/>
              </a:defRPr>
            </a:lvl1pPr>
          </a:lstStyle>
          <a:p>
            <a:r>
              <a:rPr lang="fr-FR"/>
              <a:t>S. Lamrous</a:t>
            </a:r>
            <a:endParaRPr lang="fr-FR" dirty="0"/>
          </a:p>
        </p:txBody>
      </p:sp>
      <p:sp>
        <p:nvSpPr>
          <p:cNvPr id="8" name="Espace réservé de la date 4"/>
          <p:cNvSpPr>
            <a:spLocks noGrp="1"/>
          </p:cNvSpPr>
          <p:nvPr>
            <p:ph type="dt" sz="half" idx="2"/>
          </p:nvPr>
        </p:nvSpPr>
        <p:spPr>
          <a:xfrm>
            <a:off x="5921830" y="6596743"/>
            <a:ext cx="2133600" cy="261258"/>
          </a:xfrm>
          <a:prstGeom prst="rect">
            <a:avLst/>
          </a:prstGeom>
        </p:spPr>
        <p:txBody>
          <a:bodyPr/>
          <a:lstStyle>
            <a:lvl1pPr algn="r">
              <a:defRPr sz="1200">
                <a:solidFill>
                  <a:srgbClr val="FFFFFF"/>
                </a:solidFill>
                <a:latin typeface="Calibri"/>
                <a:cs typeface="Calibri"/>
              </a:defRPr>
            </a:lvl1pPr>
          </a:lstStyle>
          <a:p>
            <a:fld id="{5CB9A835-4C02-F74F-A87D-4F1F8ABB1C4A}" type="datetime2">
              <a:rPr lang="fr-FR" smtClean="0"/>
              <a:t>vendredi 5 juin 2026</a:t>
            </a:fld>
            <a:endParaRPr lang="fr-FR" dirty="0"/>
          </a:p>
        </p:txBody>
      </p:sp>
      <p:sp>
        <p:nvSpPr>
          <p:cNvPr id="9" name="Espace réservé du titre 8"/>
          <p:cNvSpPr>
            <a:spLocks noGrp="1"/>
          </p:cNvSpPr>
          <p:nvPr>
            <p:ph type="title"/>
          </p:nvPr>
        </p:nvSpPr>
        <p:spPr>
          <a:xfrm>
            <a:off x="159657" y="2365828"/>
            <a:ext cx="5762173" cy="1016001"/>
          </a:xfrm>
          <a:prstGeom prst="rect">
            <a:avLst/>
          </a:prstGeom>
        </p:spPr>
        <p:txBody>
          <a:bodyPr vert="horz" lIns="91440" tIns="45720" rIns="91440" bIns="45720" rtlCol="0" anchor="ctr">
            <a:normAutofit/>
          </a:bodyPr>
          <a:lstStyle/>
          <a:p>
            <a:r>
              <a:rPr lang="fr-FR" dirty="0"/>
              <a:t>Cliquez et modifiez le titre</a:t>
            </a:r>
          </a:p>
        </p:txBody>
      </p:sp>
      <p:sp>
        <p:nvSpPr>
          <p:cNvPr id="13" name="Espace réservé du texte 12"/>
          <p:cNvSpPr>
            <a:spLocks noGrp="1"/>
          </p:cNvSpPr>
          <p:nvPr>
            <p:ph type="body" idx="1"/>
          </p:nvPr>
        </p:nvSpPr>
        <p:spPr>
          <a:xfrm>
            <a:off x="159658" y="3646080"/>
            <a:ext cx="5352446" cy="2868480"/>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2534879439"/>
      </p:ext>
    </p:extLst>
  </p:cSld>
  <p:clrMap bg1="lt1" tx1="dk1" bg2="lt2" tx2="dk2" accent1="accent1" accent2="accent2" accent3="accent3" accent4="accent4" accent5="accent5" accent6="accent6" hlink="hlink" folHlink="folHlink"/>
  <p:sldLayoutIdLst>
    <p:sldLayoutId id="2147483654" r:id="rId1"/>
  </p:sldLayoutIdLst>
  <p:hf sldNum="0" hdr="0"/>
  <p:txStyles>
    <p:titleStyle>
      <a:lvl1pPr algn="l" defTabSz="457200" rtl="0" eaLnBrk="1" latinLnBrk="0" hangingPunct="1">
        <a:spcBef>
          <a:spcPct val="0"/>
        </a:spcBef>
        <a:buNone/>
        <a:defRPr sz="2800" b="1" kern="1200">
          <a:solidFill>
            <a:schemeClr val="bg1"/>
          </a:solidFill>
          <a:latin typeface="Calibri"/>
          <a:ea typeface="+mj-ea"/>
          <a:cs typeface="Calibri"/>
        </a:defRPr>
      </a:lvl1pPr>
    </p:titleStyle>
    <p:bodyStyle>
      <a:lvl1pPr marL="180000" indent="-162000" algn="l" defTabSz="457200" rtl="0" eaLnBrk="1" latinLnBrk="0" hangingPunct="1">
        <a:lnSpc>
          <a:spcPct val="100000"/>
        </a:lnSpc>
        <a:spcBef>
          <a:spcPts val="0"/>
        </a:spcBef>
        <a:buFont typeface="Wingdings" charset="2"/>
        <a:buChar char="§"/>
        <a:defRPr sz="2000" kern="1200">
          <a:solidFill>
            <a:schemeClr val="bg1"/>
          </a:solidFill>
          <a:latin typeface="Calibri"/>
          <a:ea typeface="+mn-ea"/>
          <a:cs typeface="Calibri"/>
        </a:defRPr>
      </a:lvl1pPr>
      <a:lvl2pPr marL="597600" indent="-212400" algn="l" defTabSz="457200" rtl="0" eaLnBrk="1" latinLnBrk="0" hangingPunct="1">
        <a:spcBef>
          <a:spcPct val="20000"/>
        </a:spcBef>
        <a:buFont typeface="Lucida Grande"/>
        <a:buChar char="»"/>
        <a:defRPr sz="1600" kern="1200">
          <a:solidFill>
            <a:srgbClr val="FFFFFF"/>
          </a:solidFill>
          <a:latin typeface="+mn-lt"/>
          <a:ea typeface="+mn-ea"/>
          <a:cs typeface="+mn-cs"/>
        </a:defRPr>
      </a:lvl2pPr>
      <a:lvl3pPr marL="1054800" indent="-212400" algn="l" defTabSz="457200" rtl="0" eaLnBrk="1" latinLnBrk="0" hangingPunct="1">
        <a:spcBef>
          <a:spcPct val="20000"/>
        </a:spcBef>
        <a:buFont typeface="Arial"/>
        <a:buChar char="•"/>
        <a:defRPr sz="1600" kern="1200">
          <a:solidFill>
            <a:srgbClr val="FFFFFF"/>
          </a:solidFill>
          <a:latin typeface="Calibri"/>
          <a:ea typeface="+mn-ea"/>
          <a:cs typeface="Calibri"/>
        </a:defRPr>
      </a:lvl3pPr>
      <a:lvl4pPr marL="1512000" indent="-212400" algn="l" defTabSz="457200" rtl="0" eaLnBrk="1" latinLnBrk="0" hangingPunct="1">
        <a:spcBef>
          <a:spcPct val="20000"/>
        </a:spcBef>
        <a:buSzPct val="75000"/>
        <a:buFont typeface="Arial"/>
        <a:buChar char="•"/>
        <a:defRPr sz="1600" kern="1200">
          <a:solidFill>
            <a:srgbClr val="FFFFFF"/>
          </a:solidFill>
          <a:latin typeface="Calibri"/>
          <a:ea typeface="+mn-ea"/>
          <a:cs typeface="Calibri"/>
        </a:defRPr>
      </a:lvl4pPr>
      <a:lvl5pPr marL="1915200" indent="-158400" algn="l" defTabSz="457200" rtl="0" eaLnBrk="1" latinLnBrk="0" hangingPunct="1">
        <a:spcBef>
          <a:spcPct val="20000"/>
        </a:spcBef>
        <a:buSzPct val="50000"/>
        <a:buFont typeface="Arial"/>
        <a:buChar char="•"/>
        <a:defRPr sz="1600" kern="1200">
          <a:solidFill>
            <a:srgbClr val="FFFFFF"/>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155512" y="120960"/>
            <a:ext cx="8531288" cy="613440"/>
          </a:xfrm>
          <a:prstGeom prst="rect">
            <a:avLst/>
          </a:prstGeom>
        </p:spPr>
        <p:txBody>
          <a:bodyPr vert="horz" lIns="91440" tIns="45720" rIns="91440" bIns="45720" rtlCol="0" anchor="ctr">
            <a:normAutofit/>
          </a:bodyPr>
          <a:lstStyle/>
          <a:p>
            <a:r>
              <a:rPr lang="fr-FR" dirty="0"/>
              <a:t>Cliquez et modifiez le titre</a:t>
            </a:r>
          </a:p>
        </p:txBody>
      </p:sp>
      <p:sp>
        <p:nvSpPr>
          <p:cNvPr id="3" name="Espace réservé du texte 2"/>
          <p:cNvSpPr>
            <a:spLocks noGrp="1"/>
          </p:cNvSpPr>
          <p:nvPr>
            <p:ph type="body" idx="1"/>
          </p:nvPr>
        </p:nvSpPr>
        <p:spPr>
          <a:xfrm>
            <a:off x="924444" y="1600200"/>
            <a:ext cx="7762356" cy="4750200"/>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p:cNvSpPr>
            <a:spLocks noGrp="1"/>
          </p:cNvSpPr>
          <p:nvPr>
            <p:ph type="dt" sz="half" idx="2"/>
          </p:nvPr>
        </p:nvSpPr>
        <p:spPr>
          <a:xfrm>
            <a:off x="6019800" y="6600960"/>
            <a:ext cx="2133600" cy="245710"/>
          </a:xfrm>
          <a:prstGeom prst="rect">
            <a:avLst/>
          </a:prstGeom>
        </p:spPr>
        <p:txBody>
          <a:bodyPr vert="horz" lIns="91440" tIns="45720" rIns="91440" bIns="45720" rtlCol="0" anchor="ctr"/>
          <a:lstStyle>
            <a:lvl1pPr algn="r">
              <a:defRPr sz="1200">
                <a:solidFill>
                  <a:schemeClr val="bg1"/>
                </a:solidFill>
              </a:defRPr>
            </a:lvl1pPr>
          </a:lstStyle>
          <a:p>
            <a:fld id="{A75DD71B-6916-324F-A7D5-2A3566906F8D}" type="datetime2">
              <a:rPr lang="fr-FR" smtClean="0"/>
              <a:t>vendredi 5 juin 2026</a:t>
            </a:fld>
            <a:endParaRPr lang="fr-FR" dirty="0"/>
          </a:p>
        </p:txBody>
      </p:sp>
      <p:sp>
        <p:nvSpPr>
          <p:cNvPr id="5" name="Espace réservé du pied de page 4"/>
          <p:cNvSpPr>
            <a:spLocks noGrp="1"/>
          </p:cNvSpPr>
          <p:nvPr>
            <p:ph type="ftr" sz="quarter" idx="3"/>
          </p:nvPr>
        </p:nvSpPr>
        <p:spPr>
          <a:xfrm>
            <a:off x="717092" y="6600960"/>
            <a:ext cx="5302708" cy="245710"/>
          </a:xfrm>
          <a:prstGeom prst="rect">
            <a:avLst/>
          </a:prstGeom>
        </p:spPr>
        <p:txBody>
          <a:bodyPr vert="horz" lIns="91440" tIns="45720" rIns="91440" bIns="45720" rtlCol="0" anchor="ctr" anchorCtr="0"/>
          <a:lstStyle>
            <a:lvl1pPr algn="ctr">
              <a:defRPr sz="1200">
                <a:solidFill>
                  <a:schemeClr val="bg1"/>
                </a:solidFill>
              </a:defRPr>
            </a:lvl1pPr>
          </a:lstStyle>
          <a:p>
            <a:r>
              <a:rPr lang="fr-FR"/>
              <a:t>S. Lamrous</a:t>
            </a:r>
            <a:endParaRPr lang="fr-FR" dirty="0"/>
          </a:p>
        </p:txBody>
      </p:sp>
      <p:sp>
        <p:nvSpPr>
          <p:cNvPr id="6" name="Espace réservé du numéro de diapositive 5"/>
          <p:cNvSpPr>
            <a:spLocks noGrp="1"/>
          </p:cNvSpPr>
          <p:nvPr>
            <p:ph type="sldNum" sz="quarter" idx="4"/>
          </p:nvPr>
        </p:nvSpPr>
        <p:spPr>
          <a:xfrm>
            <a:off x="0" y="6600960"/>
            <a:ext cx="717092" cy="245710"/>
          </a:xfrm>
          <a:prstGeom prst="rect">
            <a:avLst/>
          </a:prstGeom>
        </p:spPr>
        <p:txBody>
          <a:bodyPr vert="horz" lIns="91440" tIns="45720" rIns="91440" bIns="45720" rtlCol="0" anchor="ctr"/>
          <a:lstStyle>
            <a:lvl1pPr algn="ctr">
              <a:defRPr sz="1200">
                <a:solidFill>
                  <a:schemeClr val="bg1"/>
                </a:solidFill>
              </a:defRPr>
            </a:lvl1pPr>
          </a:lstStyle>
          <a:p>
            <a:fld id="{46BC2503-DDBB-404C-B680-0E4C002F0FCF}" type="slidenum">
              <a:rPr lang="fr-FR" smtClean="0"/>
              <a:pPr/>
              <a:t>‹N°›</a:t>
            </a:fld>
            <a:endParaRPr lang="fr-FR" dirty="0"/>
          </a:p>
        </p:txBody>
      </p:sp>
    </p:spTree>
    <p:extLst>
      <p:ext uri="{BB962C8B-B14F-4D97-AF65-F5344CB8AC3E}">
        <p14:creationId xmlns:p14="http://schemas.microsoft.com/office/powerpoint/2010/main" val="1282504755"/>
      </p:ext>
    </p:extLst>
  </p:cSld>
  <p:clrMap bg1="lt1" tx1="dk1" bg2="lt2" tx2="dk2" accent1="accent1" accent2="accent2" accent3="accent3" accent4="accent4" accent5="accent5" accent6="accent6" hlink="hlink" folHlink="folHlink"/>
  <p:sldLayoutIdLst>
    <p:sldLayoutId id="2147483656" r:id="rId1"/>
    <p:sldLayoutId id="2147483659" r:id="rId2"/>
  </p:sldLayoutIdLst>
  <p:hf sldNum="0" hdr="0"/>
  <p:txStyles>
    <p:titleStyle>
      <a:lvl1pPr algn="l" defTabSz="457200" rtl="0" eaLnBrk="1" latinLnBrk="0" hangingPunct="1">
        <a:spcBef>
          <a:spcPct val="0"/>
        </a:spcBef>
        <a:buNone/>
        <a:defRPr sz="2800" b="1" kern="1200">
          <a:solidFill>
            <a:srgbClr val="FFFFFF"/>
          </a:solidFill>
          <a:latin typeface="Calibri"/>
          <a:ea typeface="+mj-ea"/>
          <a:cs typeface="Calibri"/>
        </a:defRPr>
      </a:lvl1pPr>
    </p:titleStyle>
    <p:bodyStyle>
      <a:lvl1pPr marL="270000" indent="-270000" algn="l" defTabSz="457200" rtl="0" eaLnBrk="1" latinLnBrk="0" hangingPunct="1">
        <a:spcBef>
          <a:spcPct val="20000"/>
        </a:spcBef>
        <a:buClr>
          <a:schemeClr val="accent5">
            <a:lumMod val="60000"/>
            <a:lumOff val="40000"/>
          </a:schemeClr>
        </a:buClr>
        <a:buFont typeface="Lucida Grande"/>
        <a:buChar char="■"/>
        <a:defRPr sz="2600" kern="1200">
          <a:solidFill>
            <a:schemeClr val="tx1"/>
          </a:solidFill>
          <a:latin typeface="Calibri"/>
          <a:ea typeface="+mn-ea"/>
          <a:cs typeface="Calibri"/>
        </a:defRPr>
      </a:lvl1pPr>
      <a:lvl2pPr marL="669600" indent="-212400" algn="l" defTabSz="457200" rtl="0" eaLnBrk="1" latinLnBrk="0" hangingPunct="1">
        <a:spcBef>
          <a:spcPct val="20000"/>
        </a:spcBef>
        <a:buClr>
          <a:schemeClr val="accent4"/>
        </a:buClr>
        <a:buFont typeface="Lucida Grande"/>
        <a:buChar char="»"/>
        <a:defRPr sz="2200" kern="1200">
          <a:solidFill>
            <a:schemeClr val="tx1"/>
          </a:solidFill>
          <a:latin typeface="Calibri"/>
          <a:ea typeface="+mn-ea"/>
          <a:cs typeface="Calibri"/>
        </a:defRPr>
      </a:lvl2pPr>
      <a:lvl3pPr marL="1072800" indent="-158400" algn="l" defTabSz="457200" rtl="0" eaLnBrk="1" latinLnBrk="0" hangingPunct="1">
        <a:spcBef>
          <a:spcPct val="20000"/>
        </a:spcBef>
        <a:buClr>
          <a:schemeClr val="accent4"/>
        </a:buClr>
        <a:buFont typeface="Arial"/>
        <a:buChar char="•"/>
        <a:defRPr sz="2000" kern="1200">
          <a:solidFill>
            <a:schemeClr val="tx1"/>
          </a:solidFill>
          <a:latin typeface="Calibri"/>
          <a:ea typeface="+mn-ea"/>
          <a:cs typeface="Calibri"/>
        </a:defRPr>
      </a:lvl3pPr>
      <a:lvl4pPr marL="1530000" indent="-158400" algn="l" defTabSz="457200" rtl="0" eaLnBrk="1" latinLnBrk="0" hangingPunct="1">
        <a:spcBef>
          <a:spcPct val="20000"/>
        </a:spcBef>
        <a:buSzPct val="75000"/>
        <a:buFont typeface="Arial"/>
        <a:buChar char="•"/>
        <a:defRPr sz="2000" kern="1200">
          <a:solidFill>
            <a:schemeClr val="tx1"/>
          </a:solidFill>
          <a:latin typeface="Calibri"/>
          <a:ea typeface="+mn-ea"/>
          <a:cs typeface="Calibri"/>
        </a:defRPr>
      </a:lvl4pPr>
      <a:lvl5pPr marL="1987200" indent="-158400" algn="l" defTabSz="457200" rtl="0" eaLnBrk="1" latinLnBrk="0" hangingPunct="1">
        <a:spcBef>
          <a:spcPct val="20000"/>
        </a:spcBef>
        <a:buSzPct val="50000"/>
        <a:buFont typeface="Arial"/>
        <a:buChar char="•"/>
        <a:defRPr sz="2000" kern="1200">
          <a:solidFill>
            <a:schemeClr val="tx1"/>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7" name="Espace réservé du titre 6"/>
          <p:cNvSpPr>
            <a:spLocks noGrp="1"/>
          </p:cNvSpPr>
          <p:nvPr>
            <p:ph type="title"/>
          </p:nvPr>
        </p:nvSpPr>
        <p:spPr>
          <a:xfrm>
            <a:off x="914400" y="2443278"/>
            <a:ext cx="3103042" cy="3457842"/>
          </a:xfrm>
          <a:prstGeom prst="rect">
            <a:avLst/>
          </a:prstGeom>
        </p:spPr>
        <p:txBody>
          <a:bodyPr vert="horz" lIns="91440" tIns="45720" rIns="91440" bIns="45720" rtlCol="0" anchor="ctr">
            <a:normAutofit/>
          </a:bodyPr>
          <a:lstStyle/>
          <a:p>
            <a:r>
              <a:rPr lang="fr-FR" dirty="0"/>
              <a:t>Modifier</a:t>
            </a:r>
            <a:br>
              <a:rPr lang="fr-FR" dirty="0"/>
            </a:br>
            <a:r>
              <a:rPr lang="fr-FR" dirty="0"/>
              <a:t>le message de fin de présentation</a:t>
            </a:r>
          </a:p>
        </p:txBody>
      </p:sp>
    </p:spTree>
    <p:extLst>
      <p:ext uri="{BB962C8B-B14F-4D97-AF65-F5344CB8AC3E}">
        <p14:creationId xmlns:p14="http://schemas.microsoft.com/office/powerpoint/2010/main" val="875715581"/>
      </p:ext>
    </p:extLst>
  </p:cSld>
  <p:clrMap bg1="lt1" tx1="dk1" bg2="lt2" tx2="dk2" accent1="accent1" accent2="accent2" accent3="accent3" accent4="accent4" accent5="accent5" accent6="accent6" hlink="hlink" folHlink="folHlink"/>
  <p:sldLayoutIdLst>
    <p:sldLayoutId id="2147483658" r:id="rId1"/>
  </p:sldLayoutIdLst>
  <p:hf sldNum="0" hdr="0"/>
  <p:txStyles>
    <p:titleStyle>
      <a:lvl1pPr algn="ctr" defTabSz="457200" rtl="0" eaLnBrk="1" latinLnBrk="0" hangingPunct="1">
        <a:spcBef>
          <a:spcPct val="0"/>
        </a:spcBef>
        <a:buNone/>
        <a:defRPr sz="2800" kern="1200" baseline="0">
          <a:solidFill>
            <a:schemeClr val="tx1"/>
          </a:solidFill>
          <a:latin typeface="Calibri"/>
          <a:ea typeface="+mj-ea"/>
          <a:cs typeface="Calibri"/>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pPr algn="r"/>
            <a:fld id="{EB3BD40C-B1A5-A148-89AC-9A1B064BBCEC}" type="datetime2">
              <a:rPr lang="fr-FR" smtClean="0"/>
              <a:t>vendredi 5 juin 2026</a:t>
            </a:fld>
            <a:endParaRPr lang="fr-FR" dirty="0"/>
          </a:p>
        </p:txBody>
      </p:sp>
      <p:sp>
        <p:nvSpPr>
          <p:cNvPr id="6" name="Titre 5"/>
          <p:cNvSpPr>
            <a:spLocks noGrp="1"/>
          </p:cNvSpPr>
          <p:nvPr>
            <p:ph type="title"/>
          </p:nvPr>
        </p:nvSpPr>
        <p:spPr>
          <a:xfrm>
            <a:off x="0" y="4064734"/>
            <a:ext cx="9129487" cy="1613578"/>
          </a:xfrm>
        </p:spPr>
        <p:txBody>
          <a:bodyPr>
            <a:noAutofit/>
          </a:bodyPr>
          <a:lstStyle/>
          <a:p>
            <a:r>
              <a:rPr lang="fr-FR" sz="2400" dirty="0">
                <a:latin typeface="+mn-lt"/>
              </a:rPr>
              <a:t>LUDS02 : Web stratégies, surveillance, et analyse de données</a:t>
            </a:r>
            <a:br>
              <a:rPr lang="fr-FR" sz="2400" dirty="0">
                <a:latin typeface="+mn-lt"/>
              </a:rPr>
            </a:br>
            <a:r>
              <a:rPr lang="fr-FR" sz="3600" dirty="0">
                <a:latin typeface="+mn-lt"/>
              </a:rPr>
              <a:t>Cours TD : Analyse </a:t>
            </a:r>
            <a:r>
              <a:rPr lang="fr-FR" sz="3600" dirty="0" err="1">
                <a:latin typeface="+mn-lt"/>
              </a:rPr>
              <a:t>qualimétrique</a:t>
            </a:r>
            <a:r>
              <a:rPr lang="fr-FR" sz="3600" dirty="0">
                <a:latin typeface="+mn-lt"/>
              </a:rPr>
              <a:t> pour une stratégie WEB</a:t>
            </a:r>
            <a:br>
              <a:rPr lang="fr-FR" sz="3600" dirty="0">
                <a:latin typeface="+mn-lt"/>
              </a:rPr>
            </a:br>
            <a:endParaRPr lang="fr-FR" sz="2400" dirty="0">
              <a:latin typeface="+mn-lt"/>
            </a:endParaRPr>
          </a:p>
        </p:txBody>
      </p:sp>
      <p:pic>
        <p:nvPicPr>
          <p:cNvPr id="10" name="Espace réservé pour une image  9">
            <a:extLst>
              <a:ext uri="{FF2B5EF4-FFF2-40B4-BE49-F238E27FC236}">
                <a16:creationId xmlns:a16="http://schemas.microsoft.com/office/drawing/2014/main" id="{4A77F248-37ED-41F7-A4A3-7BAED77FB185}"/>
              </a:ext>
            </a:extLst>
          </p:cNvPr>
          <p:cNvPicPr>
            <a:picLocks noGrp="1" noChangeAspect="1"/>
          </p:cNvPicPr>
          <p:nvPr>
            <p:ph type="pic" sz="quarter" idx="13"/>
          </p:nvPr>
        </p:nvPicPr>
        <p:blipFill>
          <a:blip r:embed="rId3"/>
          <a:srcRect l="17" r="17"/>
          <a:stretch>
            <a:fillRect/>
          </a:stretch>
        </p:blipFill>
        <p:spPr/>
      </p:pic>
      <p:sp>
        <p:nvSpPr>
          <p:cNvPr id="8" name="Espace réservé du pied de page 7">
            <a:extLst>
              <a:ext uri="{FF2B5EF4-FFF2-40B4-BE49-F238E27FC236}">
                <a16:creationId xmlns:a16="http://schemas.microsoft.com/office/drawing/2014/main" id="{5983C01E-3AE0-4F1B-96B7-5CEEEAF6F36B}"/>
              </a:ext>
            </a:extLst>
          </p:cNvPr>
          <p:cNvSpPr>
            <a:spLocks noGrp="1"/>
          </p:cNvSpPr>
          <p:nvPr>
            <p:ph type="ftr" sz="quarter" idx="11"/>
          </p:nvPr>
        </p:nvSpPr>
        <p:spPr>
          <a:xfrm>
            <a:off x="159657" y="6596743"/>
            <a:ext cx="5762173" cy="261257"/>
          </a:xfrm>
        </p:spPr>
        <p:txBody>
          <a:bodyPr/>
          <a:lstStyle>
            <a:lvl1pPr algn="l">
              <a:defRPr/>
            </a:lvl1pPr>
          </a:lstStyle>
          <a:p>
            <a:r>
              <a:rPr lang="fr-FR"/>
              <a:t>S. Lamrous</a:t>
            </a:r>
            <a:endParaRPr lang="fr-FR" dirty="0"/>
          </a:p>
        </p:txBody>
      </p:sp>
    </p:spTree>
    <p:extLst>
      <p:ext uri="{BB962C8B-B14F-4D97-AF65-F5344CB8AC3E}">
        <p14:creationId xmlns:p14="http://schemas.microsoft.com/office/powerpoint/2010/main" val="1890032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D3CDF38-037F-417F-83BE-FF4A969E6D20}"/>
              </a:ext>
            </a:extLst>
          </p:cNvPr>
          <p:cNvSpPr>
            <a:spLocks noGrp="1"/>
          </p:cNvSpPr>
          <p:nvPr>
            <p:ph type="dt" sz="half" idx="10"/>
          </p:nvPr>
        </p:nvSpPr>
        <p:spPr/>
        <p:txBody>
          <a:bodyPr/>
          <a:lstStyle/>
          <a:p>
            <a:fld id="{2A3027D3-41C8-F940-A544-A1711327A6BF}" type="datetime2">
              <a:rPr lang="fr-FR" smtClean="0"/>
              <a:t>vendredi 5 juin 2026</a:t>
            </a:fld>
            <a:endParaRPr lang="fr-FR" dirty="0"/>
          </a:p>
        </p:txBody>
      </p:sp>
      <p:sp>
        <p:nvSpPr>
          <p:cNvPr id="3" name="Espace réservé du pied de page 2">
            <a:extLst>
              <a:ext uri="{FF2B5EF4-FFF2-40B4-BE49-F238E27FC236}">
                <a16:creationId xmlns:a16="http://schemas.microsoft.com/office/drawing/2014/main" id="{252D64FC-9AC3-4BAD-871E-6E82E48EB925}"/>
              </a:ext>
            </a:extLst>
          </p:cNvPr>
          <p:cNvSpPr>
            <a:spLocks noGrp="1"/>
          </p:cNvSpPr>
          <p:nvPr>
            <p:ph type="ftr" sz="quarter" idx="11"/>
          </p:nvPr>
        </p:nvSpPr>
        <p:spPr/>
        <p:txBody>
          <a:bodyPr/>
          <a:lstStyle/>
          <a:p>
            <a:r>
              <a:rPr lang="fr-FR"/>
              <a:t>S. Lamrous</a:t>
            </a:r>
            <a:endParaRPr lang="fr-FR" dirty="0"/>
          </a:p>
        </p:txBody>
      </p:sp>
      <p:sp>
        <p:nvSpPr>
          <p:cNvPr id="4" name="Titre 3">
            <a:extLst>
              <a:ext uri="{FF2B5EF4-FFF2-40B4-BE49-F238E27FC236}">
                <a16:creationId xmlns:a16="http://schemas.microsoft.com/office/drawing/2014/main" id="{547EC7F2-4581-4455-9C2F-347D00F23AC6}"/>
              </a:ext>
            </a:extLst>
          </p:cNvPr>
          <p:cNvSpPr>
            <a:spLocks noGrp="1"/>
          </p:cNvSpPr>
          <p:nvPr>
            <p:ph type="title"/>
          </p:nvPr>
        </p:nvSpPr>
        <p:spPr/>
        <p:txBody>
          <a:bodyPr/>
          <a:lstStyle/>
          <a:p>
            <a:r>
              <a:rPr lang="fr-FR" dirty="0"/>
              <a:t>Qualité : facteurs, critères, et métriques</a:t>
            </a:r>
          </a:p>
        </p:txBody>
      </p:sp>
      <p:sp>
        <p:nvSpPr>
          <p:cNvPr id="8" name="Espace réservé du texte 7">
            <a:extLst>
              <a:ext uri="{FF2B5EF4-FFF2-40B4-BE49-F238E27FC236}">
                <a16:creationId xmlns:a16="http://schemas.microsoft.com/office/drawing/2014/main" id="{9978470C-3DE9-4513-94A0-520BE8A5B542}"/>
              </a:ext>
            </a:extLst>
          </p:cNvPr>
          <p:cNvSpPr>
            <a:spLocks noGrp="1"/>
          </p:cNvSpPr>
          <p:nvPr>
            <p:ph type="body" sz="quarter" idx="16"/>
          </p:nvPr>
        </p:nvSpPr>
        <p:spPr>
          <a:xfrm>
            <a:off x="160338" y="3697287"/>
            <a:ext cx="5761492" cy="2899455"/>
          </a:xfrm>
        </p:spPr>
        <p:txBody>
          <a:bodyPr>
            <a:normAutofit/>
          </a:bodyPr>
          <a:lstStyle/>
          <a:p>
            <a:r>
              <a:rPr lang="fr-FR" sz="2400" dirty="0"/>
              <a:t>Démarche avec une décomposition</a:t>
            </a:r>
          </a:p>
          <a:p>
            <a:pPr lvl="1"/>
            <a:r>
              <a:rPr lang="fr-FR" dirty="0"/>
              <a:t>Facteurs</a:t>
            </a:r>
          </a:p>
          <a:p>
            <a:pPr lvl="1"/>
            <a:r>
              <a:rPr lang="fr-FR" dirty="0"/>
              <a:t>Critères</a:t>
            </a:r>
          </a:p>
          <a:p>
            <a:pPr lvl="1"/>
            <a:r>
              <a:rPr lang="fr-FR" dirty="0"/>
              <a:t>Métriques</a:t>
            </a:r>
          </a:p>
          <a:p>
            <a:r>
              <a:rPr lang="fr-FR" dirty="0"/>
              <a:t>Evaluation de quelques métriques à l’aide d’outils proposés.</a:t>
            </a:r>
          </a:p>
          <a:p>
            <a:r>
              <a:rPr lang="fr-FR" dirty="0"/>
              <a:t>Tableau de bord analytique type BI</a:t>
            </a:r>
          </a:p>
          <a:p>
            <a:endParaRPr lang="fr-FR" sz="2400" dirty="0"/>
          </a:p>
          <a:p>
            <a:endParaRPr lang="fr-FR" sz="2000" dirty="0"/>
          </a:p>
          <a:p>
            <a:endParaRPr lang="fr-FR" sz="2400" dirty="0"/>
          </a:p>
        </p:txBody>
      </p:sp>
      <p:pic>
        <p:nvPicPr>
          <p:cNvPr id="7" name="Image 6">
            <a:extLst>
              <a:ext uri="{FF2B5EF4-FFF2-40B4-BE49-F238E27FC236}">
                <a16:creationId xmlns:a16="http://schemas.microsoft.com/office/drawing/2014/main" id="{81FAFA5B-780F-774C-6D7A-4DBC0AD17DFB}"/>
              </a:ext>
            </a:extLst>
          </p:cNvPr>
          <p:cNvPicPr>
            <a:picLocks noChangeAspect="1"/>
          </p:cNvPicPr>
          <p:nvPr/>
        </p:nvPicPr>
        <p:blipFill>
          <a:blip r:embed="rId2"/>
          <a:stretch>
            <a:fillRect/>
          </a:stretch>
        </p:blipFill>
        <p:spPr>
          <a:xfrm>
            <a:off x="-1450688" y="-1332810"/>
            <a:ext cx="1616737" cy="1126624"/>
          </a:xfrm>
          <a:prstGeom prst="rect">
            <a:avLst/>
          </a:prstGeom>
        </p:spPr>
      </p:pic>
      <p:pic>
        <p:nvPicPr>
          <p:cNvPr id="7170" name="Picture 2" descr="How to Create Google Analytics 4 or GA4 Account">
            <a:extLst>
              <a:ext uri="{FF2B5EF4-FFF2-40B4-BE49-F238E27FC236}">
                <a16:creationId xmlns:a16="http://schemas.microsoft.com/office/drawing/2014/main" id="{2471D0C2-9822-0D96-4DA7-54E7DBE5CB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8309"/>
            <a:ext cx="2402473" cy="149206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Matomo Analytics - Groupe Soledis">
            <a:extLst>
              <a:ext uri="{FF2B5EF4-FFF2-40B4-BE49-F238E27FC236}">
                <a16:creationId xmlns:a16="http://schemas.microsoft.com/office/drawing/2014/main" id="{062F0CD1-2507-F568-8FF2-F206E26CB5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4890" y="557361"/>
            <a:ext cx="1896940" cy="149206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Google PageSpeed Insights : Comment optimiser la performance de votre site  web">
            <a:extLst>
              <a:ext uri="{FF2B5EF4-FFF2-40B4-BE49-F238E27FC236}">
                <a16:creationId xmlns:a16="http://schemas.microsoft.com/office/drawing/2014/main" id="{81FF2EC9-D4A4-BFA5-49E1-13AF13E5DDE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429" r="22206"/>
          <a:stretch>
            <a:fillRect/>
          </a:stretch>
        </p:blipFill>
        <p:spPr bwMode="auto">
          <a:xfrm>
            <a:off x="2203302" y="558308"/>
            <a:ext cx="2020760" cy="1491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9079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493A09-6B1D-05BC-A7FE-6F35E7785C15}"/>
              </a:ext>
            </a:extLst>
          </p:cNvPr>
          <p:cNvSpPr>
            <a:spLocks noGrp="1"/>
          </p:cNvSpPr>
          <p:nvPr>
            <p:ph type="title"/>
          </p:nvPr>
        </p:nvSpPr>
        <p:spPr/>
        <p:txBody>
          <a:bodyPr/>
          <a:lstStyle/>
          <a:p>
            <a:r>
              <a:rPr lang="fr-FR" dirty="0"/>
              <a:t>Définition de la qualité</a:t>
            </a:r>
          </a:p>
        </p:txBody>
      </p:sp>
      <p:sp>
        <p:nvSpPr>
          <p:cNvPr id="3" name="Espace réservé de la date 2">
            <a:extLst>
              <a:ext uri="{FF2B5EF4-FFF2-40B4-BE49-F238E27FC236}">
                <a16:creationId xmlns:a16="http://schemas.microsoft.com/office/drawing/2014/main" id="{904667CD-83A1-35B6-1E8C-39341196CB0A}"/>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C162C8FA-779E-EC0D-9CEE-2DFCFE31C9E2}"/>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7C689C02-5486-5A17-DFEB-65545EDE9FBA}"/>
              </a:ext>
            </a:extLst>
          </p:cNvPr>
          <p:cNvSpPr>
            <a:spLocks noGrp="1"/>
          </p:cNvSpPr>
          <p:nvPr>
            <p:ph sz="quarter" idx="13"/>
          </p:nvPr>
        </p:nvSpPr>
        <p:spPr>
          <a:xfrm>
            <a:off x="860812" y="1291986"/>
            <a:ext cx="7422375" cy="4751388"/>
          </a:xfrm>
        </p:spPr>
        <p:txBody>
          <a:bodyPr>
            <a:normAutofit fontScale="92500" lnSpcReduction="20000"/>
          </a:bodyPr>
          <a:lstStyle/>
          <a:p>
            <a:r>
              <a:rPr lang="fr-FR" dirty="0"/>
              <a:t>Une notion subjective !</a:t>
            </a:r>
          </a:p>
          <a:p>
            <a:pPr lvl="1"/>
            <a:r>
              <a:rPr lang="fr-FR" dirty="0"/>
              <a:t>Selon le contexte</a:t>
            </a:r>
          </a:p>
          <a:p>
            <a:pPr lvl="1"/>
            <a:r>
              <a:rPr lang="fr-FR" dirty="0"/>
              <a:t>Influencé par les préférences individuelles </a:t>
            </a:r>
          </a:p>
          <a:p>
            <a:pPr lvl="1"/>
            <a:r>
              <a:rPr lang="fr-FR" dirty="0"/>
              <a:t>Dimension culturelle …</a:t>
            </a:r>
          </a:p>
          <a:p>
            <a:r>
              <a:rPr lang="fr-FR" dirty="0"/>
              <a:t>Au sens large :</a:t>
            </a:r>
          </a:p>
          <a:p>
            <a:pPr lvl="1"/>
            <a:r>
              <a:rPr lang="fr-FR" dirty="0"/>
              <a:t>Un concept multidimensionnel et subjectif qui désigne l'ensemble des caractéristiques d'un produit, d'un service, d'un processus ou d'une expérience qui répondent aux besoins et aux attentes des utilisateurs ou des clients.</a:t>
            </a:r>
          </a:p>
          <a:p>
            <a:pPr lvl="1"/>
            <a:r>
              <a:rPr lang="fr-FR" dirty="0"/>
              <a:t>Elle englobe des aspects comme</a:t>
            </a:r>
          </a:p>
          <a:p>
            <a:pPr lvl="2"/>
            <a:r>
              <a:rPr lang="fr-FR" dirty="0"/>
              <a:t>Performance</a:t>
            </a:r>
          </a:p>
          <a:p>
            <a:pPr lvl="2"/>
            <a:r>
              <a:rPr lang="fr-FR" dirty="0"/>
              <a:t>Fiabilité</a:t>
            </a:r>
          </a:p>
          <a:p>
            <a:pPr lvl="2"/>
            <a:r>
              <a:rPr lang="fr-FR" dirty="0"/>
              <a:t>Esthétique</a:t>
            </a:r>
          </a:p>
          <a:p>
            <a:pPr lvl="2"/>
            <a:r>
              <a:rPr lang="fr-FR" dirty="0"/>
              <a:t>Ergonomie</a:t>
            </a:r>
          </a:p>
          <a:p>
            <a:pPr lvl="2"/>
            <a:r>
              <a:rPr lang="fr-FR" dirty="0"/>
              <a:t>Sécurité</a:t>
            </a:r>
          </a:p>
          <a:p>
            <a:pPr lvl="2"/>
            <a:r>
              <a:rPr lang="fr-FR" dirty="0"/>
              <a:t>Satisfaction…</a:t>
            </a:r>
          </a:p>
        </p:txBody>
      </p:sp>
    </p:spTree>
    <p:extLst>
      <p:ext uri="{BB962C8B-B14F-4D97-AF65-F5344CB8AC3E}">
        <p14:creationId xmlns:p14="http://schemas.microsoft.com/office/powerpoint/2010/main" val="294052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8AF1B5-0597-E743-9270-EC4A28DB72D6}"/>
              </a:ext>
            </a:extLst>
          </p:cNvPr>
          <p:cNvSpPr>
            <a:spLocks noGrp="1"/>
          </p:cNvSpPr>
          <p:nvPr>
            <p:ph type="title"/>
          </p:nvPr>
        </p:nvSpPr>
        <p:spPr/>
        <p:txBody>
          <a:bodyPr/>
          <a:lstStyle/>
          <a:p>
            <a:r>
              <a:rPr lang="fr-FR" dirty="0"/>
              <a:t>En génie logiciel : une démarche hiérarchique </a:t>
            </a:r>
          </a:p>
        </p:txBody>
      </p:sp>
      <p:sp>
        <p:nvSpPr>
          <p:cNvPr id="3" name="Espace réservé de la date 2">
            <a:extLst>
              <a:ext uri="{FF2B5EF4-FFF2-40B4-BE49-F238E27FC236}">
                <a16:creationId xmlns:a16="http://schemas.microsoft.com/office/drawing/2014/main" id="{78A0D87D-A33D-CA7E-44DB-33FEC488D0DF}"/>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037A4879-6995-729B-963C-BF4BE3D5ED09}"/>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F610C665-BEB5-8A82-8D4A-C8638BC036BB}"/>
              </a:ext>
            </a:extLst>
          </p:cNvPr>
          <p:cNvSpPr>
            <a:spLocks noGrp="1"/>
          </p:cNvSpPr>
          <p:nvPr>
            <p:ph sz="quarter" idx="13"/>
          </p:nvPr>
        </p:nvSpPr>
        <p:spPr>
          <a:xfrm>
            <a:off x="958299" y="1451494"/>
            <a:ext cx="7728501" cy="5285545"/>
          </a:xfrm>
        </p:spPr>
        <p:txBody>
          <a:bodyPr>
            <a:normAutofit fontScale="85000" lnSpcReduction="20000"/>
          </a:bodyPr>
          <a:lstStyle/>
          <a:p>
            <a:r>
              <a:rPr lang="fr-FR" dirty="0"/>
              <a:t>Une décomposition facteurs / critères / métriques</a:t>
            </a:r>
          </a:p>
          <a:p>
            <a:r>
              <a:rPr lang="fr-FR" dirty="0"/>
              <a:t>Des niveaux d’abstraction différents :</a:t>
            </a:r>
          </a:p>
          <a:p>
            <a:pPr lvl="1"/>
            <a:r>
              <a:rPr lang="fr-FR" b="1" dirty="0"/>
              <a:t>Facteurs :</a:t>
            </a:r>
            <a:r>
              <a:rPr lang="fr-FR" dirty="0"/>
              <a:t> Eléments qui influencent la qualité du logiciel. Ils représentent des </a:t>
            </a:r>
            <a:r>
              <a:rPr lang="fr-FR" b="1" dirty="0">
                <a:solidFill>
                  <a:schemeClr val="tx2"/>
                </a:solidFill>
              </a:rPr>
              <a:t>caractéristiques générales </a:t>
            </a:r>
            <a:r>
              <a:rPr lang="fr-FR" dirty="0"/>
              <a:t>et souvent qualitatives. On ne peut pas les mesurer directement. Ce sont des concepts abstraits. Exemples : </a:t>
            </a:r>
            <a:r>
              <a:rPr lang="fr-FR" i="1" dirty="0"/>
              <a:t>fiabilité</a:t>
            </a:r>
            <a:r>
              <a:rPr lang="fr-FR" dirty="0"/>
              <a:t>, </a:t>
            </a:r>
            <a:r>
              <a:rPr lang="fr-FR" i="1" dirty="0"/>
              <a:t>utilisabilité</a:t>
            </a:r>
            <a:r>
              <a:rPr lang="fr-FR" dirty="0"/>
              <a:t>, </a:t>
            </a:r>
            <a:r>
              <a:rPr lang="fr-FR" i="1" dirty="0"/>
              <a:t>performance</a:t>
            </a:r>
            <a:r>
              <a:rPr lang="fr-FR" dirty="0"/>
              <a:t>, </a:t>
            </a:r>
            <a:r>
              <a:rPr lang="fr-FR" i="1" dirty="0"/>
              <a:t>sécurité</a:t>
            </a:r>
            <a:r>
              <a:rPr lang="fr-FR" dirty="0"/>
              <a:t>, </a:t>
            </a:r>
            <a:r>
              <a:rPr lang="fr-FR" i="1" dirty="0"/>
              <a:t>maintenabilité</a:t>
            </a:r>
            <a:r>
              <a:rPr lang="fr-FR" dirty="0"/>
              <a:t>. Les facteurs définissent les </a:t>
            </a:r>
            <a:r>
              <a:rPr lang="fr-FR" i="1" dirty="0"/>
              <a:t>domaines</a:t>
            </a:r>
            <a:r>
              <a:rPr lang="fr-FR" dirty="0"/>
              <a:t> de la qualité.</a:t>
            </a:r>
          </a:p>
          <a:p>
            <a:pPr lvl="1"/>
            <a:r>
              <a:rPr lang="fr-FR" b="1" dirty="0"/>
              <a:t>Critères :</a:t>
            </a:r>
            <a:r>
              <a:rPr lang="fr-FR" dirty="0"/>
              <a:t> Exigences spécifiques qui découlent des facteurs de qualité. Ils précisent comment un facteur doit être satisfait. Ils sont plus concrets que les facteurs, mais restent souvent qualitatifs ou semi-quantitatifs. Exemples : Pour le facteur </a:t>
            </a:r>
            <a:r>
              <a:rPr lang="fr-FR" b="1" i="1" dirty="0">
                <a:solidFill>
                  <a:schemeClr val="tx2"/>
                </a:solidFill>
              </a:rPr>
              <a:t>ergonomie</a:t>
            </a:r>
            <a:r>
              <a:rPr lang="fr-FR" i="1" dirty="0"/>
              <a:t> </a:t>
            </a:r>
            <a:r>
              <a:rPr lang="fr-FR" dirty="0"/>
              <a:t>peut se décomposer en deux critères (</a:t>
            </a:r>
            <a:r>
              <a:rPr lang="fr-FR" b="1" i="1" dirty="0">
                <a:solidFill>
                  <a:schemeClr val="tx2"/>
                </a:solidFill>
              </a:rPr>
              <a:t>facilité d’utilisation</a:t>
            </a:r>
            <a:r>
              <a:rPr lang="fr-FR" dirty="0"/>
              <a:t>) et (</a:t>
            </a:r>
            <a:r>
              <a:rPr lang="fr-FR" b="1" i="1" dirty="0">
                <a:solidFill>
                  <a:schemeClr val="tx2"/>
                </a:solidFill>
              </a:rPr>
              <a:t>facilité d’apprentissage</a:t>
            </a:r>
            <a:r>
              <a:rPr lang="fr-FR" dirty="0"/>
              <a:t>)</a:t>
            </a:r>
          </a:p>
          <a:p>
            <a:pPr lvl="1"/>
            <a:r>
              <a:rPr lang="fr-FR" b="1" dirty="0"/>
              <a:t>Métriques:</a:t>
            </a:r>
            <a:r>
              <a:rPr lang="fr-FR" dirty="0"/>
              <a:t> Mesures </a:t>
            </a:r>
            <a:r>
              <a:rPr lang="fr-FR" b="1" dirty="0">
                <a:solidFill>
                  <a:schemeClr val="tx2"/>
                </a:solidFill>
              </a:rPr>
              <a:t>quantitatives</a:t>
            </a:r>
            <a:r>
              <a:rPr lang="fr-FR" dirty="0"/>
              <a:t> qui permettent d'évaluer si les critères de qualité sont atteints. Elles fournissent des données objectives et mesurables. Exemples : Pour le critère "</a:t>
            </a:r>
            <a:r>
              <a:rPr lang="fr-FR" i="1" dirty="0"/>
              <a:t>le logiciel ne doit pas planter plus de 3 fois par mois</a:t>
            </a:r>
            <a:r>
              <a:rPr lang="fr-FR" dirty="0"/>
              <a:t>", une métrique pourrait être : </a:t>
            </a:r>
            <a:r>
              <a:rPr lang="fr-FR" i="1" dirty="0"/>
              <a:t>nombre de plantages constatés par mois</a:t>
            </a:r>
            <a:r>
              <a:rPr lang="fr-FR" dirty="0"/>
              <a:t>. </a:t>
            </a:r>
          </a:p>
        </p:txBody>
      </p:sp>
    </p:spTree>
    <p:extLst>
      <p:ext uri="{BB962C8B-B14F-4D97-AF65-F5344CB8AC3E}">
        <p14:creationId xmlns:p14="http://schemas.microsoft.com/office/powerpoint/2010/main" val="3628396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F68A2-0062-31DE-45F2-8812F90943D9}"/>
              </a:ext>
            </a:extLst>
          </p:cNvPr>
          <p:cNvSpPr>
            <a:spLocks noGrp="1"/>
          </p:cNvSpPr>
          <p:nvPr>
            <p:ph type="title"/>
          </p:nvPr>
        </p:nvSpPr>
        <p:spPr/>
        <p:txBody>
          <a:bodyPr/>
          <a:lstStyle/>
          <a:p>
            <a:r>
              <a:rPr lang="fr-FR" dirty="0"/>
              <a:t>Exemple dans le contexte de bonne stratégie WEB</a:t>
            </a:r>
          </a:p>
        </p:txBody>
      </p:sp>
      <p:sp>
        <p:nvSpPr>
          <p:cNvPr id="3" name="Espace réservé de la date 2">
            <a:extLst>
              <a:ext uri="{FF2B5EF4-FFF2-40B4-BE49-F238E27FC236}">
                <a16:creationId xmlns:a16="http://schemas.microsoft.com/office/drawing/2014/main" id="{CF4F6A9E-8581-C4FC-C28E-B17EADA63986}"/>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92F13977-5C61-A06C-45AB-46787994DB0E}"/>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61D0CCCB-FCFD-1531-7A02-20116D56564D}"/>
              </a:ext>
            </a:extLst>
          </p:cNvPr>
          <p:cNvSpPr>
            <a:spLocks noGrp="1"/>
          </p:cNvSpPr>
          <p:nvPr>
            <p:ph sz="quarter" idx="13"/>
          </p:nvPr>
        </p:nvSpPr>
        <p:spPr>
          <a:xfrm>
            <a:off x="958300" y="1451495"/>
            <a:ext cx="7728500" cy="4751388"/>
          </a:xfrm>
        </p:spPr>
        <p:txBody>
          <a:bodyPr>
            <a:normAutofit fontScale="92500"/>
          </a:bodyPr>
          <a:lstStyle/>
          <a:p>
            <a:r>
              <a:rPr lang="fr-FR" b="1" dirty="0"/>
              <a:t>Facteur :</a:t>
            </a:r>
            <a:r>
              <a:rPr lang="fr-FR" dirty="0"/>
              <a:t> </a:t>
            </a:r>
            <a:r>
              <a:rPr lang="fr-FR" b="1" dirty="0"/>
              <a:t>Engagement des utilisateurs</a:t>
            </a:r>
            <a:r>
              <a:rPr lang="fr-FR" dirty="0"/>
              <a:t> (augmentation de l'interaction des visiteurs avec le site web)</a:t>
            </a:r>
          </a:p>
          <a:p>
            <a:r>
              <a:rPr lang="fr-FR" b="1" dirty="0"/>
              <a:t>Critère 1 :</a:t>
            </a:r>
            <a:r>
              <a:rPr lang="fr-FR" dirty="0"/>
              <a:t> Améliorer l'expérience utilisateur (UX)</a:t>
            </a:r>
          </a:p>
          <a:p>
            <a:pPr lvl="1"/>
            <a:r>
              <a:rPr lang="fr-FR" b="1" dirty="0"/>
              <a:t>Métrique 1 :</a:t>
            </a:r>
            <a:r>
              <a:rPr lang="fr-FR" dirty="0"/>
              <a:t> Diminution du </a:t>
            </a:r>
            <a:r>
              <a:rPr lang="fr-FR" u="sng" dirty="0"/>
              <a:t>taux de rebond</a:t>
            </a:r>
            <a:r>
              <a:rPr lang="fr-FR" dirty="0"/>
              <a:t>.</a:t>
            </a:r>
          </a:p>
          <a:p>
            <a:pPr lvl="1"/>
            <a:r>
              <a:rPr lang="fr-FR" b="1" dirty="0"/>
              <a:t>Métrique 2 :</a:t>
            </a:r>
            <a:r>
              <a:rPr lang="fr-FR" dirty="0"/>
              <a:t> Augmentation de la </a:t>
            </a:r>
            <a:r>
              <a:rPr lang="fr-FR" u="sng" dirty="0"/>
              <a:t>durée moyenne de session</a:t>
            </a:r>
            <a:r>
              <a:rPr lang="fr-FR" dirty="0"/>
              <a:t>.</a:t>
            </a:r>
          </a:p>
          <a:p>
            <a:pPr lvl="1"/>
            <a:r>
              <a:rPr lang="fr-FR" b="1" dirty="0"/>
              <a:t>Métrique 3 :</a:t>
            </a:r>
            <a:r>
              <a:rPr lang="fr-FR" dirty="0"/>
              <a:t> Augmentation du </a:t>
            </a:r>
            <a:r>
              <a:rPr lang="fr-FR" u="sng" dirty="0"/>
              <a:t>nombre de pages vues </a:t>
            </a:r>
            <a:r>
              <a:rPr lang="fr-FR" dirty="0"/>
              <a:t>par visite.</a:t>
            </a:r>
          </a:p>
          <a:p>
            <a:r>
              <a:rPr lang="fr-FR" b="1" dirty="0"/>
              <a:t>Critère 2 :</a:t>
            </a:r>
            <a:r>
              <a:rPr lang="fr-FR" dirty="0"/>
              <a:t> Proposer un contenu de qualité et pertinent</a:t>
            </a:r>
          </a:p>
          <a:p>
            <a:pPr lvl="1"/>
            <a:r>
              <a:rPr lang="fr-FR" b="1" dirty="0"/>
              <a:t>Métrique 1 :</a:t>
            </a:r>
            <a:r>
              <a:rPr lang="fr-FR" dirty="0"/>
              <a:t> Augmentation du temps passé sur les pages.</a:t>
            </a:r>
          </a:p>
          <a:p>
            <a:pPr lvl="1"/>
            <a:r>
              <a:rPr lang="fr-FR" b="1" dirty="0"/>
              <a:t>Métrique 2 :</a:t>
            </a:r>
            <a:r>
              <a:rPr lang="fr-FR" dirty="0"/>
              <a:t> Augmentation du nombre de commentaires et de partages de contenu.</a:t>
            </a:r>
          </a:p>
          <a:p>
            <a:pPr lvl="1"/>
            <a:r>
              <a:rPr lang="fr-FR" b="1" dirty="0"/>
              <a:t>Métrique 3 :</a:t>
            </a:r>
            <a:r>
              <a:rPr lang="fr-FR" dirty="0"/>
              <a:t> Amélioration du taux de </a:t>
            </a:r>
            <a:r>
              <a:rPr lang="fr-FR" dirty="0">
                <a:solidFill>
                  <a:srgbClr val="FF0000"/>
                </a:solidFill>
              </a:rPr>
              <a:t>conversion</a:t>
            </a:r>
            <a:r>
              <a:rPr lang="fr-FR" dirty="0"/>
              <a:t>.</a:t>
            </a:r>
          </a:p>
          <a:p>
            <a:endParaRPr lang="fr-FR" dirty="0"/>
          </a:p>
        </p:txBody>
      </p:sp>
    </p:spTree>
    <p:extLst>
      <p:ext uri="{BB962C8B-B14F-4D97-AF65-F5344CB8AC3E}">
        <p14:creationId xmlns:p14="http://schemas.microsoft.com/office/powerpoint/2010/main" val="3740972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833449-A56D-DE00-3417-3281E66CA241}"/>
              </a:ext>
            </a:extLst>
          </p:cNvPr>
          <p:cNvSpPr>
            <a:spLocks noGrp="1"/>
          </p:cNvSpPr>
          <p:nvPr>
            <p:ph type="title"/>
          </p:nvPr>
        </p:nvSpPr>
        <p:spPr/>
        <p:txBody>
          <a:bodyPr/>
          <a:lstStyle/>
          <a:p>
            <a:r>
              <a:rPr lang="fr-FR" dirty="0"/>
              <a:t>Conversion vue comme facteur</a:t>
            </a:r>
          </a:p>
        </p:txBody>
      </p:sp>
      <p:sp>
        <p:nvSpPr>
          <p:cNvPr id="3" name="Espace réservé de la date 2">
            <a:extLst>
              <a:ext uri="{FF2B5EF4-FFF2-40B4-BE49-F238E27FC236}">
                <a16:creationId xmlns:a16="http://schemas.microsoft.com/office/drawing/2014/main" id="{77D3F9D2-CC74-0A31-07C8-2B7B479065F4}"/>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1296DCBA-2D13-C79B-51E5-68C7B694CD8F}"/>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BA1F9C27-B3B4-F541-6572-8E5FB5427D7E}"/>
              </a:ext>
            </a:extLst>
          </p:cNvPr>
          <p:cNvSpPr>
            <a:spLocks noGrp="1"/>
          </p:cNvSpPr>
          <p:nvPr>
            <p:ph sz="quarter" idx="13"/>
          </p:nvPr>
        </p:nvSpPr>
        <p:spPr>
          <a:xfrm>
            <a:off x="958299" y="1451495"/>
            <a:ext cx="7422375" cy="4751388"/>
          </a:xfrm>
        </p:spPr>
        <p:txBody>
          <a:bodyPr/>
          <a:lstStyle/>
          <a:p>
            <a:r>
              <a:rPr lang="fr-FR" b="1" dirty="0"/>
              <a:t>Facteur :</a:t>
            </a:r>
            <a:r>
              <a:rPr lang="fr-FR" dirty="0"/>
              <a:t> </a:t>
            </a:r>
            <a:r>
              <a:rPr lang="fr-FR" b="1" dirty="0"/>
              <a:t>Conversion</a:t>
            </a:r>
            <a:r>
              <a:rPr lang="fr-FR" dirty="0"/>
              <a:t> (transformation des visiteurs en clients ou prospects)</a:t>
            </a:r>
          </a:p>
          <a:p>
            <a:r>
              <a:rPr lang="fr-FR" b="1" dirty="0"/>
              <a:t>Critère 1 :</a:t>
            </a:r>
            <a:r>
              <a:rPr lang="fr-FR" dirty="0"/>
              <a:t> Optimisation des pages de conversion (landing pages) pages destination</a:t>
            </a:r>
          </a:p>
          <a:p>
            <a:pPr lvl="1"/>
            <a:r>
              <a:rPr lang="fr-FR" b="1" dirty="0"/>
              <a:t>Métrique 1 :</a:t>
            </a:r>
            <a:r>
              <a:rPr lang="fr-FR" dirty="0"/>
              <a:t> Taux de conversion des landing pages.</a:t>
            </a:r>
          </a:p>
          <a:p>
            <a:pPr lvl="1"/>
            <a:r>
              <a:rPr lang="fr-FR" b="1" dirty="0"/>
              <a:t>Métrique 2 :</a:t>
            </a:r>
            <a:r>
              <a:rPr lang="fr-FR" dirty="0"/>
              <a:t> Nombre de leads générés.(nombre d’intérêts manifestés)</a:t>
            </a:r>
          </a:p>
          <a:p>
            <a:r>
              <a:rPr lang="fr-FR" b="1" dirty="0"/>
              <a:t>Critère 2 :</a:t>
            </a:r>
            <a:r>
              <a:rPr lang="fr-FR" dirty="0"/>
              <a:t> Amélioration de l'appel à l'action (CTA)</a:t>
            </a:r>
          </a:p>
          <a:p>
            <a:pPr lvl="1"/>
            <a:r>
              <a:rPr lang="fr-FR" b="1" dirty="0"/>
              <a:t>Métrique 1 :</a:t>
            </a:r>
            <a:r>
              <a:rPr lang="fr-FR" dirty="0"/>
              <a:t> Taux de clics sur les CTA.</a:t>
            </a:r>
          </a:p>
          <a:p>
            <a:pPr lvl="1"/>
            <a:r>
              <a:rPr lang="fr-FR" b="1" dirty="0"/>
              <a:t>Métrique 2 :</a:t>
            </a:r>
            <a:r>
              <a:rPr lang="fr-FR" dirty="0"/>
              <a:t> Nombre de formulaires remplis.</a:t>
            </a:r>
          </a:p>
          <a:p>
            <a:endParaRPr lang="fr-FR" dirty="0"/>
          </a:p>
        </p:txBody>
      </p:sp>
    </p:spTree>
    <p:extLst>
      <p:ext uri="{BB962C8B-B14F-4D97-AF65-F5344CB8AC3E}">
        <p14:creationId xmlns:p14="http://schemas.microsoft.com/office/powerpoint/2010/main" val="1313784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C42330-47EF-460A-A042-78B2E36D00E7}"/>
              </a:ext>
            </a:extLst>
          </p:cNvPr>
          <p:cNvSpPr>
            <a:spLocks noGrp="1"/>
          </p:cNvSpPr>
          <p:nvPr>
            <p:ph type="title"/>
          </p:nvPr>
        </p:nvSpPr>
        <p:spPr/>
        <p:txBody>
          <a:bodyPr>
            <a:normAutofit/>
          </a:bodyPr>
          <a:lstStyle/>
          <a:p>
            <a:r>
              <a:rPr lang="fr-FR" dirty="0"/>
              <a:t>Facteurs essentiels pour une stratégie</a:t>
            </a:r>
          </a:p>
        </p:txBody>
      </p:sp>
      <p:sp>
        <p:nvSpPr>
          <p:cNvPr id="3" name="Espace réservé de la date 2">
            <a:extLst>
              <a:ext uri="{FF2B5EF4-FFF2-40B4-BE49-F238E27FC236}">
                <a16:creationId xmlns:a16="http://schemas.microsoft.com/office/drawing/2014/main" id="{E37DF698-015D-4DB8-9CE0-94A960D30C0F}"/>
              </a:ext>
            </a:extLst>
          </p:cNvPr>
          <p:cNvSpPr>
            <a:spLocks noGrp="1"/>
          </p:cNvSpPr>
          <p:nvPr>
            <p:ph type="dt" sz="half" idx="10"/>
          </p:nvPr>
        </p:nvSpPr>
        <p:spPr/>
        <p:txBody>
          <a:bodyPr/>
          <a:lstStyle/>
          <a:p>
            <a:fld id="{A0AC3893-42F9-A843-8272-76C7D7A81618}" type="datetime2">
              <a:rPr lang="fr-FR" smtClean="0"/>
              <a:t>vendredi 5 juin 2026</a:t>
            </a:fld>
            <a:endParaRPr lang="fr-FR" dirty="0"/>
          </a:p>
        </p:txBody>
      </p:sp>
      <p:sp>
        <p:nvSpPr>
          <p:cNvPr id="7" name="Espace réservé du pied de page 7">
            <a:extLst>
              <a:ext uri="{FF2B5EF4-FFF2-40B4-BE49-F238E27FC236}">
                <a16:creationId xmlns:a16="http://schemas.microsoft.com/office/drawing/2014/main" id="{FE4B9A9C-D148-4ADE-8821-4226ED67FCF2}"/>
              </a:ext>
            </a:extLst>
          </p:cNvPr>
          <p:cNvSpPr>
            <a:spLocks noGrp="1"/>
          </p:cNvSpPr>
          <p:nvPr>
            <p:ph type="ftr" sz="quarter" idx="11"/>
          </p:nvPr>
        </p:nvSpPr>
        <p:spPr>
          <a:xfrm>
            <a:off x="159657" y="6596743"/>
            <a:ext cx="5762173" cy="261257"/>
          </a:xfrm>
        </p:spPr>
        <p:txBody>
          <a:bodyPr/>
          <a:lstStyle>
            <a:lvl1pPr algn="l">
              <a:defRPr/>
            </a:lvl1pPr>
          </a:lstStyle>
          <a:p>
            <a:r>
              <a:rPr lang="fr-FR"/>
              <a:t>S. Lamrous</a:t>
            </a:r>
            <a:endParaRPr lang="fr-FR" dirty="0"/>
          </a:p>
        </p:txBody>
      </p:sp>
      <p:sp>
        <p:nvSpPr>
          <p:cNvPr id="4" name="Espace réservé du contenu 4">
            <a:extLst>
              <a:ext uri="{FF2B5EF4-FFF2-40B4-BE49-F238E27FC236}">
                <a16:creationId xmlns:a16="http://schemas.microsoft.com/office/drawing/2014/main" id="{A1573ECB-BC1D-21FF-375D-DE89EB51A959}"/>
              </a:ext>
            </a:extLst>
          </p:cNvPr>
          <p:cNvSpPr>
            <a:spLocks noGrp="1"/>
          </p:cNvSpPr>
          <p:nvPr>
            <p:ph sz="quarter" idx="13"/>
          </p:nvPr>
        </p:nvSpPr>
        <p:spPr>
          <a:xfrm>
            <a:off x="864782" y="1287769"/>
            <a:ext cx="7728500" cy="4751388"/>
          </a:xfrm>
        </p:spPr>
        <p:txBody>
          <a:bodyPr>
            <a:normAutofit fontScale="92500" lnSpcReduction="10000"/>
          </a:bodyPr>
          <a:lstStyle/>
          <a:p>
            <a:r>
              <a:rPr lang="fr-FR" dirty="0"/>
              <a:t>Contenu </a:t>
            </a:r>
            <a:r>
              <a:rPr lang="fr-FR" dirty="0">
                <a:solidFill>
                  <a:srgbClr val="FF0000"/>
                </a:solidFill>
              </a:rPr>
              <a:t>utile</a:t>
            </a:r>
            <a:r>
              <a:rPr lang="fr-FR" dirty="0"/>
              <a:t>, </a:t>
            </a:r>
            <a:r>
              <a:rPr lang="fr-FR" dirty="0">
                <a:solidFill>
                  <a:srgbClr val="FF0000"/>
                </a:solidFill>
              </a:rPr>
              <a:t>unique</a:t>
            </a:r>
            <a:r>
              <a:rPr lang="fr-FR" dirty="0"/>
              <a:t> et adressé à une audience </a:t>
            </a:r>
            <a:r>
              <a:rPr lang="fr-FR" dirty="0">
                <a:solidFill>
                  <a:srgbClr val="FF0000"/>
                </a:solidFill>
              </a:rPr>
              <a:t>ciblée </a:t>
            </a:r>
          </a:p>
          <a:p>
            <a:r>
              <a:rPr lang="fr-FR" dirty="0"/>
              <a:t>Pourquoi est-ce essentiel en rédaction web ?</a:t>
            </a:r>
          </a:p>
          <a:p>
            <a:pPr lvl="1"/>
            <a:r>
              <a:rPr lang="fr-FR" dirty="0"/>
              <a:t>Sur Internet, l’attention des lecteurs est limitée. </a:t>
            </a:r>
          </a:p>
          <a:p>
            <a:pPr lvl="1"/>
            <a:r>
              <a:rPr lang="fr-FR" dirty="0"/>
              <a:t>Pour capter leur intérêt et les retenir, il ne suffit pas d’écrire, il </a:t>
            </a:r>
            <a:r>
              <a:rPr lang="fr-FR" dirty="0">
                <a:solidFill>
                  <a:srgbClr val="FF0000"/>
                </a:solidFill>
              </a:rPr>
              <a:t>faut bien écrire !</a:t>
            </a:r>
          </a:p>
          <a:p>
            <a:r>
              <a:rPr lang="fr-FR" dirty="0"/>
              <a:t>Il faut écrire pour quelqu’un, c’est-à-dire </a:t>
            </a:r>
            <a:r>
              <a:rPr lang="fr-FR" dirty="0">
                <a:solidFill>
                  <a:srgbClr val="FF0000"/>
                </a:solidFill>
              </a:rPr>
              <a:t>s’adresser à une cible. </a:t>
            </a:r>
            <a:endParaRPr lang="fr-FR" dirty="0"/>
          </a:p>
          <a:p>
            <a:r>
              <a:rPr lang="fr-FR" dirty="0"/>
              <a:t> 1- </a:t>
            </a:r>
            <a:r>
              <a:rPr lang="fr-FR" b="1" dirty="0"/>
              <a:t>Un contenu utile : </a:t>
            </a:r>
            <a:r>
              <a:rPr lang="fr-FR" dirty="0"/>
              <a:t>répondre à un besoin précis </a:t>
            </a:r>
          </a:p>
          <a:p>
            <a:pPr lvl="1"/>
            <a:r>
              <a:rPr lang="fr-FR" dirty="0"/>
              <a:t>Un bon article sur le web doit avant tout apporter de la valeur. </a:t>
            </a:r>
          </a:p>
          <a:p>
            <a:pPr lvl="1"/>
            <a:r>
              <a:rPr lang="fr-FR" dirty="0"/>
              <a:t>Un internaute qui arrive sur une page cherche une réponse, une solution à un problème ou une information précise.</a:t>
            </a:r>
          </a:p>
          <a:p>
            <a:pPr lvl="1"/>
            <a:r>
              <a:rPr lang="fr-FR" b="1" dirty="0"/>
              <a:t>Si le contenu ne répond pas à son besoin, l’internaute partira aussitôt !</a:t>
            </a:r>
            <a:endParaRPr lang="fr-FR" b="1" dirty="0">
              <a:solidFill>
                <a:srgbClr val="FF0000"/>
              </a:solidFill>
            </a:endParaRPr>
          </a:p>
        </p:txBody>
      </p:sp>
    </p:spTree>
    <p:extLst>
      <p:ext uri="{BB962C8B-B14F-4D97-AF65-F5344CB8AC3E}">
        <p14:creationId xmlns:p14="http://schemas.microsoft.com/office/powerpoint/2010/main" val="4124496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680448-4324-3232-D801-53CB659D137A}"/>
              </a:ext>
            </a:extLst>
          </p:cNvPr>
          <p:cNvSpPr>
            <a:spLocks noGrp="1"/>
          </p:cNvSpPr>
          <p:nvPr>
            <p:ph type="title"/>
          </p:nvPr>
        </p:nvSpPr>
        <p:spPr>
          <a:xfrm>
            <a:off x="82895" y="214479"/>
            <a:ext cx="8531288" cy="613440"/>
          </a:xfrm>
        </p:spPr>
        <p:txBody>
          <a:bodyPr>
            <a:normAutofit/>
          </a:bodyPr>
          <a:lstStyle/>
          <a:p>
            <a:r>
              <a:rPr lang="fr-FR" dirty="0"/>
              <a:t>Se poser ces questions :</a:t>
            </a:r>
          </a:p>
        </p:txBody>
      </p:sp>
      <p:sp>
        <p:nvSpPr>
          <p:cNvPr id="3" name="Espace réservé de la date 2">
            <a:extLst>
              <a:ext uri="{FF2B5EF4-FFF2-40B4-BE49-F238E27FC236}">
                <a16:creationId xmlns:a16="http://schemas.microsoft.com/office/drawing/2014/main" id="{FF5B91DB-DCDD-5F84-7185-63F9C89CF8EB}"/>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99915EDE-21BD-BB66-2950-4E4DD1DBFFDC}"/>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4A7B5CE6-A1D2-F174-37EF-8574D3F8C81A}"/>
              </a:ext>
            </a:extLst>
          </p:cNvPr>
          <p:cNvSpPr>
            <a:spLocks noGrp="1"/>
          </p:cNvSpPr>
          <p:nvPr>
            <p:ph sz="quarter" idx="13"/>
          </p:nvPr>
        </p:nvSpPr>
        <p:spPr>
          <a:xfrm>
            <a:off x="833608" y="1223335"/>
            <a:ext cx="6336119" cy="2839950"/>
          </a:xfrm>
        </p:spPr>
        <p:txBody>
          <a:bodyPr>
            <a:normAutofit/>
          </a:bodyPr>
          <a:lstStyle/>
          <a:p>
            <a:pPr marL="0" indent="0">
              <a:buNone/>
            </a:pPr>
            <a:endParaRPr lang="fr-FR" dirty="0"/>
          </a:p>
          <a:p>
            <a:r>
              <a:rPr lang="fr-FR" dirty="0"/>
              <a:t> Mon contenu aide-t-il mon lecteur à résoudre un problème ? </a:t>
            </a:r>
          </a:p>
          <a:p>
            <a:r>
              <a:rPr lang="fr-FR" dirty="0"/>
              <a:t> Est-il clair et facilement compréhensible ? </a:t>
            </a:r>
          </a:p>
          <a:p>
            <a:r>
              <a:rPr lang="fr-FR" dirty="0"/>
              <a:t> Apporte-t-il quelque chose de plus que ce qui existe déjà sur le web ? </a:t>
            </a:r>
          </a:p>
          <a:p>
            <a:endParaRPr lang="fr-FR" dirty="0"/>
          </a:p>
        </p:txBody>
      </p:sp>
      <p:pic>
        <p:nvPicPr>
          <p:cNvPr id="1026" name="Picture 2" descr="587 700+ Question Photos, taleaux et images libre de droits - iStock |  Questionnement, Point d'interrogation, Merci">
            <a:extLst>
              <a:ext uri="{FF2B5EF4-FFF2-40B4-BE49-F238E27FC236}">
                <a16:creationId xmlns:a16="http://schemas.microsoft.com/office/drawing/2014/main" id="{29CE4560-EF66-867F-AC22-1874E9E3E4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5066" y="181625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4AB799FF-6A1A-511A-94AF-AF9F4C897235}"/>
              </a:ext>
            </a:extLst>
          </p:cNvPr>
          <p:cNvPicPr>
            <a:picLocks noChangeAspect="1"/>
          </p:cNvPicPr>
          <p:nvPr/>
        </p:nvPicPr>
        <p:blipFill>
          <a:blip r:embed="rId3"/>
          <a:stretch>
            <a:fillRect/>
          </a:stretch>
        </p:blipFill>
        <p:spPr>
          <a:xfrm>
            <a:off x="1415630" y="4284040"/>
            <a:ext cx="3028950" cy="1514475"/>
          </a:xfrm>
          <a:prstGeom prst="rect">
            <a:avLst/>
          </a:prstGeom>
        </p:spPr>
      </p:pic>
      <p:pic>
        <p:nvPicPr>
          <p:cNvPr id="10" name="Image 9">
            <a:extLst>
              <a:ext uri="{FF2B5EF4-FFF2-40B4-BE49-F238E27FC236}">
                <a16:creationId xmlns:a16="http://schemas.microsoft.com/office/drawing/2014/main" id="{57AF8B60-F95D-285F-E921-6A3F669888CB}"/>
              </a:ext>
            </a:extLst>
          </p:cNvPr>
          <p:cNvPicPr>
            <a:picLocks noChangeAspect="1"/>
          </p:cNvPicPr>
          <p:nvPr/>
        </p:nvPicPr>
        <p:blipFill>
          <a:blip r:embed="rId4"/>
          <a:stretch>
            <a:fillRect/>
          </a:stretch>
        </p:blipFill>
        <p:spPr>
          <a:xfrm>
            <a:off x="5026602" y="3876145"/>
            <a:ext cx="2143125" cy="2143125"/>
          </a:xfrm>
          <a:prstGeom prst="rect">
            <a:avLst/>
          </a:prstGeom>
        </p:spPr>
      </p:pic>
    </p:spTree>
    <p:extLst>
      <p:ext uri="{BB962C8B-B14F-4D97-AF65-F5344CB8AC3E}">
        <p14:creationId xmlns:p14="http://schemas.microsoft.com/office/powerpoint/2010/main" val="3174708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C0807A-0F65-B5B7-3D14-5ECA250BDFC5}"/>
              </a:ext>
            </a:extLst>
          </p:cNvPr>
          <p:cNvSpPr>
            <a:spLocks noGrp="1"/>
          </p:cNvSpPr>
          <p:nvPr>
            <p:ph type="title"/>
          </p:nvPr>
        </p:nvSpPr>
        <p:spPr/>
        <p:txBody>
          <a:bodyPr>
            <a:normAutofit/>
          </a:bodyPr>
          <a:lstStyle/>
          <a:p>
            <a:r>
              <a:rPr lang="fr-FR" dirty="0"/>
              <a:t>Un contenu unique</a:t>
            </a:r>
          </a:p>
        </p:txBody>
      </p:sp>
      <p:sp>
        <p:nvSpPr>
          <p:cNvPr id="3" name="Espace réservé de la date 2">
            <a:extLst>
              <a:ext uri="{FF2B5EF4-FFF2-40B4-BE49-F238E27FC236}">
                <a16:creationId xmlns:a16="http://schemas.microsoft.com/office/drawing/2014/main" id="{2954C31C-1005-A0FA-31A1-F96842B70EA0}"/>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943B4C0E-B126-29B9-AFC6-7D7CEBD6FD1A}"/>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6DEF4915-6377-FEE6-146D-A6F0236900BF}"/>
              </a:ext>
            </a:extLst>
          </p:cNvPr>
          <p:cNvSpPr>
            <a:spLocks noGrp="1"/>
          </p:cNvSpPr>
          <p:nvPr>
            <p:ph sz="quarter" idx="13"/>
          </p:nvPr>
        </p:nvSpPr>
        <p:spPr>
          <a:xfrm>
            <a:off x="780486" y="1304963"/>
            <a:ext cx="7583027" cy="5149465"/>
          </a:xfrm>
        </p:spPr>
        <p:txBody>
          <a:bodyPr/>
          <a:lstStyle/>
          <a:p>
            <a:r>
              <a:rPr lang="fr-FR" dirty="0"/>
              <a:t>Se démarquer pour mieux se positionner</a:t>
            </a:r>
          </a:p>
          <a:p>
            <a:pPr lvl="1"/>
            <a:r>
              <a:rPr lang="fr-FR" sz="2400" dirty="0"/>
              <a:t>Un contenu </a:t>
            </a:r>
            <a:r>
              <a:rPr lang="fr-FR" sz="2400" dirty="0">
                <a:solidFill>
                  <a:srgbClr val="FF0000"/>
                </a:solidFill>
              </a:rPr>
              <a:t>dupliqué</a:t>
            </a:r>
            <a:r>
              <a:rPr lang="fr-FR" sz="2400" dirty="0"/>
              <a:t> ou trop générique n’apporte aucune valeur ajoutée</a:t>
            </a:r>
          </a:p>
          <a:p>
            <a:pPr lvl="2"/>
            <a:r>
              <a:rPr lang="fr-FR" sz="2200" dirty="0"/>
              <a:t>Attention : peut être pénalisé par Google :</a:t>
            </a:r>
          </a:p>
          <a:p>
            <a:pPr lvl="2"/>
            <a:r>
              <a:rPr lang="fr-FR" sz="2200" dirty="0"/>
              <a:t>Algorithme </a:t>
            </a:r>
            <a:r>
              <a:rPr lang="fr-FR" sz="2200" dirty="0">
                <a:solidFill>
                  <a:srgbClr val="FF0000"/>
                </a:solidFill>
              </a:rPr>
              <a:t>Google Panda (première parution 2011)</a:t>
            </a:r>
          </a:p>
          <a:p>
            <a:pPr lvl="3"/>
            <a:r>
              <a:rPr lang="fr-FR" sz="2200" dirty="0">
                <a:solidFill>
                  <a:srgbClr val="FF0000"/>
                </a:solidFill>
              </a:rPr>
              <a:t>Principe =&gt; </a:t>
            </a:r>
            <a:r>
              <a:rPr lang="fr-FR" sz="2200" dirty="0"/>
              <a:t>D</a:t>
            </a:r>
            <a:r>
              <a:rPr lang="fr-FR" dirty="0"/>
              <a:t>évaluer des résultats de recherche pour les sites qui proposent :</a:t>
            </a:r>
          </a:p>
          <a:p>
            <a:pPr lvl="4"/>
            <a:r>
              <a:rPr lang="fr-FR" dirty="0"/>
              <a:t>un contenu de faible qualité, </a:t>
            </a:r>
          </a:p>
          <a:p>
            <a:pPr lvl="4"/>
            <a:r>
              <a:rPr lang="fr-FR" dirty="0"/>
              <a:t>un contenu textuel insuffisant</a:t>
            </a:r>
            <a:endParaRPr lang="fr-FR" baseline="30000" dirty="0"/>
          </a:p>
          <a:p>
            <a:pPr lvl="4"/>
            <a:r>
              <a:rPr lang="fr-FR" dirty="0"/>
              <a:t>du « </a:t>
            </a:r>
            <a:r>
              <a:rPr lang="fr-FR" dirty="0">
                <a:solidFill>
                  <a:srgbClr val="FF0000"/>
                </a:solidFill>
              </a:rPr>
              <a:t>duplicate content </a:t>
            </a:r>
            <a:r>
              <a:rPr lang="fr-FR" dirty="0"/>
              <a:t>».</a:t>
            </a:r>
          </a:p>
          <a:p>
            <a:pPr lvl="3"/>
            <a:r>
              <a:rPr lang="fr-FR" sz="2200" dirty="0">
                <a:solidFill>
                  <a:srgbClr val="FF0000"/>
                </a:solidFill>
              </a:rPr>
              <a:t>Plusieurs mises à jour de l’algorithme</a:t>
            </a:r>
          </a:p>
          <a:p>
            <a:pPr marL="914400" lvl="2" indent="0">
              <a:buNone/>
            </a:pPr>
            <a:endParaRPr lang="fr-FR" dirty="0"/>
          </a:p>
        </p:txBody>
      </p:sp>
      <p:pic>
        <p:nvPicPr>
          <p:cNvPr id="8" name="Image 7">
            <a:extLst>
              <a:ext uri="{FF2B5EF4-FFF2-40B4-BE49-F238E27FC236}">
                <a16:creationId xmlns:a16="http://schemas.microsoft.com/office/drawing/2014/main" id="{6A662B83-8377-37E0-C80C-87F102D2DA2E}"/>
              </a:ext>
            </a:extLst>
          </p:cNvPr>
          <p:cNvPicPr>
            <a:picLocks noChangeAspect="1"/>
          </p:cNvPicPr>
          <p:nvPr/>
        </p:nvPicPr>
        <p:blipFill>
          <a:blip r:embed="rId3"/>
          <a:srcRect l="6961" b="4182"/>
          <a:stretch>
            <a:fillRect/>
          </a:stretch>
        </p:blipFill>
        <p:spPr>
          <a:xfrm>
            <a:off x="6691746" y="4026226"/>
            <a:ext cx="2215478" cy="228167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16507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08CE71-C3E4-52B9-0247-BE66207D1363}"/>
              </a:ext>
            </a:extLst>
          </p:cNvPr>
          <p:cNvSpPr>
            <a:spLocks noGrp="1"/>
          </p:cNvSpPr>
          <p:nvPr>
            <p:ph type="title"/>
          </p:nvPr>
        </p:nvSpPr>
        <p:spPr/>
        <p:txBody>
          <a:bodyPr>
            <a:normAutofit/>
          </a:bodyPr>
          <a:lstStyle/>
          <a:p>
            <a:r>
              <a:rPr lang="fr-FR" dirty="0"/>
              <a:t>Comment créer du contenu unique ?</a:t>
            </a:r>
          </a:p>
        </p:txBody>
      </p:sp>
      <p:sp>
        <p:nvSpPr>
          <p:cNvPr id="3" name="Espace réservé de la date 2">
            <a:extLst>
              <a:ext uri="{FF2B5EF4-FFF2-40B4-BE49-F238E27FC236}">
                <a16:creationId xmlns:a16="http://schemas.microsoft.com/office/drawing/2014/main" id="{210F0991-C04F-CDBE-CFEE-93314040FF69}"/>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0D7CC9DB-599A-7F87-4DDB-0AA6275D1382}"/>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A288EFD4-A790-A598-14E1-F31221871C69}"/>
              </a:ext>
            </a:extLst>
          </p:cNvPr>
          <p:cNvSpPr>
            <a:spLocks noGrp="1"/>
          </p:cNvSpPr>
          <p:nvPr>
            <p:ph sz="quarter" idx="13"/>
          </p:nvPr>
        </p:nvSpPr>
        <p:spPr>
          <a:xfrm>
            <a:off x="958300" y="1451495"/>
            <a:ext cx="7458336" cy="4751388"/>
          </a:xfrm>
        </p:spPr>
        <p:txBody>
          <a:bodyPr/>
          <a:lstStyle/>
          <a:p>
            <a:r>
              <a:rPr lang="fr-FR" dirty="0"/>
              <a:t>Votre propre expertise et votre propre analyse.</a:t>
            </a:r>
          </a:p>
          <a:p>
            <a:r>
              <a:rPr lang="fr-FR" dirty="0"/>
              <a:t>Eviter le simple copier-coller d’informations trouvées ailleurs. </a:t>
            </a:r>
          </a:p>
          <a:p>
            <a:pPr lvl="1"/>
            <a:r>
              <a:rPr lang="fr-FR" dirty="0"/>
              <a:t>à remodeler avec votre touche personnelle en apportant « </a:t>
            </a:r>
            <a:r>
              <a:rPr lang="fr-FR" dirty="0">
                <a:solidFill>
                  <a:srgbClr val="FF0000"/>
                </a:solidFill>
              </a:rPr>
              <a:t>un plus +++</a:t>
            </a:r>
            <a:r>
              <a:rPr lang="fr-FR" dirty="0"/>
              <a:t>»…</a:t>
            </a:r>
          </a:p>
          <a:p>
            <a:r>
              <a:rPr lang="fr-FR" dirty="0"/>
              <a:t>En structurant l’information de manière :</a:t>
            </a:r>
          </a:p>
          <a:p>
            <a:pPr lvl="1"/>
            <a:r>
              <a:rPr lang="fr-FR" dirty="0"/>
              <a:t>originale, </a:t>
            </a:r>
          </a:p>
          <a:p>
            <a:pPr lvl="1"/>
            <a:r>
              <a:rPr lang="fr-FR" dirty="0"/>
              <a:t>novatrice </a:t>
            </a:r>
          </a:p>
          <a:p>
            <a:pPr lvl="1"/>
            <a:r>
              <a:rPr lang="fr-FR" dirty="0"/>
              <a:t>et engageante</a:t>
            </a:r>
          </a:p>
        </p:txBody>
      </p:sp>
      <p:pic>
        <p:nvPicPr>
          <p:cNvPr id="3074" name="Picture 2" descr="Reformuler vos textes - Générer vos textes - en 27 langues">
            <a:extLst>
              <a:ext uri="{FF2B5EF4-FFF2-40B4-BE49-F238E27FC236}">
                <a16:creationId xmlns:a16="http://schemas.microsoft.com/office/drawing/2014/main" id="{E978B3AE-76BD-7C98-9875-9A1A5AEC8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2213" y="4301836"/>
            <a:ext cx="4064423" cy="149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8549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DEA7DE-4CEB-72B1-7002-0BBE024228A4}"/>
              </a:ext>
            </a:extLst>
          </p:cNvPr>
          <p:cNvSpPr>
            <a:spLocks noGrp="1"/>
          </p:cNvSpPr>
          <p:nvPr>
            <p:ph type="title"/>
          </p:nvPr>
        </p:nvSpPr>
        <p:spPr>
          <a:xfrm>
            <a:off x="155512" y="120960"/>
            <a:ext cx="8531288" cy="613440"/>
          </a:xfrm>
        </p:spPr>
        <p:txBody>
          <a:bodyPr anchor="ctr">
            <a:normAutofit/>
          </a:bodyPr>
          <a:lstStyle/>
          <a:p>
            <a:r>
              <a:rPr lang="fr-FR" dirty="0"/>
              <a:t>Parler à la bonne personne </a:t>
            </a:r>
          </a:p>
        </p:txBody>
      </p:sp>
      <p:sp>
        <p:nvSpPr>
          <p:cNvPr id="3" name="Espace réservé de la date 2">
            <a:extLst>
              <a:ext uri="{FF2B5EF4-FFF2-40B4-BE49-F238E27FC236}">
                <a16:creationId xmlns:a16="http://schemas.microsoft.com/office/drawing/2014/main" id="{709941C9-D8EB-384A-505A-F6894AAD083D}"/>
              </a:ext>
            </a:extLst>
          </p:cNvPr>
          <p:cNvSpPr>
            <a:spLocks noGrp="1"/>
          </p:cNvSpPr>
          <p:nvPr>
            <p:ph type="dt" sz="half" idx="10"/>
          </p:nvPr>
        </p:nvSpPr>
        <p:spPr>
          <a:xfrm>
            <a:off x="6019800" y="6600960"/>
            <a:ext cx="2133600" cy="245710"/>
          </a:xfrm>
        </p:spPr>
        <p:txBody>
          <a:bodyPr anchor="ctr">
            <a:normAutofit/>
          </a:bodyPr>
          <a:lstStyle/>
          <a:p>
            <a:pPr>
              <a:lnSpc>
                <a:spcPct val="90000"/>
              </a:lnSpc>
              <a:spcAft>
                <a:spcPts val="600"/>
              </a:spcAft>
            </a:pPr>
            <a:fld id="{8282D8D2-F5F0-2744-864E-8466BE2E099D}" type="datetime2">
              <a:rPr lang="fr-FR" sz="1100" smtClean="0"/>
              <a:pPr>
                <a:lnSpc>
                  <a:spcPct val="90000"/>
                </a:lnSpc>
                <a:spcAft>
                  <a:spcPts val="600"/>
                </a:spcAft>
              </a:pPr>
              <a:t>vendredi 5 juin 2026</a:t>
            </a:fld>
            <a:endParaRPr lang="fr-FR" sz="1100"/>
          </a:p>
        </p:txBody>
      </p:sp>
      <p:sp>
        <p:nvSpPr>
          <p:cNvPr id="4" name="Espace réservé du pied de page 3">
            <a:extLst>
              <a:ext uri="{FF2B5EF4-FFF2-40B4-BE49-F238E27FC236}">
                <a16:creationId xmlns:a16="http://schemas.microsoft.com/office/drawing/2014/main" id="{FADCBA90-B00B-B9BB-1FDC-8D0626E94228}"/>
              </a:ext>
            </a:extLst>
          </p:cNvPr>
          <p:cNvSpPr>
            <a:spLocks noGrp="1"/>
          </p:cNvSpPr>
          <p:nvPr>
            <p:ph type="ftr" sz="quarter" idx="11"/>
          </p:nvPr>
        </p:nvSpPr>
        <p:spPr>
          <a:xfrm>
            <a:off x="717092" y="6600960"/>
            <a:ext cx="5302708" cy="245710"/>
          </a:xfrm>
        </p:spPr>
        <p:txBody>
          <a:bodyPr anchor="ctr">
            <a:normAutofit/>
          </a:bodyPr>
          <a:lstStyle/>
          <a:p>
            <a:pPr>
              <a:lnSpc>
                <a:spcPct val="90000"/>
              </a:lnSpc>
              <a:spcAft>
                <a:spcPts val="600"/>
              </a:spcAft>
            </a:pPr>
            <a:r>
              <a:rPr lang="fr-FR" sz="1100"/>
              <a:t>S. Lamrous</a:t>
            </a:r>
          </a:p>
        </p:txBody>
      </p:sp>
      <p:sp>
        <p:nvSpPr>
          <p:cNvPr id="5" name="Espace réservé du contenu 4">
            <a:extLst>
              <a:ext uri="{FF2B5EF4-FFF2-40B4-BE49-F238E27FC236}">
                <a16:creationId xmlns:a16="http://schemas.microsoft.com/office/drawing/2014/main" id="{5A7B3D89-27CF-BB46-8CCC-246C745D2653}"/>
              </a:ext>
            </a:extLst>
          </p:cNvPr>
          <p:cNvSpPr>
            <a:spLocks noGrp="1"/>
          </p:cNvSpPr>
          <p:nvPr>
            <p:ph sz="quarter" idx="13"/>
          </p:nvPr>
        </p:nvSpPr>
        <p:spPr>
          <a:xfrm>
            <a:off x="874521" y="1666180"/>
            <a:ext cx="4643684" cy="4751388"/>
          </a:xfrm>
        </p:spPr>
        <p:txBody>
          <a:bodyPr>
            <a:normAutofit/>
          </a:bodyPr>
          <a:lstStyle/>
          <a:p>
            <a:pPr>
              <a:lnSpc>
                <a:spcPct val="90000"/>
              </a:lnSpc>
            </a:pPr>
            <a:r>
              <a:rPr lang="fr-FR" sz="1800" dirty="0"/>
              <a:t>Audience ciblée</a:t>
            </a:r>
          </a:p>
          <a:p>
            <a:pPr lvl="1">
              <a:lnSpc>
                <a:spcPct val="90000"/>
              </a:lnSpc>
            </a:pPr>
            <a:r>
              <a:rPr lang="fr-FR" sz="1800" dirty="0"/>
              <a:t>Un bon article ne s’adresse pas à tout le monde, mais bien à une cible précise. </a:t>
            </a:r>
          </a:p>
          <a:p>
            <a:pPr lvl="1">
              <a:lnSpc>
                <a:spcPct val="90000"/>
              </a:lnSpc>
            </a:pPr>
            <a:r>
              <a:rPr lang="fr-FR" sz="1800" dirty="0"/>
              <a:t>C’est le concept du </a:t>
            </a:r>
            <a:r>
              <a:rPr lang="fr-FR" sz="1800" dirty="0" err="1"/>
              <a:t>buyer</a:t>
            </a:r>
            <a:r>
              <a:rPr lang="fr-FR" sz="1800" dirty="0"/>
              <a:t> persona : connaître son audience pour mieux lui parler.</a:t>
            </a:r>
          </a:p>
          <a:p>
            <a:pPr lvl="2">
              <a:lnSpc>
                <a:spcPct val="90000"/>
              </a:lnSpc>
            </a:pPr>
            <a:r>
              <a:rPr lang="fr-FR" sz="1800" dirty="0"/>
              <a:t>À qui s’adresse mon article ? Débutants, experts, professionnels</a:t>
            </a:r>
            <a:r>
              <a:rPr lang="fr-FR" sz="1800" b="1" dirty="0"/>
              <a:t> </a:t>
            </a:r>
            <a:r>
              <a:rPr lang="fr-FR" sz="1800" dirty="0"/>
              <a:t>?</a:t>
            </a:r>
          </a:p>
          <a:p>
            <a:pPr lvl="2">
              <a:lnSpc>
                <a:spcPct val="90000"/>
              </a:lnSpc>
            </a:pPr>
            <a:r>
              <a:rPr lang="fr-FR" sz="1800" dirty="0"/>
              <a:t>Quels sont les besoins et attentes de mon audience ?</a:t>
            </a:r>
          </a:p>
          <a:p>
            <a:pPr lvl="2">
              <a:lnSpc>
                <a:spcPct val="90000"/>
              </a:lnSpc>
            </a:pPr>
            <a:r>
              <a:rPr lang="fr-FR" sz="1800" dirty="0"/>
              <a:t>Quel ton et style adopter pour capter l’attention du lecteur ?</a:t>
            </a:r>
          </a:p>
        </p:txBody>
      </p:sp>
      <p:pic>
        <p:nvPicPr>
          <p:cNvPr id="4098" name="Picture 2" descr="icône d'audience cible pour votre site Web, mobile, présentation et  conception de logo. 25397119 Art vectoriel chez Vecteezy">
            <a:extLst>
              <a:ext uri="{FF2B5EF4-FFF2-40B4-BE49-F238E27FC236}">
                <a16:creationId xmlns:a16="http://schemas.microsoft.com/office/drawing/2014/main" id="{F53D9B6D-EFE0-6767-496B-912CEA4372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249" r="12274" b="-1"/>
          <a:stretch>
            <a:fillRect/>
          </a:stretch>
        </p:blipFill>
        <p:spPr bwMode="auto">
          <a:xfrm>
            <a:off x="6019800" y="1944476"/>
            <a:ext cx="2331229" cy="3088700"/>
          </a:xfrm>
          <a:prstGeom prst="rect">
            <a:avLst/>
          </a:prstGeom>
          <a:solidFill>
            <a:srgbClr val="FFFFFF"/>
          </a:solidFill>
        </p:spPr>
      </p:pic>
    </p:spTree>
    <p:extLst>
      <p:ext uri="{BB962C8B-B14F-4D97-AF65-F5344CB8AC3E}">
        <p14:creationId xmlns:p14="http://schemas.microsoft.com/office/powerpoint/2010/main" val="748061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48F15C-6CE5-14ED-5EB8-A6E37B0A3D75}"/>
              </a:ext>
            </a:extLst>
          </p:cNvPr>
          <p:cNvSpPr>
            <a:spLocks noGrp="1"/>
          </p:cNvSpPr>
          <p:nvPr>
            <p:ph type="title"/>
          </p:nvPr>
        </p:nvSpPr>
        <p:spPr/>
        <p:txBody>
          <a:bodyPr/>
          <a:lstStyle/>
          <a:p>
            <a:r>
              <a:rPr lang="fr-FR" dirty="0"/>
              <a:t>A retenir</a:t>
            </a:r>
          </a:p>
        </p:txBody>
      </p:sp>
      <p:sp>
        <p:nvSpPr>
          <p:cNvPr id="3" name="Espace réservé de la date 2">
            <a:extLst>
              <a:ext uri="{FF2B5EF4-FFF2-40B4-BE49-F238E27FC236}">
                <a16:creationId xmlns:a16="http://schemas.microsoft.com/office/drawing/2014/main" id="{D49365BB-B494-474C-0CC3-3960F2E4FA35}"/>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DAFAB166-673B-9E83-1019-D564B685E0E7}"/>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229B7582-B9AB-797A-5318-9811BC1A5539}"/>
              </a:ext>
            </a:extLst>
          </p:cNvPr>
          <p:cNvSpPr>
            <a:spLocks noGrp="1"/>
          </p:cNvSpPr>
          <p:nvPr>
            <p:ph sz="quarter" idx="13"/>
          </p:nvPr>
        </p:nvSpPr>
        <p:spPr>
          <a:xfrm>
            <a:off x="728244" y="1234137"/>
            <a:ext cx="8040227" cy="2538614"/>
          </a:xfrm>
        </p:spPr>
        <p:txBody>
          <a:bodyPr>
            <a:normAutofit/>
          </a:bodyPr>
          <a:lstStyle/>
          <a:p>
            <a:endParaRPr lang="fr-FR" dirty="0"/>
          </a:p>
          <a:p>
            <a:r>
              <a:rPr lang="fr-FR" dirty="0"/>
              <a:t> Un contenu </a:t>
            </a:r>
          </a:p>
          <a:p>
            <a:pPr lvl="1"/>
            <a:r>
              <a:rPr lang="fr-FR" dirty="0">
                <a:solidFill>
                  <a:srgbClr val="FF0000"/>
                </a:solidFill>
              </a:rPr>
              <a:t>utile</a:t>
            </a:r>
            <a:r>
              <a:rPr lang="fr-FR" dirty="0"/>
              <a:t> répond à une problématique concrète. </a:t>
            </a:r>
          </a:p>
          <a:p>
            <a:pPr lvl="1"/>
            <a:r>
              <a:rPr lang="fr-FR" dirty="0">
                <a:solidFill>
                  <a:srgbClr val="FF0000"/>
                </a:solidFill>
              </a:rPr>
              <a:t>unique</a:t>
            </a:r>
            <a:r>
              <a:rPr lang="fr-FR" dirty="0"/>
              <a:t> apporte une vraie valeur ajoutée. </a:t>
            </a:r>
          </a:p>
          <a:p>
            <a:pPr lvl="1"/>
            <a:r>
              <a:rPr lang="fr-FR" dirty="0">
                <a:solidFill>
                  <a:srgbClr val="FF0000"/>
                </a:solidFill>
              </a:rPr>
              <a:t>ciblé</a:t>
            </a:r>
            <a:r>
              <a:rPr lang="fr-FR" dirty="0"/>
              <a:t> s’adresse aux bonnes personnes avec le bon ton. </a:t>
            </a:r>
          </a:p>
          <a:p>
            <a:endParaRPr lang="fr-FR" dirty="0"/>
          </a:p>
        </p:txBody>
      </p:sp>
      <p:pic>
        <p:nvPicPr>
          <p:cNvPr id="7" name="Picture 2" descr="icône d'audience cible pour votre site Web, mobile, présentation et  conception de logo. 25397119 Art vectoriel chez Vecteezy">
            <a:extLst>
              <a:ext uri="{FF2B5EF4-FFF2-40B4-BE49-F238E27FC236}">
                <a16:creationId xmlns:a16="http://schemas.microsoft.com/office/drawing/2014/main" id="{23EA5E57-383C-9852-7D14-6CAF4E4467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249" r="12274" b="-1"/>
          <a:stretch>
            <a:fillRect/>
          </a:stretch>
        </p:blipFill>
        <p:spPr bwMode="auto">
          <a:xfrm>
            <a:off x="6774872" y="3772751"/>
            <a:ext cx="1834167" cy="2430131"/>
          </a:xfrm>
          <a:prstGeom prst="rect">
            <a:avLst/>
          </a:prstGeom>
          <a:solidFill>
            <a:srgbClr val="FFFFFF"/>
          </a:solidFill>
        </p:spPr>
      </p:pic>
      <p:pic>
        <p:nvPicPr>
          <p:cNvPr id="5122" name="Picture 2" descr="Useful or Useless Symbol. Male Hand Turns Cubes and Changes the Word  `useless` To `useful` Stock Photo - Image of contrast, horizontal: 204951108">
            <a:extLst>
              <a:ext uri="{FF2B5EF4-FFF2-40B4-BE49-F238E27FC236}">
                <a16:creationId xmlns:a16="http://schemas.microsoft.com/office/drawing/2014/main" id="{B3751113-0E5B-B36B-016E-F88F51612E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818" y="4154378"/>
            <a:ext cx="2733675" cy="1666875"/>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a:extLst>
              <a:ext uri="{FF2B5EF4-FFF2-40B4-BE49-F238E27FC236}">
                <a16:creationId xmlns:a16="http://schemas.microsoft.com/office/drawing/2014/main" id="{53157768-D679-159D-7FB9-2373A3947586}"/>
              </a:ext>
            </a:extLst>
          </p:cNvPr>
          <p:cNvPicPr>
            <a:picLocks noChangeAspect="1"/>
          </p:cNvPicPr>
          <p:nvPr/>
        </p:nvPicPr>
        <p:blipFill>
          <a:blip r:embed="rId4"/>
          <a:stretch>
            <a:fillRect/>
          </a:stretch>
        </p:blipFill>
        <p:spPr>
          <a:xfrm>
            <a:off x="3825370" y="4195942"/>
            <a:ext cx="2714625" cy="1685925"/>
          </a:xfrm>
          <a:prstGeom prst="rect">
            <a:avLst/>
          </a:prstGeom>
        </p:spPr>
      </p:pic>
      <p:sp>
        <p:nvSpPr>
          <p:cNvPr id="10" name="ZoneTexte 9">
            <a:extLst>
              <a:ext uri="{FF2B5EF4-FFF2-40B4-BE49-F238E27FC236}">
                <a16:creationId xmlns:a16="http://schemas.microsoft.com/office/drawing/2014/main" id="{849FA428-B330-A1D0-DD50-154CDBF834C3}"/>
              </a:ext>
            </a:extLst>
          </p:cNvPr>
          <p:cNvSpPr txBox="1"/>
          <p:nvPr/>
        </p:nvSpPr>
        <p:spPr>
          <a:xfrm>
            <a:off x="7240980" y="6112371"/>
            <a:ext cx="1107163" cy="523220"/>
          </a:xfrm>
          <a:prstGeom prst="rect">
            <a:avLst/>
          </a:prstGeom>
          <a:noFill/>
        </p:spPr>
        <p:txBody>
          <a:bodyPr wrap="none" rtlCol="0">
            <a:spAutoFit/>
          </a:bodyPr>
          <a:lstStyle/>
          <a:p>
            <a:r>
              <a:rPr lang="fr-FR" sz="2800" b="1" dirty="0">
                <a:solidFill>
                  <a:schemeClr val="accent4"/>
                </a:solidFill>
              </a:rPr>
              <a:t>Target</a:t>
            </a:r>
          </a:p>
        </p:txBody>
      </p:sp>
      <p:sp>
        <p:nvSpPr>
          <p:cNvPr id="11" name="ZoneTexte 10">
            <a:extLst>
              <a:ext uri="{FF2B5EF4-FFF2-40B4-BE49-F238E27FC236}">
                <a16:creationId xmlns:a16="http://schemas.microsoft.com/office/drawing/2014/main" id="{7068F57B-BDC9-EA8A-F3EB-E902A553F071}"/>
              </a:ext>
            </a:extLst>
          </p:cNvPr>
          <p:cNvSpPr txBox="1"/>
          <p:nvPr/>
        </p:nvSpPr>
        <p:spPr>
          <a:xfrm>
            <a:off x="4604029" y="6106234"/>
            <a:ext cx="1265090" cy="523220"/>
          </a:xfrm>
          <a:prstGeom prst="rect">
            <a:avLst/>
          </a:prstGeom>
          <a:noFill/>
        </p:spPr>
        <p:txBody>
          <a:bodyPr wrap="none" rtlCol="0">
            <a:spAutoFit/>
          </a:bodyPr>
          <a:lstStyle/>
          <a:p>
            <a:r>
              <a:rPr lang="fr-FR" sz="2800" b="1" dirty="0">
                <a:solidFill>
                  <a:schemeClr val="accent4"/>
                </a:solidFill>
              </a:rPr>
              <a:t>Unique</a:t>
            </a:r>
          </a:p>
        </p:txBody>
      </p:sp>
      <p:sp>
        <p:nvSpPr>
          <p:cNvPr id="12" name="ZoneTexte 11">
            <a:extLst>
              <a:ext uri="{FF2B5EF4-FFF2-40B4-BE49-F238E27FC236}">
                <a16:creationId xmlns:a16="http://schemas.microsoft.com/office/drawing/2014/main" id="{EB962753-A9C1-DEBF-2E91-D38899F1F4EA}"/>
              </a:ext>
            </a:extLst>
          </p:cNvPr>
          <p:cNvSpPr txBox="1"/>
          <p:nvPr/>
        </p:nvSpPr>
        <p:spPr>
          <a:xfrm>
            <a:off x="1553397" y="6077740"/>
            <a:ext cx="1134221" cy="523220"/>
          </a:xfrm>
          <a:prstGeom prst="rect">
            <a:avLst/>
          </a:prstGeom>
          <a:noFill/>
        </p:spPr>
        <p:txBody>
          <a:bodyPr wrap="none" rtlCol="0">
            <a:spAutoFit/>
          </a:bodyPr>
          <a:lstStyle/>
          <a:p>
            <a:r>
              <a:rPr lang="en-US" sz="2800" b="1" noProof="0" dirty="0">
                <a:solidFill>
                  <a:schemeClr val="accent4"/>
                </a:solidFill>
              </a:rPr>
              <a:t>Useful</a:t>
            </a:r>
          </a:p>
        </p:txBody>
      </p:sp>
    </p:spTree>
    <p:extLst>
      <p:ext uri="{BB962C8B-B14F-4D97-AF65-F5344CB8AC3E}">
        <p14:creationId xmlns:p14="http://schemas.microsoft.com/office/powerpoint/2010/main" val="3019968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632732-357C-962B-6F4B-FC66320937D2}"/>
              </a:ext>
            </a:extLst>
          </p:cNvPr>
          <p:cNvSpPr>
            <a:spLocks noGrp="1"/>
          </p:cNvSpPr>
          <p:nvPr>
            <p:ph type="title"/>
          </p:nvPr>
        </p:nvSpPr>
        <p:spPr/>
        <p:txBody>
          <a:bodyPr/>
          <a:lstStyle/>
          <a:p>
            <a:r>
              <a:rPr lang="fr-FR" dirty="0"/>
              <a:t>Algorithme de Google Panda</a:t>
            </a:r>
          </a:p>
        </p:txBody>
      </p:sp>
      <p:sp>
        <p:nvSpPr>
          <p:cNvPr id="3" name="Espace réservé de la date 2">
            <a:extLst>
              <a:ext uri="{FF2B5EF4-FFF2-40B4-BE49-F238E27FC236}">
                <a16:creationId xmlns:a16="http://schemas.microsoft.com/office/drawing/2014/main" id="{BFD893C6-58EF-2EC0-FEE7-ED35CCE78718}"/>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0547A61F-AD3B-C893-1302-3D300793F645}"/>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05D7E2D3-9881-0DAF-C241-D7917428CDDF}"/>
              </a:ext>
            </a:extLst>
          </p:cNvPr>
          <p:cNvSpPr>
            <a:spLocks noGrp="1"/>
          </p:cNvSpPr>
          <p:nvPr>
            <p:ph sz="quarter" idx="13"/>
          </p:nvPr>
        </p:nvSpPr>
        <p:spPr>
          <a:xfrm>
            <a:off x="958300" y="1451495"/>
            <a:ext cx="7728500" cy="5053214"/>
          </a:xfrm>
        </p:spPr>
        <p:txBody>
          <a:bodyPr>
            <a:normAutofit fontScale="40000" lnSpcReduction="20000"/>
          </a:bodyPr>
          <a:lstStyle/>
          <a:p>
            <a:r>
              <a:rPr lang="fr-FR" sz="3300" b="1" dirty="0"/>
              <a:t>Pour lutter contre les contenus de faible qualité l’algorithme détecte :</a:t>
            </a:r>
          </a:p>
          <a:p>
            <a:pPr lvl="1"/>
            <a:r>
              <a:rPr lang="fr-FR" sz="3300" dirty="0"/>
              <a:t>les Spams, </a:t>
            </a:r>
          </a:p>
          <a:p>
            <a:pPr lvl="1"/>
            <a:r>
              <a:rPr lang="fr-FR" sz="3300" dirty="0"/>
              <a:t>les articles peu informatifs, </a:t>
            </a:r>
          </a:p>
          <a:p>
            <a:pPr lvl="1"/>
            <a:r>
              <a:rPr lang="fr-FR" sz="3300" dirty="0"/>
              <a:t>les sites qui ne fournissent pas de valeur ajoutée.</a:t>
            </a:r>
          </a:p>
          <a:p>
            <a:r>
              <a:rPr lang="fr-FR" sz="3300" b="1" dirty="0"/>
              <a:t>Critères d'évaluation :</a:t>
            </a:r>
          </a:p>
          <a:p>
            <a:pPr lvl="1"/>
            <a:r>
              <a:rPr lang="fr-FR" sz="3300" dirty="0"/>
              <a:t>Panda évalue plusieurs aspects des pages web selon :</a:t>
            </a:r>
          </a:p>
          <a:p>
            <a:pPr lvl="2"/>
            <a:r>
              <a:rPr lang="fr-FR" sz="3300" b="1" dirty="0"/>
              <a:t>L’originalité : </a:t>
            </a:r>
            <a:r>
              <a:rPr lang="fr-FR" sz="3300" dirty="0"/>
              <a:t>Le contenu doit être unique et ne pas être dupliqué d'autres sources.</a:t>
            </a:r>
          </a:p>
          <a:p>
            <a:pPr lvl="2"/>
            <a:r>
              <a:rPr lang="fr-FR" sz="3300" b="1" dirty="0"/>
              <a:t>La profondeur : </a:t>
            </a:r>
            <a:r>
              <a:rPr lang="fr-FR" sz="3300" dirty="0"/>
              <a:t>Les articles doivent fournir des informations détaillées et pertinentes.</a:t>
            </a:r>
          </a:p>
          <a:p>
            <a:pPr lvl="2"/>
            <a:r>
              <a:rPr lang="fr-FR" sz="3300" b="1" dirty="0"/>
              <a:t>La valeur ajoutée </a:t>
            </a:r>
            <a:r>
              <a:rPr lang="fr-FR" sz="3300" dirty="0"/>
              <a:t>: Le contenu doit répondre aux besoins des utilisateurs et offrir des insights ou des solutions.</a:t>
            </a:r>
          </a:p>
          <a:p>
            <a:r>
              <a:rPr lang="fr-FR" sz="3300" b="1" dirty="0"/>
              <a:t>Classification des pages :</a:t>
            </a:r>
          </a:p>
          <a:p>
            <a:pPr lvl="1"/>
            <a:r>
              <a:rPr lang="fr-FR" sz="3300" dirty="0"/>
              <a:t>Chaque page reçoit une note de </a:t>
            </a:r>
            <a:r>
              <a:rPr lang="fr-FR" sz="3300" b="1" dirty="0"/>
              <a:t>qualité</a:t>
            </a:r>
            <a:r>
              <a:rPr lang="fr-FR" sz="3300" dirty="0"/>
              <a:t> qui influence son classement dans les résultats de recherche (SERP : </a:t>
            </a:r>
            <a:r>
              <a:rPr lang="fr-FR" sz="3300" b="1" dirty="0" err="1"/>
              <a:t>S</a:t>
            </a:r>
            <a:r>
              <a:rPr lang="fr-FR" sz="3300" dirty="0" err="1"/>
              <a:t>earch</a:t>
            </a:r>
            <a:r>
              <a:rPr lang="fr-FR" sz="3300" dirty="0"/>
              <a:t> </a:t>
            </a:r>
            <a:r>
              <a:rPr lang="fr-FR" sz="3300" b="1" dirty="0"/>
              <a:t>E</a:t>
            </a:r>
            <a:r>
              <a:rPr lang="fr-FR" sz="3300" dirty="0"/>
              <a:t>ngine </a:t>
            </a:r>
            <a:r>
              <a:rPr lang="fr-FR" sz="3300" b="1" dirty="0" err="1"/>
              <a:t>R</a:t>
            </a:r>
            <a:r>
              <a:rPr lang="fr-FR" sz="3300" dirty="0" err="1"/>
              <a:t>esults</a:t>
            </a:r>
            <a:r>
              <a:rPr lang="fr-FR" sz="3300" dirty="0"/>
              <a:t> </a:t>
            </a:r>
            <a:r>
              <a:rPr lang="fr-FR" sz="3300" b="1" dirty="0"/>
              <a:t>P</a:t>
            </a:r>
            <a:r>
              <a:rPr lang="fr-FR" sz="3300" dirty="0"/>
              <a:t>age). </a:t>
            </a:r>
          </a:p>
          <a:p>
            <a:pPr lvl="1"/>
            <a:r>
              <a:rPr lang="fr-FR" sz="3300" dirty="0"/>
              <a:t>Les pages de haute qualité sont favorisées, tandis que celles de faible qualité peuvent être pénalisées.</a:t>
            </a:r>
          </a:p>
          <a:p>
            <a:r>
              <a:rPr lang="fr-FR" sz="3300" b="1" dirty="0"/>
              <a:t>Mises à jour régulières :</a:t>
            </a:r>
          </a:p>
          <a:p>
            <a:pPr lvl="1"/>
            <a:r>
              <a:rPr lang="fr-FR" sz="3300" dirty="0"/>
              <a:t>Panda a subi plusieurs mises à jour pour affiner ses critères et s'adapter aux nouvelles tendances du web. </a:t>
            </a:r>
          </a:p>
          <a:p>
            <a:pPr lvl="1"/>
            <a:r>
              <a:rPr lang="fr-FR" sz="3300" dirty="0"/>
              <a:t>Ces mises à jour visent à améliorer la précision de l'évaluation de la qualité du contenu.</a:t>
            </a:r>
          </a:p>
          <a:p>
            <a:r>
              <a:rPr lang="fr-FR" sz="3300" b="1" dirty="0"/>
              <a:t>Impact sur le SEO :</a:t>
            </a:r>
          </a:p>
          <a:p>
            <a:pPr lvl="1"/>
            <a:r>
              <a:rPr lang="fr-FR" sz="3300" dirty="0"/>
              <a:t>Les webmasters doivent se concentrer sur la création de contenu de qualité pour éviter les pénalités de Panda. </a:t>
            </a:r>
          </a:p>
          <a:p>
            <a:pPr lvl="1"/>
            <a:r>
              <a:rPr lang="fr-FR" sz="3300" dirty="0"/>
              <a:t>Evolution des pratiques de référencement (SEO),</a:t>
            </a:r>
          </a:p>
          <a:p>
            <a:pPr lvl="2"/>
            <a:r>
              <a:rPr lang="fr-FR" sz="3100" dirty="0">
                <a:solidFill>
                  <a:srgbClr val="FF0000"/>
                </a:solidFill>
              </a:rPr>
              <a:t>la qualité plus que la quantité.</a:t>
            </a:r>
          </a:p>
          <a:p>
            <a:r>
              <a:rPr lang="fr-FR" sz="3300" b="1" dirty="0"/>
              <a:t>Exemples de pénalités :</a:t>
            </a:r>
          </a:p>
          <a:p>
            <a:pPr lvl="1"/>
            <a:r>
              <a:rPr lang="fr-FR" sz="3300" dirty="0"/>
              <a:t>Les sites qui utilisent des techniques de </a:t>
            </a:r>
            <a:r>
              <a:rPr lang="fr-FR" sz="3300" dirty="0">
                <a:solidFill>
                  <a:srgbClr val="FF0000"/>
                </a:solidFill>
              </a:rPr>
              <a:t>black </a:t>
            </a:r>
            <a:r>
              <a:rPr lang="fr-FR" sz="3300" dirty="0" err="1">
                <a:solidFill>
                  <a:srgbClr val="FF0000"/>
                </a:solidFill>
              </a:rPr>
              <a:t>hat</a:t>
            </a:r>
            <a:r>
              <a:rPr lang="fr-FR" sz="3300" dirty="0">
                <a:solidFill>
                  <a:srgbClr val="FF0000"/>
                </a:solidFill>
              </a:rPr>
              <a:t> </a:t>
            </a:r>
            <a:r>
              <a:rPr lang="fr-FR" sz="3300" dirty="0"/>
              <a:t>SEO comme le bourrage de mots-clés </a:t>
            </a:r>
          </a:p>
          <a:p>
            <a:pPr lvl="1"/>
            <a:r>
              <a:rPr lang="fr-FR" sz="3300" dirty="0"/>
              <a:t>Qui publient du </a:t>
            </a:r>
            <a:r>
              <a:rPr lang="fr-FR" sz="3300" dirty="0">
                <a:solidFill>
                  <a:srgbClr val="FF0000"/>
                </a:solidFill>
              </a:rPr>
              <a:t>contenu généré automatiquement !</a:t>
            </a:r>
            <a:endParaRPr lang="fr-FR" dirty="0">
              <a:solidFill>
                <a:srgbClr val="FF0000"/>
              </a:solidFill>
            </a:endParaRPr>
          </a:p>
        </p:txBody>
      </p:sp>
    </p:spTree>
    <p:extLst>
      <p:ext uri="{BB962C8B-B14F-4D97-AF65-F5344CB8AC3E}">
        <p14:creationId xmlns:p14="http://schemas.microsoft.com/office/powerpoint/2010/main" val="949362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795CEE-BE2D-AA3B-7479-353F6D99C9C2}"/>
              </a:ext>
            </a:extLst>
          </p:cNvPr>
          <p:cNvSpPr>
            <a:spLocks noGrp="1"/>
          </p:cNvSpPr>
          <p:nvPr>
            <p:ph type="title"/>
          </p:nvPr>
        </p:nvSpPr>
        <p:spPr/>
        <p:txBody>
          <a:bodyPr/>
          <a:lstStyle/>
          <a:p>
            <a:r>
              <a:rPr lang="fr-FR" dirty="0"/>
              <a:t>La SERP (</a:t>
            </a:r>
            <a:r>
              <a:rPr lang="fr-FR" dirty="0" err="1"/>
              <a:t>Search</a:t>
            </a:r>
            <a:r>
              <a:rPr lang="fr-FR" dirty="0"/>
              <a:t> Engine </a:t>
            </a:r>
            <a:r>
              <a:rPr lang="fr-FR" dirty="0" err="1"/>
              <a:t>Results</a:t>
            </a:r>
            <a:r>
              <a:rPr lang="fr-FR" dirty="0"/>
              <a:t> Page)</a:t>
            </a:r>
          </a:p>
        </p:txBody>
      </p:sp>
      <p:sp>
        <p:nvSpPr>
          <p:cNvPr id="3" name="Espace réservé de la date 2">
            <a:extLst>
              <a:ext uri="{FF2B5EF4-FFF2-40B4-BE49-F238E27FC236}">
                <a16:creationId xmlns:a16="http://schemas.microsoft.com/office/drawing/2014/main" id="{232525E9-FA0D-1FC6-9112-A0E8D1F8AABF}"/>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43CB1190-398D-3CE2-B76B-75DB6927A20C}"/>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216BFE05-0561-CD63-CDE6-6801324ECA8D}"/>
              </a:ext>
            </a:extLst>
          </p:cNvPr>
          <p:cNvSpPr>
            <a:spLocks noGrp="1"/>
          </p:cNvSpPr>
          <p:nvPr>
            <p:ph sz="quarter" idx="13"/>
          </p:nvPr>
        </p:nvSpPr>
        <p:spPr>
          <a:xfrm>
            <a:off x="958300" y="1451494"/>
            <a:ext cx="7593418" cy="5593541"/>
          </a:xfrm>
        </p:spPr>
        <p:txBody>
          <a:bodyPr>
            <a:normAutofit fontScale="62500" lnSpcReduction="20000"/>
          </a:bodyPr>
          <a:lstStyle/>
          <a:p>
            <a:pPr marL="0" indent="0">
              <a:buNone/>
            </a:pPr>
            <a:r>
              <a:rPr lang="fr-FR" dirty="0"/>
              <a:t>Page web générée par un moteur de recherche, après qu'un internaute ait lancé une requête. </a:t>
            </a:r>
          </a:p>
          <a:p>
            <a:pPr marL="0" indent="0">
              <a:buNone/>
            </a:pPr>
            <a:r>
              <a:rPr lang="fr-FR" b="1" dirty="0"/>
              <a:t>Affichage des résultats</a:t>
            </a:r>
            <a:r>
              <a:rPr lang="fr-FR" dirty="0"/>
              <a:t> : La SERP affiche une liste de résultats pertinents en réponse à la requête de l'utilisateur. Cela inclut </a:t>
            </a:r>
          </a:p>
          <a:p>
            <a:pPr lvl="1"/>
            <a:r>
              <a:rPr lang="fr-FR" dirty="0"/>
              <a:t>des liens vers des sites web,</a:t>
            </a:r>
          </a:p>
          <a:p>
            <a:pPr lvl="1"/>
            <a:r>
              <a:rPr lang="fr-FR" dirty="0"/>
              <a:t>des extraits enrichis,</a:t>
            </a:r>
          </a:p>
          <a:p>
            <a:pPr lvl="1"/>
            <a:r>
              <a:rPr lang="fr-FR" dirty="0"/>
              <a:t>des images, des vidéos,</a:t>
            </a:r>
          </a:p>
          <a:p>
            <a:pPr lvl="1"/>
            <a:r>
              <a:rPr lang="fr-FR" dirty="0"/>
              <a:t>et parfois des annonces payantes.</a:t>
            </a:r>
          </a:p>
          <a:p>
            <a:r>
              <a:rPr lang="fr-FR" b="1" dirty="0"/>
              <a:t>Types de résultats</a:t>
            </a:r>
            <a:r>
              <a:rPr lang="fr-FR" dirty="0"/>
              <a:t> :</a:t>
            </a:r>
          </a:p>
          <a:p>
            <a:pPr lvl="1"/>
            <a:r>
              <a:rPr lang="fr-FR" b="1" dirty="0"/>
              <a:t>Résultats organiques</a:t>
            </a:r>
            <a:r>
              <a:rPr lang="fr-FR" dirty="0"/>
              <a:t> : Ce sont les résultats non payants qui apparaissent en fonction de la pertinence et de la </a:t>
            </a:r>
            <a:r>
              <a:rPr lang="fr-FR" b="1" dirty="0">
                <a:solidFill>
                  <a:srgbClr val="FF0000"/>
                </a:solidFill>
              </a:rPr>
              <a:t>qualité </a:t>
            </a:r>
            <a:r>
              <a:rPr lang="fr-FR" dirty="0"/>
              <a:t>du contenu.</a:t>
            </a:r>
          </a:p>
          <a:p>
            <a:pPr lvl="1"/>
            <a:r>
              <a:rPr lang="fr-FR" b="1" dirty="0"/>
              <a:t>Annonces payantes</a:t>
            </a:r>
            <a:r>
              <a:rPr lang="fr-FR" dirty="0"/>
              <a:t> : Ces résultats sont souvent marqués comme "</a:t>
            </a:r>
            <a:r>
              <a:rPr lang="fr-FR" b="1" dirty="0">
                <a:solidFill>
                  <a:srgbClr val="FF0000"/>
                </a:solidFill>
              </a:rPr>
              <a:t>Annonce</a:t>
            </a:r>
            <a:r>
              <a:rPr lang="fr-FR" dirty="0"/>
              <a:t>" et apparaissent généralement en haut ou en bas de la page.</a:t>
            </a:r>
          </a:p>
          <a:p>
            <a:pPr lvl="1"/>
            <a:r>
              <a:rPr lang="fr-FR" b="1" dirty="0"/>
              <a:t>Extraits enrichis</a:t>
            </a:r>
            <a:r>
              <a:rPr lang="fr-FR" dirty="0"/>
              <a:t> : Ce sont des résultats qui affichent des informations supplémentaires, comme des </a:t>
            </a:r>
            <a:r>
              <a:rPr lang="fr-FR" b="1" dirty="0">
                <a:solidFill>
                  <a:srgbClr val="FF0000"/>
                </a:solidFill>
              </a:rPr>
              <a:t>avis</a:t>
            </a:r>
            <a:r>
              <a:rPr lang="fr-FR" dirty="0"/>
              <a:t>, des </a:t>
            </a:r>
            <a:r>
              <a:rPr lang="fr-FR" b="1" dirty="0">
                <a:solidFill>
                  <a:srgbClr val="FF0000"/>
                </a:solidFill>
              </a:rPr>
              <a:t>notes</a:t>
            </a:r>
            <a:r>
              <a:rPr lang="fr-FR" dirty="0"/>
              <a:t>, ou des </a:t>
            </a:r>
            <a:r>
              <a:rPr lang="fr-FR" b="1" dirty="0">
                <a:solidFill>
                  <a:srgbClr val="FF0000"/>
                </a:solidFill>
              </a:rPr>
              <a:t>réponses directes à des questions</a:t>
            </a:r>
            <a:r>
              <a:rPr lang="fr-FR" dirty="0"/>
              <a:t>.</a:t>
            </a:r>
          </a:p>
          <a:p>
            <a:r>
              <a:rPr lang="fr-FR" b="1" dirty="0"/>
              <a:t>Importance pour le SEO</a:t>
            </a:r>
            <a:r>
              <a:rPr lang="fr-FR" dirty="0"/>
              <a:t> : Comprendre la SERP est crucial pour les spécialistes du référencement (SEO), car cela les aide à optimiser leur contenu pour améliorer leur visibilité et leur classement dans les résultats de recherche.</a:t>
            </a:r>
          </a:p>
          <a:p>
            <a:r>
              <a:rPr lang="fr-FR" b="1" dirty="0"/>
              <a:t>Évolution constante</a:t>
            </a:r>
            <a:r>
              <a:rPr lang="fr-FR" dirty="0"/>
              <a:t> : Les SERP évoluent régulièrement avec des mises à jour d'algorithmes et des changements dans les préférences des utilisateurs, ce qui rend essentiel pour les webmasters de rester informés </a:t>
            </a:r>
            <a:r>
              <a:rPr lang="fr-FR" b="1" dirty="0">
                <a:solidFill>
                  <a:srgbClr val="FF0000"/>
                </a:solidFill>
              </a:rPr>
              <a:t>des tendances.</a:t>
            </a:r>
          </a:p>
          <a:p>
            <a:r>
              <a:rPr lang="fr-FR" dirty="0"/>
              <a:t>En résumé, la SERP est un élément fondamental de l'expérience de recherche en ligne, car elle détermine comment et où les utilisateurs trouvent l'information qu'ils recherchent.</a:t>
            </a:r>
          </a:p>
          <a:p>
            <a:endParaRPr lang="fr-FR" dirty="0"/>
          </a:p>
        </p:txBody>
      </p:sp>
    </p:spTree>
    <p:extLst>
      <p:ext uri="{BB962C8B-B14F-4D97-AF65-F5344CB8AC3E}">
        <p14:creationId xmlns:p14="http://schemas.microsoft.com/office/powerpoint/2010/main" val="2952743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579F5F-34AD-5F3E-C141-0BA1A3FDDB50}"/>
              </a:ext>
            </a:extLst>
          </p:cNvPr>
          <p:cNvSpPr>
            <a:spLocks noGrp="1"/>
          </p:cNvSpPr>
          <p:nvPr>
            <p:ph type="title"/>
          </p:nvPr>
        </p:nvSpPr>
        <p:spPr/>
        <p:txBody>
          <a:bodyPr>
            <a:normAutofit fontScale="90000"/>
          </a:bodyPr>
          <a:lstStyle/>
          <a:p>
            <a:r>
              <a:rPr lang="fr-FR" noProof="0" dirty="0"/>
              <a:t>Outils pour analyser la qualité du contenu (cœur de Panda)</a:t>
            </a:r>
          </a:p>
        </p:txBody>
      </p:sp>
      <p:sp>
        <p:nvSpPr>
          <p:cNvPr id="3" name="Espace réservé de la date 2">
            <a:extLst>
              <a:ext uri="{FF2B5EF4-FFF2-40B4-BE49-F238E27FC236}">
                <a16:creationId xmlns:a16="http://schemas.microsoft.com/office/drawing/2014/main" id="{EE38074F-F66E-5762-67AA-B615D8B9153D}"/>
              </a:ext>
            </a:extLst>
          </p:cNvPr>
          <p:cNvSpPr>
            <a:spLocks noGrp="1"/>
          </p:cNvSpPr>
          <p:nvPr>
            <p:ph type="dt" sz="half" idx="10"/>
          </p:nvPr>
        </p:nvSpPr>
        <p:spPr/>
        <p:txBody>
          <a:bodyPr/>
          <a:lstStyle/>
          <a:p>
            <a:fld id="{8282D8D2-F5F0-2744-864E-8466BE2E099D}" type="datetime2">
              <a:rPr lang="fr-FR" noProof="0" smtClean="0"/>
              <a:t>vendredi 5 juin 2026</a:t>
            </a:fld>
            <a:endParaRPr lang="fr-FR" noProof="0" dirty="0"/>
          </a:p>
        </p:txBody>
      </p:sp>
      <p:sp>
        <p:nvSpPr>
          <p:cNvPr id="4" name="Espace réservé du pied de page 3">
            <a:extLst>
              <a:ext uri="{FF2B5EF4-FFF2-40B4-BE49-F238E27FC236}">
                <a16:creationId xmlns:a16="http://schemas.microsoft.com/office/drawing/2014/main" id="{2408C3DA-62B8-DC9D-5D2D-AFA5AB04DA7E}"/>
              </a:ext>
            </a:extLst>
          </p:cNvPr>
          <p:cNvSpPr>
            <a:spLocks noGrp="1"/>
          </p:cNvSpPr>
          <p:nvPr>
            <p:ph type="ftr" sz="quarter" idx="11"/>
          </p:nvPr>
        </p:nvSpPr>
        <p:spPr/>
        <p:txBody>
          <a:bodyPr/>
          <a:lstStyle/>
          <a:p>
            <a:r>
              <a:rPr lang="fr-FR" noProof="0" dirty="0"/>
              <a:t>S. Lamrous</a:t>
            </a:r>
          </a:p>
        </p:txBody>
      </p:sp>
      <p:sp>
        <p:nvSpPr>
          <p:cNvPr id="5" name="Espace réservé du contenu 4">
            <a:extLst>
              <a:ext uri="{FF2B5EF4-FFF2-40B4-BE49-F238E27FC236}">
                <a16:creationId xmlns:a16="http://schemas.microsoft.com/office/drawing/2014/main" id="{A1CF50BF-01CE-8D91-A5DC-C87ACC14DEBF}"/>
              </a:ext>
            </a:extLst>
          </p:cNvPr>
          <p:cNvSpPr>
            <a:spLocks noGrp="1"/>
          </p:cNvSpPr>
          <p:nvPr>
            <p:ph sz="quarter" idx="13"/>
          </p:nvPr>
        </p:nvSpPr>
        <p:spPr>
          <a:xfrm>
            <a:off x="958300" y="1451495"/>
            <a:ext cx="7899950" cy="4751388"/>
          </a:xfrm>
        </p:spPr>
        <p:txBody>
          <a:bodyPr>
            <a:normAutofit fontScale="92500" lnSpcReduction="10000"/>
          </a:bodyPr>
          <a:lstStyle/>
          <a:p>
            <a:r>
              <a:rPr lang="fr-FR" noProof="0" dirty="0"/>
              <a:t>Panda pénalise : </a:t>
            </a:r>
          </a:p>
          <a:p>
            <a:pPr lvl="1"/>
            <a:r>
              <a:rPr lang="fr-FR" noProof="0" dirty="0"/>
              <a:t>contenu dupliqué</a:t>
            </a:r>
          </a:p>
          <a:p>
            <a:pPr lvl="1"/>
            <a:r>
              <a:rPr lang="fr-FR" noProof="0" dirty="0"/>
              <a:t>faible qualité</a:t>
            </a:r>
          </a:p>
          <a:p>
            <a:pPr lvl="1"/>
            <a:r>
              <a:rPr lang="fr-FR" noProof="0" dirty="0"/>
              <a:t>content </a:t>
            </a:r>
            <a:r>
              <a:rPr lang="fr-FR" noProof="0" dirty="0" err="1"/>
              <a:t>farmspages</a:t>
            </a:r>
            <a:r>
              <a:rPr lang="fr-FR" noProof="0" dirty="0"/>
              <a:t> </a:t>
            </a:r>
          </a:p>
          <a:p>
            <a:pPr lvl="1"/>
            <a:r>
              <a:rPr lang="fr-FR" noProof="0" dirty="0"/>
              <a:t>peu utiles</a:t>
            </a:r>
          </a:p>
          <a:p>
            <a:pPr marL="457200" lvl="1" indent="0">
              <a:buNone/>
            </a:pPr>
            <a:r>
              <a:rPr lang="fr-FR" noProof="0" dirty="0"/>
              <a:t>✅ Outils </a:t>
            </a:r>
            <a:r>
              <a:rPr lang="fr-FR" noProof="0" dirty="0" err="1"/>
              <a:t>essentielsScreaming</a:t>
            </a:r>
            <a:r>
              <a:rPr lang="fr-FR" noProof="0" dirty="0"/>
              <a:t> </a:t>
            </a:r>
          </a:p>
          <a:p>
            <a:pPr marL="457200" lvl="1" indent="0">
              <a:buNone/>
            </a:pPr>
            <a:r>
              <a:rPr lang="fr-FR" noProof="0" dirty="0"/>
              <a:t>	- </a:t>
            </a:r>
            <a:r>
              <a:rPr lang="fr-FR" noProof="0" dirty="0" err="1"/>
              <a:t>Frog</a:t>
            </a:r>
            <a:r>
              <a:rPr lang="fr-FR" noProof="0" dirty="0"/>
              <a:t> SEO Spider </a:t>
            </a:r>
          </a:p>
          <a:p>
            <a:pPr lvl="3"/>
            <a:r>
              <a:rPr lang="fr-FR" noProof="0" dirty="0"/>
              <a:t>Détecte les contenus dupliqués</a:t>
            </a:r>
          </a:p>
          <a:p>
            <a:pPr lvl="3"/>
            <a:r>
              <a:rPr lang="fr-FR" noProof="0" dirty="0"/>
              <a:t>Analyse </a:t>
            </a:r>
            <a:r>
              <a:rPr lang="fr-FR" noProof="0" dirty="0" err="1"/>
              <a:t>title</a:t>
            </a:r>
            <a:r>
              <a:rPr lang="fr-FR" noProof="0" dirty="0"/>
              <a:t>, </a:t>
            </a:r>
            <a:r>
              <a:rPr lang="fr-FR" noProof="0" dirty="0" err="1"/>
              <a:t>meta</a:t>
            </a:r>
            <a:r>
              <a:rPr lang="fr-FR" noProof="0" dirty="0"/>
              <a:t>, longueur de contenu</a:t>
            </a:r>
          </a:p>
          <a:p>
            <a:pPr marL="457200" lvl="1" indent="0">
              <a:buNone/>
            </a:pPr>
            <a:r>
              <a:rPr lang="fr-FR" noProof="0" dirty="0"/>
              <a:t>	- </a:t>
            </a:r>
            <a:r>
              <a:rPr lang="fr-FR" noProof="0" dirty="0" err="1"/>
              <a:t>Sitebulb</a:t>
            </a:r>
            <a:endParaRPr lang="fr-FR" noProof="0" dirty="0"/>
          </a:p>
          <a:p>
            <a:pPr lvl="3"/>
            <a:r>
              <a:rPr lang="fr-FR" noProof="0" dirty="0"/>
              <a:t>Analyse qualitative avancée (contenu pauvre, </a:t>
            </a:r>
            <a:r>
              <a:rPr lang="fr-FR" noProof="0" dirty="0" err="1"/>
              <a:t>thin</a:t>
            </a:r>
            <a:r>
              <a:rPr lang="fr-FR" noProof="0" dirty="0"/>
              <a:t> content)</a:t>
            </a:r>
          </a:p>
          <a:p>
            <a:pPr marL="457200" lvl="1" indent="0">
              <a:buNone/>
            </a:pPr>
            <a:r>
              <a:rPr lang="fr-FR" noProof="0" dirty="0"/>
              <a:t>	- </a:t>
            </a:r>
            <a:r>
              <a:rPr lang="fr-FR" noProof="0" dirty="0" err="1"/>
              <a:t>Copyscape</a:t>
            </a:r>
            <a:r>
              <a:rPr lang="fr-FR" noProof="0" dirty="0"/>
              <a:t> / </a:t>
            </a:r>
            <a:r>
              <a:rPr lang="fr-FR" noProof="0" dirty="0" err="1"/>
              <a:t>Siteliner</a:t>
            </a:r>
            <a:endParaRPr lang="fr-FR" noProof="0" dirty="0"/>
          </a:p>
          <a:p>
            <a:pPr lvl="3"/>
            <a:r>
              <a:rPr lang="fr-FR" noProof="0" dirty="0"/>
              <a:t>Détection de plagiat et duplication interne</a:t>
            </a:r>
          </a:p>
        </p:txBody>
      </p:sp>
    </p:spTree>
    <p:extLst>
      <p:ext uri="{BB962C8B-B14F-4D97-AF65-F5344CB8AC3E}">
        <p14:creationId xmlns:p14="http://schemas.microsoft.com/office/powerpoint/2010/main" val="3340904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BA6EDB-F5FD-B7A6-0EA5-1F4782B34783}"/>
              </a:ext>
            </a:extLst>
          </p:cNvPr>
          <p:cNvSpPr>
            <a:spLocks noGrp="1"/>
          </p:cNvSpPr>
          <p:nvPr>
            <p:ph type="title"/>
          </p:nvPr>
        </p:nvSpPr>
        <p:spPr/>
        <p:txBody>
          <a:bodyPr>
            <a:normAutofit fontScale="90000"/>
          </a:bodyPr>
          <a:lstStyle/>
          <a:p>
            <a:r>
              <a:rPr lang="fr-FR" altLang="zh-CN" dirty="0"/>
              <a:t>Exemple d’outils d’analyse de contenu SEO (précédent TP)</a:t>
            </a:r>
            <a:endParaRPr lang="zh-CN" altLang="en-US" dirty="0"/>
          </a:p>
        </p:txBody>
      </p:sp>
      <p:sp>
        <p:nvSpPr>
          <p:cNvPr id="3" name="Espace réservé de la date 2">
            <a:extLst>
              <a:ext uri="{FF2B5EF4-FFF2-40B4-BE49-F238E27FC236}">
                <a16:creationId xmlns:a16="http://schemas.microsoft.com/office/drawing/2014/main" id="{58097D9A-D61E-1E66-B768-930BE9A7F7F1}"/>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E325A532-C5D8-BDC9-82A7-D8088BE5F4D4}"/>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391AD793-B35E-5D99-5EFE-B5F99F9CCDDA}"/>
              </a:ext>
            </a:extLst>
          </p:cNvPr>
          <p:cNvSpPr>
            <a:spLocks noGrp="1"/>
          </p:cNvSpPr>
          <p:nvPr>
            <p:ph sz="quarter" idx="13"/>
          </p:nvPr>
        </p:nvSpPr>
        <p:spPr>
          <a:xfrm>
            <a:off x="958300" y="1451495"/>
            <a:ext cx="7195100" cy="4751388"/>
          </a:xfrm>
        </p:spPr>
        <p:txBody>
          <a:bodyPr>
            <a:normAutofit/>
          </a:bodyPr>
          <a:lstStyle/>
          <a:p>
            <a:r>
              <a:rPr lang="fr-FR" sz="2800" noProof="0" dirty="0"/>
              <a:t>Pour améliorer la qualité rédactionnelle</a:t>
            </a:r>
          </a:p>
          <a:p>
            <a:pPr lvl="1"/>
            <a:r>
              <a:rPr lang="fr-FR" sz="2400" b="1" noProof="0" dirty="0"/>
              <a:t>Surfer SEOO</a:t>
            </a:r>
          </a:p>
          <a:p>
            <a:pPr lvl="2"/>
            <a:r>
              <a:rPr lang="fr-FR" sz="2400" noProof="0" dirty="0" err="1"/>
              <a:t>ptimisation</a:t>
            </a:r>
            <a:r>
              <a:rPr lang="fr-FR" sz="2400" noProof="0" dirty="0"/>
              <a:t> basée sur SERP</a:t>
            </a:r>
          </a:p>
          <a:p>
            <a:pPr lvl="1"/>
            <a:r>
              <a:rPr lang="fr-FR" sz="2400" b="1" noProof="0" dirty="0" err="1"/>
              <a:t>Semrush</a:t>
            </a:r>
            <a:r>
              <a:rPr lang="fr-FR" sz="2400" b="1" noProof="0" dirty="0"/>
              <a:t> </a:t>
            </a:r>
            <a:r>
              <a:rPr lang="fr-FR" sz="2400" b="1" noProof="0" dirty="0" err="1"/>
              <a:t>Writing</a:t>
            </a:r>
            <a:r>
              <a:rPr lang="fr-FR" sz="2400" b="1" noProof="0" dirty="0"/>
              <a:t> Assistant</a:t>
            </a:r>
          </a:p>
          <a:p>
            <a:pPr lvl="2"/>
            <a:r>
              <a:rPr lang="fr-FR" sz="2400" noProof="0" dirty="0"/>
              <a:t>Score de qualité SEO + lisibilité</a:t>
            </a:r>
          </a:p>
          <a:p>
            <a:pPr lvl="1"/>
            <a:r>
              <a:rPr lang="fr-FR" sz="2400" b="1" noProof="0" dirty="0"/>
              <a:t>Yoast SEO (WordPress)</a:t>
            </a:r>
          </a:p>
          <a:p>
            <a:pPr lvl="2"/>
            <a:r>
              <a:rPr lang="fr-FR" sz="2400" noProof="0" dirty="0"/>
              <a:t>Analyse lisibilité + SEO basique</a:t>
            </a:r>
          </a:p>
          <a:p>
            <a:pPr lvl="1"/>
            <a:r>
              <a:rPr lang="fr-FR" sz="2400" b="1" noProof="0" dirty="0"/>
              <a:t>1.fr (français)</a:t>
            </a:r>
          </a:p>
          <a:p>
            <a:pPr lvl="2"/>
            <a:r>
              <a:rPr lang="fr-FR" sz="2400" noProof="0" dirty="0"/>
              <a:t>Très utile pour contenu francophone (champ lexical)</a:t>
            </a:r>
          </a:p>
        </p:txBody>
      </p:sp>
    </p:spTree>
    <p:extLst>
      <p:ext uri="{BB962C8B-B14F-4D97-AF65-F5344CB8AC3E}">
        <p14:creationId xmlns:p14="http://schemas.microsoft.com/office/powerpoint/2010/main" val="1626118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65EBE7-09E6-0764-5CCD-94440FC3872C}"/>
              </a:ext>
            </a:extLst>
          </p:cNvPr>
          <p:cNvSpPr>
            <a:spLocks noGrp="1"/>
          </p:cNvSpPr>
          <p:nvPr>
            <p:ph type="title"/>
          </p:nvPr>
        </p:nvSpPr>
        <p:spPr/>
        <p:txBody>
          <a:bodyPr/>
          <a:lstStyle/>
          <a:p>
            <a:r>
              <a:rPr lang="fr-FR" dirty="0"/>
              <a:t>Outils d’audit SEO global (détection impact Panda)</a:t>
            </a:r>
          </a:p>
        </p:txBody>
      </p:sp>
      <p:sp>
        <p:nvSpPr>
          <p:cNvPr id="3" name="Espace réservé de la date 2">
            <a:extLst>
              <a:ext uri="{FF2B5EF4-FFF2-40B4-BE49-F238E27FC236}">
                <a16:creationId xmlns:a16="http://schemas.microsoft.com/office/drawing/2014/main" id="{B3CED1EA-B16E-BEA7-5FEF-7E01B82DC97B}"/>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36B76299-9C88-1EB3-0289-DAA5BD6ABB9A}"/>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C6411BFF-2931-5A87-0829-DD88234F07B4}"/>
              </a:ext>
            </a:extLst>
          </p:cNvPr>
          <p:cNvSpPr>
            <a:spLocks noGrp="1"/>
          </p:cNvSpPr>
          <p:nvPr>
            <p:ph sz="quarter" idx="13"/>
          </p:nvPr>
        </p:nvSpPr>
        <p:spPr>
          <a:xfrm>
            <a:off x="958300" y="1451495"/>
            <a:ext cx="7728500" cy="4751388"/>
          </a:xfrm>
        </p:spPr>
        <p:txBody>
          <a:bodyPr>
            <a:normAutofit lnSpcReduction="10000"/>
          </a:bodyPr>
          <a:lstStyle/>
          <a:p>
            <a:r>
              <a:rPr lang="fr-FR" dirty="0"/>
              <a:t>Plateformes complètes</a:t>
            </a:r>
          </a:p>
          <a:p>
            <a:pPr lvl="1"/>
            <a:r>
              <a:rPr lang="fr-FR" dirty="0" err="1"/>
              <a:t>SEMrush</a:t>
            </a:r>
            <a:endParaRPr lang="fr-FR" dirty="0"/>
          </a:p>
          <a:p>
            <a:pPr lvl="2"/>
            <a:r>
              <a:rPr lang="fr-FR" dirty="0"/>
              <a:t>Audit de site</a:t>
            </a:r>
          </a:p>
          <a:p>
            <a:pPr lvl="2"/>
            <a:r>
              <a:rPr lang="fr-FR" dirty="0"/>
              <a:t>Détection pages de faible qualité</a:t>
            </a:r>
          </a:p>
          <a:p>
            <a:pPr lvl="1"/>
            <a:r>
              <a:rPr lang="fr-FR" dirty="0" err="1"/>
              <a:t>Ahrefs</a:t>
            </a:r>
            <a:endParaRPr lang="fr-FR" dirty="0"/>
          </a:p>
          <a:p>
            <a:pPr lvl="2"/>
            <a:r>
              <a:rPr lang="fr-FR" dirty="0"/>
              <a:t>Analyse de contenu + trafic</a:t>
            </a:r>
          </a:p>
          <a:p>
            <a:pPr lvl="2"/>
            <a:r>
              <a:rPr lang="fr-FR" dirty="0"/>
              <a:t>Pages avec peu de valeur</a:t>
            </a:r>
          </a:p>
          <a:p>
            <a:pPr lvl="1"/>
            <a:r>
              <a:rPr lang="fr-FR" dirty="0"/>
              <a:t>Moz Pro</a:t>
            </a:r>
          </a:p>
          <a:p>
            <a:pPr lvl="2"/>
            <a:r>
              <a:rPr lang="fr-FR" dirty="0"/>
              <a:t>Score de qualité et crawl</a:t>
            </a:r>
          </a:p>
          <a:p>
            <a:pPr marL="0" indent="0">
              <a:buNone/>
            </a:pPr>
            <a:r>
              <a:rPr lang="fr-FR" dirty="0"/>
              <a:t>👉 Ces outils permettent d’identifier :</a:t>
            </a:r>
          </a:p>
          <a:p>
            <a:pPr lvl="2"/>
            <a:r>
              <a:rPr lang="fr-FR" dirty="0"/>
              <a:t>pages à faible trafic</a:t>
            </a:r>
          </a:p>
          <a:p>
            <a:pPr lvl="2"/>
            <a:r>
              <a:rPr lang="fr-FR" dirty="0"/>
              <a:t>contenu mince</a:t>
            </a:r>
          </a:p>
          <a:p>
            <a:pPr lvl="2"/>
            <a:r>
              <a:rPr lang="fr-FR" dirty="0"/>
              <a:t>taux de rebond élevé</a:t>
            </a:r>
          </a:p>
        </p:txBody>
      </p:sp>
    </p:spTree>
    <p:extLst>
      <p:ext uri="{BB962C8B-B14F-4D97-AF65-F5344CB8AC3E}">
        <p14:creationId xmlns:p14="http://schemas.microsoft.com/office/powerpoint/2010/main" val="544226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CC09ED-6F4B-D79C-11AA-FDC89FA7BEC8}"/>
              </a:ext>
            </a:extLst>
          </p:cNvPr>
          <p:cNvSpPr>
            <a:spLocks noGrp="1"/>
          </p:cNvSpPr>
          <p:nvPr>
            <p:ph type="title"/>
          </p:nvPr>
        </p:nvSpPr>
        <p:spPr/>
        <p:txBody>
          <a:bodyPr/>
          <a:lstStyle/>
          <a:p>
            <a:r>
              <a:rPr lang="fr-FR" dirty="0"/>
              <a:t>Outils pour détecter une pénalité Panda</a:t>
            </a:r>
          </a:p>
        </p:txBody>
      </p:sp>
      <p:sp>
        <p:nvSpPr>
          <p:cNvPr id="3" name="Espace réservé de la date 2">
            <a:extLst>
              <a:ext uri="{FF2B5EF4-FFF2-40B4-BE49-F238E27FC236}">
                <a16:creationId xmlns:a16="http://schemas.microsoft.com/office/drawing/2014/main" id="{D04F17CD-3937-2C16-4BD3-6D1F2EE1411A}"/>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57B3F9F9-8035-E33C-C564-EDAEDB88F149}"/>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1634BDDE-9599-EC10-FFF7-78B332800019}"/>
              </a:ext>
            </a:extLst>
          </p:cNvPr>
          <p:cNvSpPr>
            <a:spLocks noGrp="1"/>
          </p:cNvSpPr>
          <p:nvPr>
            <p:ph sz="quarter" idx="13"/>
          </p:nvPr>
        </p:nvSpPr>
        <p:spPr>
          <a:xfrm>
            <a:off x="958300" y="1451495"/>
            <a:ext cx="7576100" cy="4751388"/>
          </a:xfrm>
        </p:spPr>
        <p:txBody>
          <a:bodyPr>
            <a:normAutofit fontScale="85000" lnSpcReduction="20000"/>
          </a:bodyPr>
          <a:lstStyle/>
          <a:p>
            <a:r>
              <a:rPr lang="fr-FR" dirty="0"/>
              <a:t>Panda n’est pas toujours explicite, donc on observe des signaux.</a:t>
            </a:r>
          </a:p>
          <a:p>
            <a:r>
              <a:rPr lang="fr-FR" dirty="0"/>
              <a:t>Indicateurs</a:t>
            </a:r>
          </a:p>
          <a:p>
            <a:pPr lvl="1"/>
            <a:r>
              <a:rPr lang="fr-FR" dirty="0"/>
              <a:t>chute brutale du trafic organique</a:t>
            </a:r>
          </a:p>
          <a:p>
            <a:pPr lvl="1"/>
            <a:r>
              <a:rPr lang="fr-FR" dirty="0"/>
              <a:t>pages désindexées</a:t>
            </a:r>
          </a:p>
          <a:p>
            <a:pPr lvl="1"/>
            <a:r>
              <a:rPr lang="fr-FR" dirty="0"/>
              <a:t>perte de positions</a:t>
            </a:r>
          </a:p>
          <a:p>
            <a:r>
              <a:rPr lang="fr-FR" dirty="0"/>
              <a:t>Outils</a:t>
            </a:r>
          </a:p>
          <a:p>
            <a:pPr lvl="1"/>
            <a:r>
              <a:rPr lang="fr-FR" dirty="0">
                <a:solidFill>
                  <a:srgbClr val="FF0000"/>
                </a:solidFill>
              </a:rPr>
              <a:t>Google Search Console</a:t>
            </a:r>
          </a:p>
          <a:p>
            <a:pPr lvl="2"/>
            <a:r>
              <a:rPr lang="fr-FR" dirty="0"/>
              <a:t>Pages indexées</a:t>
            </a:r>
          </a:p>
          <a:p>
            <a:pPr lvl="2"/>
            <a:r>
              <a:rPr lang="fr-FR" dirty="0"/>
              <a:t>Performances</a:t>
            </a:r>
          </a:p>
          <a:p>
            <a:pPr lvl="1"/>
            <a:r>
              <a:rPr lang="fr-FR" dirty="0"/>
              <a:t>Google Analytics</a:t>
            </a:r>
          </a:p>
          <a:p>
            <a:pPr lvl="2"/>
            <a:r>
              <a:rPr lang="fr-FR" dirty="0"/>
              <a:t>Taux de rebond</a:t>
            </a:r>
          </a:p>
          <a:p>
            <a:pPr lvl="2"/>
            <a:r>
              <a:rPr lang="fr-FR" dirty="0"/>
              <a:t>Temps passé sur page</a:t>
            </a:r>
          </a:p>
          <a:p>
            <a:pPr lvl="1"/>
            <a:r>
              <a:rPr lang="fr-FR" dirty="0" err="1"/>
              <a:t>Panguin</a:t>
            </a:r>
            <a:r>
              <a:rPr lang="fr-FR" dirty="0"/>
              <a:t> Tool (Barracuda Digital)</a:t>
            </a:r>
          </a:p>
          <a:p>
            <a:pPr lvl="2"/>
            <a:r>
              <a:rPr lang="fr-FR" b="1" dirty="0"/>
              <a:t>Super intéressant </a:t>
            </a:r>
          </a:p>
          <a:p>
            <a:pPr lvl="2"/>
            <a:r>
              <a:rPr lang="fr-FR" dirty="0"/>
              <a:t>Corrèle chute trafic avec updates Google (dont Panda)</a:t>
            </a:r>
          </a:p>
        </p:txBody>
      </p:sp>
    </p:spTree>
    <p:extLst>
      <p:ext uri="{BB962C8B-B14F-4D97-AF65-F5344CB8AC3E}">
        <p14:creationId xmlns:p14="http://schemas.microsoft.com/office/powerpoint/2010/main" val="2370028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687994-CD2D-E0B6-CEE9-F9428988B16A}"/>
              </a:ext>
            </a:extLst>
          </p:cNvPr>
          <p:cNvSpPr>
            <a:spLocks noGrp="1"/>
          </p:cNvSpPr>
          <p:nvPr>
            <p:ph type="title"/>
          </p:nvPr>
        </p:nvSpPr>
        <p:spPr/>
        <p:txBody>
          <a:bodyPr>
            <a:normAutofit fontScale="90000"/>
          </a:bodyPr>
          <a:lstStyle/>
          <a:p>
            <a:r>
              <a:rPr lang="fr-FR" dirty="0"/>
              <a:t>Outils UX (Panda prend en compte l’expérience utilisateur)</a:t>
            </a:r>
          </a:p>
        </p:txBody>
      </p:sp>
      <p:sp>
        <p:nvSpPr>
          <p:cNvPr id="3" name="Espace réservé de la date 2">
            <a:extLst>
              <a:ext uri="{FF2B5EF4-FFF2-40B4-BE49-F238E27FC236}">
                <a16:creationId xmlns:a16="http://schemas.microsoft.com/office/drawing/2014/main" id="{F4BBB565-5088-24AD-CC0F-1520109810D8}"/>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E5ABD941-E52E-FC35-72A4-F4BE516BCA59}"/>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22BF116D-6FE4-D8C1-78F7-28C6B1CDE73C}"/>
              </a:ext>
            </a:extLst>
          </p:cNvPr>
          <p:cNvSpPr>
            <a:spLocks noGrp="1"/>
          </p:cNvSpPr>
          <p:nvPr>
            <p:ph sz="quarter" idx="13"/>
          </p:nvPr>
        </p:nvSpPr>
        <p:spPr>
          <a:xfrm>
            <a:off x="958300" y="1451495"/>
            <a:ext cx="7880900" cy="4751388"/>
          </a:xfrm>
        </p:spPr>
        <p:txBody>
          <a:bodyPr>
            <a:normAutofit/>
          </a:bodyPr>
          <a:lstStyle/>
          <a:p>
            <a:r>
              <a:rPr lang="fr-FR" sz="4000" dirty="0" err="1"/>
              <a:t>Hotjar</a:t>
            </a:r>
            <a:r>
              <a:rPr lang="fr-FR" sz="4000" dirty="0"/>
              <a:t> / Microsoft Clarity</a:t>
            </a:r>
          </a:p>
          <a:p>
            <a:pPr lvl="1"/>
            <a:r>
              <a:rPr lang="fr-FR" sz="3600" dirty="0" err="1"/>
              <a:t>Heatmaps</a:t>
            </a:r>
            <a:endParaRPr lang="fr-FR" sz="3600" dirty="0"/>
          </a:p>
          <a:p>
            <a:pPr lvl="1"/>
            <a:r>
              <a:rPr lang="fr-FR" sz="3600" dirty="0"/>
              <a:t>Comportement utilisateur</a:t>
            </a:r>
          </a:p>
          <a:p>
            <a:r>
              <a:rPr lang="fr-FR" sz="4000" dirty="0" err="1"/>
              <a:t>PageSpeed</a:t>
            </a:r>
            <a:r>
              <a:rPr lang="fr-FR" sz="4000" dirty="0"/>
              <a:t> Insights</a:t>
            </a:r>
          </a:p>
          <a:p>
            <a:pPr lvl="1"/>
            <a:r>
              <a:rPr lang="fr-FR" sz="3600" dirty="0"/>
              <a:t>Vitesse → indirectement lié à qualité</a:t>
            </a:r>
          </a:p>
        </p:txBody>
      </p:sp>
    </p:spTree>
    <p:extLst>
      <p:ext uri="{BB962C8B-B14F-4D97-AF65-F5344CB8AC3E}">
        <p14:creationId xmlns:p14="http://schemas.microsoft.com/office/powerpoint/2010/main" val="1373429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590234-652E-5B77-BB72-3E2C6E7F1A15}"/>
              </a:ext>
            </a:extLst>
          </p:cNvPr>
          <p:cNvSpPr>
            <a:spLocks noGrp="1"/>
          </p:cNvSpPr>
          <p:nvPr>
            <p:ph type="title"/>
          </p:nvPr>
        </p:nvSpPr>
        <p:spPr/>
        <p:txBody>
          <a:bodyPr/>
          <a:lstStyle/>
          <a:p>
            <a:r>
              <a:rPr lang="fr-FR" dirty="0"/>
              <a:t>Outils pour tester l'algorithme Panda</a:t>
            </a:r>
          </a:p>
        </p:txBody>
      </p:sp>
      <p:sp>
        <p:nvSpPr>
          <p:cNvPr id="3" name="Espace réservé de la date 2">
            <a:extLst>
              <a:ext uri="{FF2B5EF4-FFF2-40B4-BE49-F238E27FC236}">
                <a16:creationId xmlns:a16="http://schemas.microsoft.com/office/drawing/2014/main" id="{72B8E4F5-AD9C-E43C-71D9-F05F4A723DA2}"/>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79119268-A94B-4298-161A-2421EC5A035F}"/>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652FC9CB-797A-2284-085B-819613426C88}"/>
              </a:ext>
            </a:extLst>
          </p:cNvPr>
          <p:cNvSpPr>
            <a:spLocks noGrp="1"/>
          </p:cNvSpPr>
          <p:nvPr>
            <p:ph sz="quarter" idx="13"/>
          </p:nvPr>
        </p:nvSpPr>
        <p:spPr>
          <a:xfrm>
            <a:off x="958299" y="1451495"/>
            <a:ext cx="7728501" cy="4751388"/>
          </a:xfrm>
        </p:spPr>
        <p:txBody>
          <a:bodyPr>
            <a:normAutofit fontScale="47500" lnSpcReduction="20000"/>
          </a:bodyPr>
          <a:lstStyle/>
          <a:p>
            <a:r>
              <a:rPr lang="fr-FR" b="1" dirty="0" err="1"/>
              <a:t>Oncrawl</a:t>
            </a:r>
            <a:r>
              <a:rPr lang="fr-FR" dirty="0"/>
              <a:t> :</a:t>
            </a:r>
          </a:p>
          <a:p>
            <a:pPr lvl="1"/>
            <a:r>
              <a:rPr lang="fr-FR" dirty="0"/>
              <a:t>Permet de réaliser un </a:t>
            </a:r>
            <a:r>
              <a:rPr lang="fr-FR" b="1" dirty="0"/>
              <a:t>crawl complet</a:t>
            </a:r>
            <a:r>
              <a:rPr lang="fr-FR" dirty="0"/>
              <a:t> de votre site web. </a:t>
            </a:r>
          </a:p>
          <a:p>
            <a:pPr lvl="1"/>
            <a:r>
              <a:rPr lang="fr-FR" dirty="0"/>
              <a:t>Analyse l'intégralité du contenu et vous aide à détecter les contenus de faible qualité ou "minces" qui </a:t>
            </a:r>
            <a:r>
              <a:rPr lang="fr-FR" dirty="0">
                <a:solidFill>
                  <a:srgbClr val="FF0000"/>
                </a:solidFill>
              </a:rPr>
              <a:t>pourraient être pénalisés </a:t>
            </a:r>
            <a:r>
              <a:rPr lang="fr-FR" dirty="0"/>
              <a:t>par l'algorithme Panda.</a:t>
            </a:r>
          </a:p>
          <a:p>
            <a:r>
              <a:rPr lang="fr-FR" b="1" dirty="0" err="1"/>
              <a:t>SEMrush</a:t>
            </a:r>
            <a:r>
              <a:rPr lang="fr-FR" dirty="0"/>
              <a:t> :</a:t>
            </a:r>
          </a:p>
          <a:p>
            <a:pPr lvl="1"/>
            <a:r>
              <a:rPr lang="fr-FR" dirty="0"/>
              <a:t>Offre des fonctionnalités d'audit de site qui peuvent vous aider à identifier les problèmes de contenu et à optimiser votre site pour répondre aux exigences de Panda.</a:t>
            </a:r>
          </a:p>
          <a:p>
            <a:r>
              <a:rPr lang="fr-FR" b="1" dirty="0" err="1"/>
              <a:t>Ahrefs</a:t>
            </a:r>
            <a:r>
              <a:rPr lang="fr-FR" dirty="0"/>
              <a:t> :</a:t>
            </a:r>
          </a:p>
          <a:p>
            <a:pPr lvl="1"/>
            <a:r>
              <a:rPr lang="fr-FR" dirty="0"/>
              <a:t>Vous pouvez analyser la qualité de vos </a:t>
            </a:r>
            <a:r>
              <a:rPr lang="fr-FR" dirty="0" err="1"/>
              <a:t>backlinks</a:t>
            </a:r>
            <a:r>
              <a:rPr lang="fr-FR" dirty="0"/>
              <a:t> et de votre contenu. Cela vous permet de voir si votre site est affecté par des problèmes de qualité qui pourraient être liés à Panda.</a:t>
            </a:r>
          </a:p>
          <a:p>
            <a:r>
              <a:rPr lang="fr-FR" b="1" dirty="0"/>
              <a:t>Google </a:t>
            </a:r>
            <a:r>
              <a:rPr lang="fr-FR" b="1" dirty="0" err="1"/>
              <a:t>Search</a:t>
            </a:r>
            <a:r>
              <a:rPr lang="fr-FR" b="1" dirty="0"/>
              <a:t> Console</a:t>
            </a:r>
            <a:r>
              <a:rPr lang="fr-FR" dirty="0"/>
              <a:t> :</a:t>
            </a:r>
          </a:p>
          <a:p>
            <a:pPr lvl="1"/>
            <a:r>
              <a:rPr lang="fr-FR" dirty="0"/>
              <a:t>Bien qu'il ne teste pas directement l'algorithme Panda, cet outil vous permet de surveiller les performances de votre site et d'identifier les problèmes de qualité qui pourraient affecter votre classement.</a:t>
            </a:r>
          </a:p>
          <a:p>
            <a:r>
              <a:rPr lang="fr-FR" b="1" dirty="0" err="1"/>
              <a:t>Moz</a:t>
            </a:r>
            <a:r>
              <a:rPr lang="fr-FR" b="1" dirty="0"/>
              <a:t> Pro</a:t>
            </a:r>
            <a:r>
              <a:rPr lang="fr-FR" dirty="0"/>
              <a:t> :</a:t>
            </a:r>
          </a:p>
          <a:p>
            <a:pPr lvl="1"/>
            <a:r>
              <a:rPr lang="fr-FR" dirty="0" err="1"/>
              <a:t>Moz</a:t>
            </a:r>
            <a:r>
              <a:rPr lang="fr-FR" dirty="0"/>
              <a:t> Pro propose des outils d'analyse de la qualité du contenu et de l'optimisation SEO, ce qui peut vous aider à vous assurer que votre site respecte les critères de qualité de Panda.</a:t>
            </a:r>
          </a:p>
          <a:p>
            <a:r>
              <a:rPr lang="fr-FR" b="1" dirty="0" err="1"/>
              <a:t>MozBar</a:t>
            </a:r>
            <a:r>
              <a:rPr lang="fr-FR" dirty="0"/>
              <a:t> :</a:t>
            </a:r>
          </a:p>
          <a:p>
            <a:pPr lvl="1"/>
            <a:r>
              <a:rPr lang="fr-FR" dirty="0"/>
              <a:t>Une extension de navigateur gratuite qui vous permet d'analyser rapidement les métriques SEO de n'importe quelle page web, y compris des éléments de qualité de contenu.</a:t>
            </a:r>
          </a:p>
          <a:p>
            <a:r>
              <a:rPr lang="fr-FR" b="1" dirty="0" err="1"/>
              <a:t>Answer</a:t>
            </a:r>
            <a:r>
              <a:rPr lang="fr-FR" b="1" dirty="0"/>
              <a:t> The Public</a:t>
            </a:r>
            <a:r>
              <a:rPr lang="fr-FR" dirty="0"/>
              <a:t> :</a:t>
            </a:r>
          </a:p>
          <a:p>
            <a:pPr lvl="1"/>
            <a:r>
              <a:rPr lang="fr-FR" dirty="0"/>
              <a:t>Bien qu'il ne teste pas directement la qualité, cet outil vous aide à comprendre les questions que se posent les utilisateurs, ce qui peut vous guider dans la création de contenu pertinent et de qualité.</a:t>
            </a:r>
          </a:p>
          <a:p>
            <a:r>
              <a:rPr lang="fr-FR" b="1" dirty="0"/>
              <a:t>SEO Site Checkup</a:t>
            </a:r>
            <a:r>
              <a:rPr lang="fr-FR" dirty="0"/>
              <a:t> :</a:t>
            </a:r>
          </a:p>
          <a:p>
            <a:pPr lvl="1"/>
            <a:r>
              <a:rPr lang="fr-FR" dirty="0"/>
              <a:t>Cet outil offre des analyses SEO gratuites qui incluent des vérifications de la qualité du contenu et des recommandations d'amélioration.</a:t>
            </a:r>
          </a:p>
          <a:p>
            <a:r>
              <a:rPr lang="fr-FR" b="1" dirty="0" err="1"/>
              <a:t>Ubersuggest</a:t>
            </a:r>
            <a:r>
              <a:rPr lang="fr-FR" dirty="0"/>
              <a:t> :</a:t>
            </a:r>
          </a:p>
          <a:p>
            <a:pPr lvl="1"/>
            <a:r>
              <a:rPr lang="fr-FR" dirty="0"/>
              <a:t>Cet outil propose des analyses SEO gratuites, y compris des suggestions de mots-clés et des audits de site, ce qui peut vous aider à améliorer la qualité de votre contenu.</a:t>
            </a:r>
          </a:p>
          <a:p>
            <a:pPr lvl="1"/>
            <a:endParaRPr lang="fr-FR" dirty="0"/>
          </a:p>
          <a:p>
            <a:pPr lvl="1"/>
            <a:endParaRPr lang="fr-FR" dirty="0"/>
          </a:p>
          <a:p>
            <a:pPr lvl="1"/>
            <a:endParaRPr lang="fr-FR" dirty="0"/>
          </a:p>
          <a:p>
            <a:endParaRPr lang="fr-FR" dirty="0"/>
          </a:p>
        </p:txBody>
      </p:sp>
    </p:spTree>
    <p:extLst>
      <p:ext uri="{BB962C8B-B14F-4D97-AF65-F5344CB8AC3E}">
        <p14:creationId xmlns:p14="http://schemas.microsoft.com/office/powerpoint/2010/main" val="782366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C8534F-B4DA-406E-8FB3-3CF385EF44CE}"/>
              </a:ext>
            </a:extLst>
          </p:cNvPr>
          <p:cNvSpPr>
            <a:spLocks noGrp="1"/>
          </p:cNvSpPr>
          <p:nvPr>
            <p:ph type="title"/>
          </p:nvPr>
        </p:nvSpPr>
        <p:spPr/>
        <p:txBody>
          <a:bodyPr>
            <a:normAutofit/>
          </a:bodyPr>
          <a:lstStyle/>
          <a:p>
            <a:r>
              <a:rPr lang="fr-FR" dirty="0"/>
              <a:t>Méthodologie pratique pour “tester Panda”</a:t>
            </a:r>
          </a:p>
        </p:txBody>
      </p:sp>
      <p:sp>
        <p:nvSpPr>
          <p:cNvPr id="3" name="Espace réservé de la date 2">
            <a:extLst>
              <a:ext uri="{FF2B5EF4-FFF2-40B4-BE49-F238E27FC236}">
                <a16:creationId xmlns:a16="http://schemas.microsoft.com/office/drawing/2014/main" id="{A8805B9E-8742-9B61-AC0F-60FB594F2361}"/>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6AF4AF6A-EF62-0E4B-721A-8A6894A4CE37}"/>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C92CEB79-1B5A-B100-3456-B045C824A2E2}"/>
              </a:ext>
            </a:extLst>
          </p:cNvPr>
          <p:cNvSpPr>
            <a:spLocks noGrp="1"/>
          </p:cNvSpPr>
          <p:nvPr>
            <p:ph sz="quarter" idx="13"/>
          </p:nvPr>
        </p:nvSpPr>
        <p:spPr>
          <a:xfrm>
            <a:off x="958299" y="1451495"/>
            <a:ext cx="4813851" cy="4751388"/>
          </a:xfrm>
        </p:spPr>
        <p:txBody>
          <a:bodyPr>
            <a:normAutofit fontScale="77500" lnSpcReduction="20000"/>
          </a:bodyPr>
          <a:lstStyle/>
          <a:p>
            <a:r>
              <a:rPr lang="fr-FR" dirty="0"/>
              <a:t>Workflow simple à utiliser </a:t>
            </a:r>
          </a:p>
          <a:p>
            <a:r>
              <a:rPr lang="fr-FR" dirty="0"/>
              <a:t>Étape 1 : Audit</a:t>
            </a:r>
          </a:p>
          <a:p>
            <a:pPr lvl="1"/>
            <a:r>
              <a:rPr lang="fr-FR" dirty="0" err="1"/>
              <a:t>Screaming</a:t>
            </a:r>
            <a:r>
              <a:rPr lang="fr-FR" dirty="0"/>
              <a:t> </a:t>
            </a:r>
            <a:r>
              <a:rPr lang="fr-FR" dirty="0" err="1"/>
              <a:t>Frog</a:t>
            </a:r>
            <a:r>
              <a:rPr lang="fr-FR" dirty="0"/>
              <a:t> → trouver pages faibles</a:t>
            </a:r>
          </a:p>
          <a:p>
            <a:pPr lvl="1"/>
            <a:r>
              <a:rPr lang="fr-FR" dirty="0" err="1"/>
              <a:t>SEMrush</a:t>
            </a:r>
            <a:r>
              <a:rPr lang="fr-FR" dirty="0"/>
              <a:t> → score SEO</a:t>
            </a:r>
          </a:p>
          <a:p>
            <a:r>
              <a:rPr lang="fr-FR" dirty="0"/>
              <a:t>Étape 2 : Identification</a:t>
            </a:r>
          </a:p>
          <a:p>
            <a:pPr lvl="1"/>
            <a:r>
              <a:rPr lang="fr-FR" dirty="0"/>
              <a:t>Repérer :</a:t>
            </a:r>
          </a:p>
          <a:p>
            <a:pPr lvl="2"/>
            <a:r>
              <a:rPr lang="fr-FR" dirty="0"/>
              <a:t>contenu &lt; 300 mots</a:t>
            </a:r>
          </a:p>
          <a:p>
            <a:pPr lvl="2"/>
            <a:r>
              <a:rPr lang="fr-FR" dirty="0"/>
              <a:t>pages sans trafic</a:t>
            </a:r>
          </a:p>
          <a:p>
            <a:pPr lvl="2"/>
            <a:r>
              <a:rPr lang="fr-FR" dirty="0"/>
              <a:t>Duplication</a:t>
            </a:r>
          </a:p>
          <a:p>
            <a:r>
              <a:rPr lang="fr-FR" dirty="0"/>
              <a:t>Étape 3 : Amélioration</a:t>
            </a:r>
          </a:p>
          <a:p>
            <a:pPr lvl="1"/>
            <a:r>
              <a:rPr lang="fr-FR" dirty="0"/>
              <a:t>Enrichir le contenu</a:t>
            </a:r>
          </a:p>
          <a:p>
            <a:pPr lvl="1"/>
            <a:r>
              <a:rPr lang="fr-FR" dirty="0"/>
              <a:t>Supprimer les pages inutiles</a:t>
            </a:r>
          </a:p>
          <a:p>
            <a:pPr lvl="1"/>
            <a:r>
              <a:rPr lang="fr-FR" dirty="0"/>
              <a:t>Fusionner les contenus</a:t>
            </a:r>
          </a:p>
          <a:p>
            <a:r>
              <a:rPr lang="fr-FR" dirty="0"/>
              <a:t>Étape 4 : Suivi</a:t>
            </a:r>
          </a:p>
          <a:p>
            <a:pPr lvl="1"/>
            <a:r>
              <a:rPr lang="fr-FR" dirty="0"/>
              <a:t>Google Search Console</a:t>
            </a:r>
          </a:p>
          <a:p>
            <a:pPr lvl="1"/>
            <a:r>
              <a:rPr lang="fr-FR" dirty="0" err="1"/>
              <a:t>Tracking</a:t>
            </a:r>
            <a:r>
              <a:rPr lang="fr-FR" dirty="0"/>
              <a:t> trafic</a:t>
            </a:r>
          </a:p>
        </p:txBody>
      </p:sp>
      <p:pic>
        <p:nvPicPr>
          <p:cNvPr id="13" name="Image 12">
            <a:extLst>
              <a:ext uri="{FF2B5EF4-FFF2-40B4-BE49-F238E27FC236}">
                <a16:creationId xmlns:a16="http://schemas.microsoft.com/office/drawing/2014/main" id="{2C38A7DA-32DB-FD4E-6A4D-4CFE07DD65E6}"/>
              </a:ext>
            </a:extLst>
          </p:cNvPr>
          <p:cNvPicPr>
            <a:picLocks noChangeAspect="1"/>
          </p:cNvPicPr>
          <p:nvPr/>
        </p:nvPicPr>
        <p:blipFill>
          <a:blip r:embed="rId2"/>
          <a:srcRect b="50000"/>
          <a:stretch>
            <a:fillRect/>
          </a:stretch>
        </p:blipFill>
        <p:spPr>
          <a:xfrm>
            <a:off x="4200524" y="2541406"/>
            <a:ext cx="4695826" cy="960510"/>
          </a:xfrm>
          <a:prstGeom prst="rect">
            <a:avLst/>
          </a:prstGeom>
          <a:ln>
            <a:noFill/>
          </a:ln>
          <a:effectLst>
            <a:outerShdw blurRad="292100" dist="139700" dir="2700000" algn="tl" rotWithShape="0">
              <a:srgbClr val="333333">
                <a:alpha val="65000"/>
              </a:srgbClr>
            </a:outerShdw>
          </a:effectLst>
        </p:spPr>
      </p:pic>
      <p:sp>
        <p:nvSpPr>
          <p:cNvPr id="14" name="ZoneTexte 13">
            <a:extLst>
              <a:ext uri="{FF2B5EF4-FFF2-40B4-BE49-F238E27FC236}">
                <a16:creationId xmlns:a16="http://schemas.microsoft.com/office/drawing/2014/main" id="{41C225F1-19FA-92FC-BD43-045C180F0492}"/>
              </a:ext>
            </a:extLst>
          </p:cNvPr>
          <p:cNvSpPr txBox="1"/>
          <p:nvPr/>
        </p:nvSpPr>
        <p:spPr>
          <a:xfrm>
            <a:off x="4534060" y="3814651"/>
            <a:ext cx="4184543" cy="1200329"/>
          </a:xfrm>
          <a:prstGeom prst="rect">
            <a:avLst/>
          </a:prstGeom>
          <a:solidFill>
            <a:schemeClr val="accent4">
              <a:lumMod val="20000"/>
              <a:lumOff val="80000"/>
            </a:schemeClr>
          </a:solidFill>
        </p:spPr>
        <p:txBody>
          <a:bodyPr wrap="none" rtlCol="0">
            <a:spAutoFit/>
          </a:bodyPr>
          <a:lstStyle/>
          <a:p>
            <a:r>
              <a:rPr lang="fr-FR" dirty="0"/>
              <a:t>Vous devez analyser des signaux indirects :</a:t>
            </a:r>
          </a:p>
          <a:p>
            <a:pPr marL="285750" indent="-285750">
              <a:buFont typeface="Arial" panose="020B0604020202020204" pitchFamily="34" charset="0"/>
              <a:buChar char="•"/>
            </a:pPr>
            <a:r>
              <a:rPr lang="fr-FR" dirty="0"/>
              <a:t>Qualité du contenu</a:t>
            </a:r>
          </a:p>
          <a:p>
            <a:pPr marL="285750" indent="-285750">
              <a:buFont typeface="Arial" panose="020B0604020202020204" pitchFamily="34" charset="0"/>
              <a:buChar char="•"/>
            </a:pPr>
            <a:r>
              <a:rPr lang="fr-FR" dirty="0"/>
              <a:t>Engagement utilisateur</a:t>
            </a:r>
          </a:p>
          <a:p>
            <a:pPr marL="285750" indent="-285750">
              <a:buFont typeface="Arial" panose="020B0604020202020204" pitchFamily="34" charset="0"/>
              <a:buChar char="•"/>
            </a:pPr>
            <a:r>
              <a:rPr lang="fr-FR" dirty="0"/>
              <a:t>Structure du site</a:t>
            </a:r>
          </a:p>
        </p:txBody>
      </p:sp>
    </p:spTree>
    <p:extLst>
      <p:ext uri="{BB962C8B-B14F-4D97-AF65-F5344CB8AC3E}">
        <p14:creationId xmlns:p14="http://schemas.microsoft.com/office/powerpoint/2010/main" val="531603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86FBE3-B7E2-0CE8-44E7-4CC4D262D690}"/>
              </a:ext>
            </a:extLst>
          </p:cNvPr>
          <p:cNvSpPr>
            <a:spLocks noGrp="1"/>
          </p:cNvSpPr>
          <p:nvPr>
            <p:ph type="title"/>
          </p:nvPr>
        </p:nvSpPr>
        <p:spPr/>
        <p:txBody>
          <a:bodyPr/>
          <a:lstStyle/>
          <a:p>
            <a:r>
              <a:rPr lang="fr-FR" dirty="0"/>
              <a:t>Tendance (2025) pour les SERP</a:t>
            </a:r>
          </a:p>
        </p:txBody>
      </p:sp>
      <p:sp>
        <p:nvSpPr>
          <p:cNvPr id="3" name="Espace réservé de la date 2">
            <a:extLst>
              <a:ext uri="{FF2B5EF4-FFF2-40B4-BE49-F238E27FC236}">
                <a16:creationId xmlns:a16="http://schemas.microsoft.com/office/drawing/2014/main" id="{589E7263-D05F-FA5F-F0AA-54361A52034E}"/>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0CB3417B-1F38-817C-90AB-3EBF1D1FB980}"/>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CD87C14C-EEE5-EAA2-509C-E413903FDDA4}"/>
              </a:ext>
            </a:extLst>
          </p:cNvPr>
          <p:cNvSpPr>
            <a:spLocks noGrp="1"/>
          </p:cNvSpPr>
          <p:nvPr>
            <p:ph sz="quarter" idx="13"/>
          </p:nvPr>
        </p:nvSpPr>
        <p:spPr>
          <a:xfrm>
            <a:off x="894689" y="1328640"/>
            <a:ext cx="8009056" cy="5395175"/>
          </a:xfrm>
        </p:spPr>
        <p:txBody>
          <a:bodyPr>
            <a:normAutofit fontScale="55000" lnSpcReduction="20000"/>
          </a:bodyPr>
          <a:lstStyle/>
          <a:p>
            <a:pPr marL="0" indent="0">
              <a:buNone/>
            </a:pPr>
            <a:r>
              <a:rPr lang="fr-FR" dirty="0"/>
              <a:t>Mises à jour constantes des algorithmes des moteurs de recherche comme Google  !</a:t>
            </a:r>
          </a:p>
          <a:p>
            <a:pPr marL="0" indent="0">
              <a:buNone/>
            </a:pPr>
            <a:endParaRPr lang="fr-FR" sz="2900" dirty="0"/>
          </a:p>
          <a:p>
            <a:pPr marL="0" indent="0">
              <a:buNone/>
            </a:pPr>
            <a:r>
              <a:rPr lang="fr-FR" sz="2900" dirty="0"/>
              <a:t>Quelques points clés qui illustrent ces tendances :</a:t>
            </a:r>
          </a:p>
          <a:p>
            <a:r>
              <a:rPr lang="fr-FR" b="1" dirty="0"/>
              <a:t>Pertinence du contenu</a:t>
            </a:r>
            <a:r>
              <a:rPr lang="fr-FR" dirty="0"/>
              <a:t> :</a:t>
            </a:r>
          </a:p>
          <a:p>
            <a:pPr lvl="1"/>
            <a:r>
              <a:rPr lang="fr-FR" b="1" dirty="0"/>
              <a:t>Pertinence</a:t>
            </a:r>
            <a:r>
              <a:rPr lang="fr-FR" dirty="0"/>
              <a:t> du contenu par rapport à la requête de l'utilisateur. Les moteurs de recherche cherchent à fournir des résultats qui répondent précisément aux besoins des utilisateurs.</a:t>
            </a:r>
          </a:p>
          <a:p>
            <a:r>
              <a:rPr lang="fr-FR" b="1" dirty="0"/>
              <a:t>Expérience utilisateur</a:t>
            </a:r>
            <a:r>
              <a:rPr lang="fr-FR" dirty="0"/>
              <a:t> :</a:t>
            </a:r>
          </a:p>
          <a:p>
            <a:pPr lvl="1"/>
            <a:r>
              <a:rPr lang="fr-FR" dirty="0">
                <a:solidFill>
                  <a:srgbClr val="FF0000"/>
                </a:solidFill>
              </a:rPr>
              <a:t>Crucial </a:t>
            </a:r>
            <a:r>
              <a:rPr lang="fr-FR" dirty="0"/>
              <a:t>: Cela inclut la vitesse de chargement des pages, la facilité de navigation et la compatibilité mobile. </a:t>
            </a:r>
          </a:p>
          <a:p>
            <a:pPr lvl="1"/>
            <a:r>
              <a:rPr lang="fr-FR" dirty="0"/>
              <a:t>Un site qui offre une bonne expérience utilisateur est plus susceptible d'apparaître en haut des SERP.</a:t>
            </a:r>
          </a:p>
          <a:p>
            <a:r>
              <a:rPr lang="fr-FR" b="1" dirty="0"/>
              <a:t>Rich </a:t>
            </a:r>
            <a:r>
              <a:rPr lang="fr-FR" b="1" dirty="0" err="1"/>
              <a:t>Snippets</a:t>
            </a:r>
            <a:r>
              <a:rPr lang="fr-FR" b="1" dirty="0"/>
              <a:t> </a:t>
            </a:r>
            <a:r>
              <a:rPr lang="fr-FR" dirty="0"/>
              <a:t>:</a:t>
            </a:r>
          </a:p>
          <a:p>
            <a:pPr lvl="1"/>
            <a:r>
              <a:rPr lang="fr-FR" dirty="0"/>
              <a:t>Les </a:t>
            </a:r>
            <a:r>
              <a:rPr lang="fr-FR" b="1" dirty="0" err="1"/>
              <a:t>rich</a:t>
            </a:r>
            <a:r>
              <a:rPr lang="fr-FR" b="1" dirty="0"/>
              <a:t> </a:t>
            </a:r>
            <a:r>
              <a:rPr lang="fr-FR" b="1" dirty="0" err="1"/>
              <a:t>snippets</a:t>
            </a:r>
            <a:r>
              <a:rPr lang="fr-FR" dirty="0"/>
              <a:t> (extraits enrichis) jouent un rôle important dans la qualité des SERP. Ils fournissent des informations supplémentaires (comme des avis, des notes, ou des réponses directes) qui aident les utilisateurs à prendre des décisions plus rapidement.</a:t>
            </a:r>
          </a:p>
          <a:p>
            <a:r>
              <a:rPr lang="fr-FR" b="1" dirty="0"/>
              <a:t>Intelligence Artificielle et Machine Learning</a:t>
            </a:r>
            <a:r>
              <a:rPr lang="fr-FR" dirty="0"/>
              <a:t> :</a:t>
            </a:r>
          </a:p>
          <a:p>
            <a:pPr lvl="1"/>
            <a:r>
              <a:rPr lang="fr-FR" dirty="0"/>
              <a:t>L'utilisation de l'</a:t>
            </a:r>
            <a:r>
              <a:rPr lang="fr-FR" b="1" dirty="0"/>
              <a:t>intelligence artificielle</a:t>
            </a:r>
            <a:r>
              <a:rPr lang="fr-FR" dirty="0"/>
              <a:t> et du </a:t>
            </a:r>
            <a:r>
              <a:rPr lang="fr-FR" b="1" dirty="0"/>
              <a:t>machine </a:t>
            </a:r>
            <a:r>
              <a:rPr lang="fr-FR" b="1" dirty="0" err="1"/>
              <a:t>learning</a:t>
            </a:r>
            <a:r>
              <a:rPr lang="fr-FR" dirty="0"/>
              <a:t> pour analyser le comportement des utilisateurs et ajuster les résultats de recherche en conséquence est en forte croissance. Cela permet aux moteurs de recherche de mieux comprendre les intentions des utilisateurs.</a:t>
            </a:r>
          </a:p>
          <a:p>
            <a:r>
              <a:rPr lang="fr-FR" b="1" dirty="0"/>
              <a:t>Évolution des requêtes vocales</a:t>
            </a:r>
            <a:r>
              <a:rPr lang="fr-FR" dirty="0"/>
              <a:t> :</a:t>
            </a:r>
          </a:p>
          <a:p>
            <a:pPr lvl="1"/>
            <a:r>
              <a:rPr lang="fr-FR" dirty="0"/>
              <a:t>Avec l'augmentation des recherches vocales, les SERP s'adaptent pour fournir des réponses plus directes et conversationnelles. Cela nécessite une optimisation spécifique du contenu pour répondre à ces types de requêtes.</a:t>
            </a:r>
          </a:p>
          <a:p>
            <a:r>
              <a:rPr lang="fr-FR" b="1" dirty="0"/>
              <a:t>Qualité du lien et autorité du domaine</a:t>
            </a:r>
            <a:r>
              <a:rPr lang="fr-FR" dirty="0"/>
              <a:t> :</a:t>
            </a:r>
          </a:p>
          <a:p>
            <a:pPr lvl="1"/>
            <a:r>
              <a:rPr lang="fr-FR" dirty="0"/>
              <a:t>La qualité des liens entrants et l'autorité du domaine continuent d'être des facteurs déterminants. Les sites avec des </a:t>
            </a:r>
            <a:r>
              <a:rPr lang="fr-FR" dirty="0" err="1"/>
              <a:t>backlinks</a:t>
            </a:r>
            <a:r>
              <a:rPr lang="fr-FR" dirty="0"/>
              <a:t> de haute qualité et une bonne réputation sont favorisés dans les résultats.</a:t>
            </a:r>
          </a:p>
          <a:p>
            <a:pPr lvl="1"/>
            <a:endParaRPr lang="fr-FR" dirty="0"/>
          </a:p>
          <a:p>
            <a:r>
              <a:rPr lang="fr-FR" b="1" dirty="0">
                <a:solidFill>
                  <a:srgbClr val="FF0000"/>
                </a:solidFill>
              </a:rPr>
              <a:t>En conclusion</a:t>
            </a:r>
          </a:p>
          <a:p>
            <a:pPr lvl="1"/>
            <a:r>
              <a:rPr lang="fr-FR" dirty="0">
                <a:solidFill>
                  <a:srgbClr val="FF0000"/>
                </a:solidFill>
              </a:rPr>
              <a:t>La qualité des SERP se concentre de plus en plus sur la </a:t>
            </a:r>
            <a:r>
              <a:rPr lang="fr-FR" b="1" dirty="0">
                <a:solidFill>
                  <a:srgbClr val="FF0000"/>
                </a:solidFill>
              </a:rPr>
              <a:t>pertinence</a:t>
            </a:r>
            <a:r>
              <a:rPr lang="fr-FR" dirty="0">
                <a:solidFill>
                  <a:srgbClr val="FF0000"/>
                </a:solidFill>
              </a:rPr>
              <a:t>, l'</a:t>
            </a:r>
            <a:r>
              <a:rPr lang="fr-FR" b="1" dirty="0">
                <a:solidFill>
                  <a:srgbClr val="FF0000"/>
                </a:solidFill>
              </a:rPr>
              <a:t>expérience utilisateur</a:t>
            </a:r>
            <a:r>
              <a:rPr lang="fr-FR" dirty="0">
                <a:solidFill>
                  <a:srgbClr val="FF0000"/>
                </a:solidFill>
              </a:rPr>
              <a:t>, et l'</a:t>
            </a:r>
            <a:r>
              <a:rPr lang="fr-FR" b="1" dirty="0">
                <a:solidFill>
                  <a:srgbClr val="FF0000"/>
                </a:solidFill>
              </a:rPr>
              <a:t>utilisation de technologies avancées</a:t>
            </a:r>
            <a:r>
              <a:rPr lang="fr-FR" dirty="0">
                <a:solidFill>
                  <a:srgbClr val="FF0000"/>
                </a:solidFill>
              </a:rPr>
              <a:t>. Les webmasters et les spécialistes du SEO doivent s'adapter à ces tendances pour améliorer leur visibilité dans les résultats de recherche.</a:t>
            </a:r>
          </a:p>
          <a:p>
            <a:endParaRPr lang="fr-FR" dirty="0"/>
          </a:p>
        </p:txBody>
      </p:sp>
    </p:spTree>
    <p:extLst>
      <p:ext uri="{BB962C8B-B14F-4D97-AF65-F5344CB8AC3E}">
        <p14:creationId xmlns:p14="http://schemas.microsoft.com/office/powerpoint/2010/main" val="2274133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CB6612-FA96-E687-4FE9-E90F6E6D4362}"/>
              </a:ext>
            </a:extLst>
          </p:cNvPr>
          <p:cNvSpPr>
            <a:spLocks noGrp="1"/>
          </p:cNvSpPr>
          <p:nvPr>
            <p:ph type="title"/>
          </p:nvPr>
        </p:nvSpPr>
        <p:spPr>
          <a:xfrm>
            <a:off x="155511" y="74165"/>
            <a:ext cx="9133961" cy="613440"/>
          </a:xfrm>
        </p:spPr>
        <p:txBody>
          <a:bodyPr>
            <a:normAutofit fontScale="90000"/>
          </a:bodyPr>
          <a:lstStyle/>
          <a:p>
            <a:br>
              <a:rPr lang="fr-FR" dirty="0"/>
            </a:br>
            <a:r>
              <a:rPr lang="fr-FR" dirty="0"/>
              <a:t>Comment l'algorithme Panda évalue la pertinence des pages web ?</a:t>
            </a:r>
            <a:br>
              <a:rPr lang="fr-FR" dirty="0"/>
            </a:br>
            <a:endParaRPr lang="fr-FR" dirty="0"/>
          </a:p>
        </p:txBody>
      </p:sp>
      <p:sp>
        <p:nvSpPr>
          <p:cNvPr id="3" name="Espace réservé de la date 2">
            <a:extLst>
              <a:ext uri="{FF2B5EF4-FFF2-40B4-BE49-F238E27FC236}">
                <a16:creationId xmlns:a16="http://schemas.microsoft.com/office/drawing/2014/main" id="{1C7C0C15-29BE-0004-1FB1-5265811BE25D}"/>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ADF8CB2A-9CCE-C120-8DCC-8D2CDF041ACB}"/>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F09B7CF6-AECC-5F2A-398A-52777790532F}"/>
              </a:ext>
            </a:extLst>
          </p:cNvPr>
          <p:cNvSpPr>
            <a:spLocks noGrp="1"/>
          </p:cNvSpPr>
          <p:nvPr>
            <p:ph sz="quarter" idx="13"/>
          </p:nvPr>
        </p:nvSpPr>
        <p:spPr>
          <a:xfrm>
            <a:off x="958299" y="1451494"/>
            <a:ext cx="7666155" cy="5149465"/>
          </a:xfrm>
        </p:spPr>
        <p:txBody>
          <a:bodyPr>
            <a:normAutofit fontScale="62500" lnSpcReduction="20000"/>
          </a:bodyPr>
          <a:lstStyle/>
          <a:p>
            <a:r>
              <a:rPr lang="fr-FR" b="1" dirty="0"/>
              <a:t>Originalité du contenu</a:t>
            </a:r>
            <a:r>
              <a:rPr lang="fr-FR" dirty="0"/>
              <a:t> :</a:t>
            </a:r>
          </a:p>
          <a:p>
            <a:pPr lvl="1"/>
            <a:r>
              <a:rPr lang="fr-FR" dirty="0"/>
              <a:t>Le contenu doit être unique et ne pas être dupliqué d'autres sources. Les pages avec du contenu copié ou plagié sont pénalisées.</a:t>
            </a:r>
          </a:p>
          <a:p>
            <a:r>
              <a:rPr lang="fr-FR" b="1" dirty="0"/>
              <a:t>Profondeur et richesse de l'information</a:t>
            </a:r>
            <a:r>
              <a:rPr lang="fr-FR" dirty="0"/>
              <a:t> :</a:t>
            </a:r>
          </a:p>
          <a:p>
            <a:pPr lvl="1"/>
            <a:r>
              <a:rPr lang="fr-FR" dirty="0"/>
              <a:t>Les pages doivent fournir des informations détaillées et pertinentes. Un contenu superficiel ou peu informatif est moins bien classé.</a:t>
            </a:r>
          </a:p>
          <a:p>
            <a:r>
              <a:rPr lang="fr-FR" b="1" dirty="0"/>
              <a:t>Valeur ajoutée pour l'utilisateur</a:t>
            </a:r>
            <a:r>
              <a:rPr lang="fr-FR" dirty="0"/>
              <a:t> :</a:t>
            </a:r>
          </a:p>
          <a:p>
            <a:pPr lvl="1"/>
            <a:r>
              <a:rPr lang="fr-FR" dirty="0"/>
              <a:t>Le contenu doit répondre aux besoins des utilisateurs et offrir des connaissances, des solutions ou des informations utiles. Les pages qui n'apportent pas de valeur ajoutée sont désavantagées.</a:t>
            </a:r>
          </a:p>
          <a:p>
            <a:r>
              <a:rPr lang="fr-FR" b="1" dirty="0"/>
              <a:t>Expérience utilisateur</a:t>
            </a:r>
            <a:r>
              <a:rPr lang="fr-FR" dirty="0"/>
              <a:t> :</a:t>
            </a:r>
          </a:p>
          <a:p>
            <a:pPr lvl="1"/>
            <a:r>
              <a:rPr lang="fr-FR" dirty="0"/>
              <a:t>La facilité de navigation, la vitesse de chargement des pages et la compatibilité mobile sont des facteurs importants. Une bonne expérience utilisateur contribue à une meilleure évaluation.</a:t>
            </a:r>
          </a:p>
          <a:p>
            <a:r>
              <a:rPr lang="fr-FR" b="1" dirty="0"/>
              <a:t>Qualité des liens entrants</a:t>
            </a:r>
            <a:r>
              <a:rPr lang="fr-FR" dirty="0"/>
              <a:t> (</a:t>
            </a:r>
            <a:r>
              <a:rPr lang="fr-FR" dirty="0">
                <a:solidFill>
                  <a:srgbClr val="FF0000"/>
                </a:solidFill>
              </a:rPr>
              <a:t>principe du</a:t>
            </a:r>
            <a:r>
              <a:rPr lang="fr-FR" b="1" dirty="0">
                <a:solidFill>
                  <a:srgbClr val="FF0000"/>
                </a:solidFill>
              </a:rPr>
              <a:t> </a:t>
            </a:r>
            <a:r>
              <a:rPr lang="fr-FR" b="1" dirty="0" err="1">
                <a:solidFill>
                  <a:srgbClr val="FF0000"/>
                </a:solidFill>
              </a:rPr>
              <a:t>PageRanking</a:t>
            </a:r>
            <a:r>
              <a:rPr lang="fr-FR" dirty="0"/>
              <a:t>):</a:t>
            </a:r>
          </a:p>
          <a:p>
            <a:pPr lvl="1"/>
            <a:r>
              <a:rPr lang="fr-FR" dirty="0"/>
              <a:t>Les liens entrants provenant de sites de haute qualité renforcent la crédibilité d'une page. Les pages avec des liens de mauvaise qualité peuvent être pénalisées.</a:t>
            </a:r>
          </a:p>
          <a:p>
            <a:r>
              <a:rPr lang="fr-FR" b="1" dirty="0"/>
              <a:t>Absence de contenu de faible qualité</a:t>
            </a:r>
            <a:r>
              <a:rPr lang="fr-FR" dirty="0"/>
              <a:t> :</a:t>
            </a:r>
          </a:p>
          <a:p>
            <a:pPr lvl="1"/>
            <a:r>
              <a:rPr lang="fr-FR" dirty="0"/>
              <a:t>Panda cible spécifiquement les sites qui contiennent du contenu de faible qualité, comme le spam, les articles générés automatiquement ou les pages avec un faible engagement utilisateur.</a:t>
            </a:r>
          </a:p>
          <a:p>
            <a:r>
              <a:rPr lang="fr-FR" b="1" dirty="0"/>
              <a:t>Engagement des utilisateurs</a:t>
            </a:r>
            <a:r>
              <a:rPr lang="fr-FR" dirty="0"/>
              <a:t> :</a:t>
            </a:r>
          </a:p>
          <a:p>
            <a:pPr lvl="1"/>
            <a:r>
              <a:rPr lang="fr-FR" dirty="0"/>
              <a:t>Les signaux d'engagement, tels que le </a:t>
            </a:r>
            <a:r>
              <a:rPr lang="fr-FR" b="1" dirty="0">
                <a:solidFill>
                  <a:srgbClr val="FF0000"/>
                </a:solidFill>
              </a:rPr>
              <a:t>taux de rebond, </a:t>
            </a:r>
            <a:r>
              <a:rPr lang="fr-FR" dirty="0"/>
              <a:t>le </a:t>
            </a:r>
            <a:r>
              <a:rPr lang="fr-FR" b="1" dirty="0">
                <a:solidFill>
                  <a:srgbClr val="FF0000"/>
                </a:solidFill>
              </a:rPr>
              <a:t>taux de conversion, </a:t>
            </a:r>
            <a:r>
              <a:rPr lang="fr-FR" dirty="0"/>
              <a:t>le</a:t>
            </a:r>
            <a:r>
              <a:rPr lang="fr-FR" b="1" dirty="0">
                <a:solidFill>
                  <a:srgbClr val="FF0000"/>
                </a:solidFill>
              </a:rPr>
              <a:t> temps passé </a:t>
            </a:r>
            <a:r>
              <a:rPr lang="fr-FR" dirty="0"/>
              <a:t>sur la page, et les interactions, peuvent influencer la perception de la qualité d'une page.</a:t>
            </a:r>
          </a:p>
          <a:p>
            <a:endParaRPr lang="fr-FR" dirty="0"/>
          </a:p>
        </p:txBody>
      </p:sp>
    </p:spTree>
    <p:extLst>
      <p:ext uri="{BB962C8B-B14F-4D97-AF65-F5344CB8AC3E}">
        <p14:creationId xmlns:p14="http://schemas.microsoft.com/office/powerpoint/2010/main" val="2302296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C32AD9-BCBA-00E6-23EF-8DAF12DFDBF9}"/>
              </a:ext>
            </a:extLst>
          </p:cNvPr>
          <p:cNvSpPr>
            <a:spLocks noGrp="1"/>
          </p:cNvSpPr>
          <p:nvPr>
            <p:ph type="title"/>
          </p:nvPr>
        </p:nvSpPr>
        <p:spPr/>
        <p:txBody>
          <a:bodyPr/>
          <a:lstStyle/>
          <a:p>
            <a:r>
              <a:rPr lang="fr-FR" dirty="0"/>
              <a:t>Le taux de rebond / un indicateur clé</a:t>
            </a:r>
          </a:p>
        </p:txBody>
      </p:sp>
      <p:sp>
        <p:nvSpPr>
          <p:cNvPr id="3" name="Espace réservé de la date 2">
            <a:extLst>
              <a:ext uri="{FF2B5EF4-FFF2-40B4-BE49-F238E27FC236}">
                <a16:creationId xmlns:a16="http://schemas.microsoft.com/office/drawing/2014/main" id="{45FA736A-825D-7F52-56A9-72BA8A3897FA}"/>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B4449E62-06A1-BBFB-F7C0-FD820A2C1C7B}"/>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77E87FFF-DE46-237D-19B7-ADC430D08840}"/>
              </a:ext>
            </a:extLst>
          </p:cNvPr>
          <p:cNvSpPr>
            <a:spLocks noGrp="1"/>
          </p:cNvSpPr>
          <p:nvPr>
            <p:ph sz="quarter" idx="13"/>
          </p:nvPr>
        </p:nvSpPr>
        <p:spPr>
          <a:xfrm>
            <a:off x="958300" y="1451495"/>
            <a:ext cx="7728500" cy="4751388"/>
          </a:xfrm>
        </p:spPr>
        <p:txBody>
          <a:bodyPr>
            <a:normAutofit fontScale="55000" lnSpcReduction="20000"/>
          </a:bodyPr>
          <a:lstStyle/>
          <a:p>
            <a:pPr marL="0" indent="0">
              <a:buNone/>
            </a:pPr>
            <a:r>
              <a:rPr lang="fr-FR" dirty="0"/>
              <a:t>Mesure le pourcentage de visiteurs qui accèdent à une page d'un site web et quittent ce site sans interagir davantage, c'est-à-dire sans consulter d'autres pages. </a:t>
            </a:r>
          </a:p>
          <a:p>
            <a:r>
              <a:rPr lang="fr-FR" b="1" dirty="0"/>
              <a:t>Son calcul</a:t>
            </a:r>
            <a:r>
              <a:rPr lang="fr-FR" dirty="0"/>
              <a:t> (%) = N</a:t>
            </a:r>
            <a:r>
              <a:rPr lang="fr-FR" baseline="-25000" dirty="0"/>
              <a:t>1page</a:t>
            </a:r>
            <a:r>
              <a:rPr lang="fr-FR" dirty="0"/>
              <a:t> /</a:t>
            </a:r>
            <a:r>
              <a:rPr lang="fr-FR" dirty="0" err="1"/>
              <a:t>N</a:t>
            </a:r>
            <a:r>
              <a:rPr lang="fr-FR" baseline="-25000" dirty="0" err="1"/>
              <a:t>totalS</a:t>
            </a:r>
            <a:r>
              <a:rPr lang="fr-FR" dirty="0"/>
              <a:t> </a:t>
            </a:r>
          </a:p>
          <a:p>
            <a:pPr lvl="1"/>
            <a:r>
              <a:rPr lang="fr-FR" dirty="0"/>
              <a:t>N</a:t>
            </a:r>
            <a:r>
              <a:rPr lang="fr-FR" baseline="-25000" dirty="0"/>
              <a:t>1page </a:t>
            </a:r>
            <a:r>
              <a:rPr lang="fr-FR" dirty="0"/>
              <a:t> = Nombre de sessions où une seule page a été consultée</a:t>
            </a:r>
          </a:p>
          <a:p>
            <a:pPr lvl="1"/>
            <a:r>
              <a:rPr lang="fr-FR" dirty="0" err="1"/>
              <a:t>N</a:t>
            </a:r>
            <a:r>
              <a:rPr lang="fr-FR" baseline="-25000" dirty="0" err="1"/>
              <a:t>totalS</a:t>
            </a:r>
            <a:r>
              <a:rPr lang="fr-FR" dirty="0"/>
              <a:t> = Nombre total de sessions sur le site. </a:t>
            </a:r>
          </a:p>
          <a:p>
            <a:pPr lvl="1"/>
            <a:r>
              <a:rPr lang="fr-FR" dirty="0"/>
              <a:t>Cela donne un pourcentage qui indique combien de visiteurs ont quitté le site après avoir vu une seule page.</a:t>
            </a:r>
          </a:p>
          <a:p>
            <a:r>
              <a:rPr lang="fr-FR" b="1" dirty="0"/>
              <a:t>Interprétation</a:t>
            </a:r>
            <a:r>
              <a:rPr lang="fr-FR" dirty="0"/>
              <a:t> :</a:t>
            </a:r>
          </a:p>
          <a:p>
            <a:pPr lvl="1"/>
            <a:r>
              <a:rPr lang="fr-FR" dirty="0"/>
              <a:t>Un taux de rebond élevé peut indiquer que les visiteurs ne trouvent pas ce qu'ils cherchent ou que le contenu de la page n'est pas engageant. En revanche, un taux de rebond faible peut suggérer que les visiteurs explorent davantage le site.</a:t>
            </a:r>
          </a:p>
          <a:p>
            <a:r>
              <a:rPr lang="fr-FR" b="1" dirty="0"/>
              <a:t>Valeurs de référence</a:t>
            </a:r>
            <a:r>
              <a:rPr lang="fr-FR" dirty="0"/>
              <a:t> :</a:t>
            </a:r>
          </a:p>
          <a:p>
            <a:pPr lvl="1"/>
            <a:r>
              <a:rPr lang="fr-FR" dirty="0"/>
              <a:t>En général, un taux de rebond entre </a:t>
            </a:r>
            <a:r>
              <a:rPr lang="fr-FR" b="1" dirty="0"/>
              <a:t>26 % et 40 %</a:t>
            </a:r>
            <a:r>
              <a:rPr lang="fr-FR" dirty="0"/>
              <a:t> est considéré comme excellent pour la plupart des sites web. Un taux supérieur à </a:t>
            </a:r>
            <a:r>
              <a:rPr lang="fr-FR" b="1" dirty="0"/>
              <a:t>70 %</a:t>
            </a:r>
            <a:r>
              <a:rPr lang="fr-FR" dirty="0"/>
              <a:t> peut être préoccupant, selon le type de site. </a:t>
            </a:r>
            <a:r>
              <a:rPr lang="fr-FR" dirty="0">
                <a:solidFill>
                  <a:schemeClr val="tx2">
                    <a:lumMod val="60000"/>
                    <a:lumOff val="40000"/>
                  </a:schemeClr>
                </a:solidFill>
              </a:rPr>
              <a:t>La publicité </a:t>
            </a:r>
            <a:r>
              <a:rPr lang="fr-FR" b="1" dirty="0">
                <a:solidFill>
                  <a:schemeClr val="tx2">
                    <a:lumMod val="60000"/>
                    <a:lumOff val="40000"/>
                  </a:schemeClr>
                </a:solidFill>
              </a:rPr>
              <a:t>mal ciblée </a:t>
            </a:r>
            <a:r>
              <a:rPr lang="fr-FR" dirty="0">
                <a:solidFill>
                  <a:schemeClr val="tx2">
                    <a:lumMod val="60000"/>
                    <a:lumOff val="40000"/>
                  </a:schemeClr>
                </a:solidFill>
              </a:rPr>
              <a:t>par exemple peut être un facteur de désengagement ! Le site est vite quitté.</a:t>
            </a:r>
          </a:p>
          <a:p>
            <a:r>
              <a:rPr lang="fr-FR" b="1" dirty="0"/>
              <a:t>Facteurs influençant le taux de rebond</a:t>
            </a:r>
            <a:r>
              <a:rPr lang="fr-FR" dirty="0"/>
              <a:t> :</a:t>
            </a:r>
          </a:p>
          <a:p>
            <a:pPr lvl="1"/>
            <a:r>
              <a:rPr lang="fr-FR" b="1" dirty="0"/>
              <a:t>Qualité du contenu</a:t>
            </a:r>
            <a:r>
              <a:rPr lang="fr-FR" dirty="0"/>
              <a:t> : Un contenu pertinent et engageant peut réduire le taux de rebond.</a:t>
            </a:r>
          </a:p>
          <a:p>
            <a:pPr lvl="1"/>
            <a:r>
              <a:rPr lang="fr-FR" b="1" dirty="0"/>
              <a:t>Expérience utilisateur</a:t>
            </a:r>
            <a:r>
              <a:rPr lang="fr-FR" dirty="0"/>
              <a:t> : Une navigation facile et un design attrayant incitent les visiteurs à explorer davantage.</a:t>
            </a:r>
          </a:p>
          <a:p>
            <a:pPr lvl="1"/>
            <a:r>
              <a:rPr lang="fr-FR" b="1" dirty="0"/>
              <a:t>Vitesse de chargement</a:t>
            </a:r>
            <a:r>
              <a:rPr lang="fr-FR" dirty="0"/>
              <a:t> : Des pages qui se chargent lentement peuvent frustrer les utilisateurs et les inciter à quitter.</a:t>
            </a:r>
          </a:p>
          <a:p>
            <a:r>
              <a:rPr lang="fr-FR" b="1" dirty="0"/>
              <a:t>Utilisation dans le SEO</a:t>
            </a:r>
            <a:r>
              <a:rPr lang="fr-FR" dirty="0"/>
              <a:t> :</a:t>
            </a:r>
          </a:p>
          <a:p>
            <a:pPr lvl="1"/>
            <a:r>
              <a:rPr lang="fr-FR" dirty="0"/>
              <a:t>Le taux de rebond est souvent utilisé comme un indicateur de la qualité d'un site web. Les moteurs de recherche, comme Google, peuvent prendre en compte ce taux pour évaluer la pertinence d'un site par rapport aux requêtes des utilisateurs.</a:t>
            </a:r>
          </a:p>
          <a:p>
            <a:endParaRPr lang="fr-FR" dirty="0"/>
          </a:p>
        </p:txBody>
      </p:sp>
    </p:spTree>
    <p:extLst>
      <p:ext uri="{BB962C8B-B14F-4D97-AF65-F5344CB8AC3E}">
        <p14:creationId xmlns:p14="http://schemas.microsoft.com/office/powerpoint/2010/main" val="9007407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4D2692-6441-37F3-61F4-44F649B83F0A}"/>
              </a:ext>
            </a:extLst>
          </p:cNvPr>
          <p:cNvSpPr>
            <a:spLocks noGrp="1"/>
          </p:cNvSpPr>
          <p:nvPr>
            <p:ph type="title"/>
          </p:nvPr>
        </p:nvSpPr>
        <p:spPr/>
        <p:txBody>
          <a:bodyPr/>
          <a:lstStyle/>
          <a:p>
            <a:r>
              <a:rPr lang="fr-FR" dirty="0"/>
              <a:t>Quel outil pour mesure le taux de rebond de votre site ?</a:t>
            </a:r>
          </a:p>
        </p:txBody>
      </p:sp>
      <p:sp>
        <p:nvSpPr>
          <p:cNvPr id="3" name="Espace réservé de la date 2">
            <a:extLst>
              <a:ext uri="{FF2B5EF4-FFF2-40B4-BE49-F238E27FC236}">
                <a16:creationId xmlns:a16="http://schemas.microsoft.com/office/drawing/2014/main" id="{7A539F72-F45B-169D-73F7-3DE5889CDB92}"/>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C7A62C47-4219-53FA-9F41-FBD70C20EF00}"/>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F851011A-0FCB-E0ED-757B-E5B8922C5118}"/>
              </a:ext>
            </a:extLst>
          </p:cNvPr>
          <p:cNvSpPr>
            <a:spLocks noGrp="1"/>
          </p:cNvSpPr>
          <p:nvPr>
            <p:ph sz="quarter" idx="13"/>
          </p:nvPr>
        </p:nvSpPr>
        <p:spPr>
          <a:xfrm>
            <a:off x="958300" y="1451495"/>
            <a:ext cx="7891502" cy="4751388"/>
          </a:xfrm>
        </p:spPr>
        <p:txBody>
          <a:bodyPr>
            <a:normAutofit fontScale="55000" lnSpcReduction="20000"/>
          </a:bodyPr>
          <a:lstStyle/>
          <a:p>
            <a:r>
              <a:rPr lang="fr-FR" b="1" dirty="0"/>
              <a:t>Google Analytics (GA4)</a:t>
            </a:r>
            <a:r>
              <a:rPr lang="fr-FR" dirty="0"/>
              <a:t> :</a:t>
            </a:r>
          </a:p>
          <a:p>
            <a:pPr lvl="1"/>
            <a:r>
              <a:rPr lang="fr-FR" dirty="0">
                <a:solidFill>
                  <a:srgbClr val="FF0000"/>
                </a:solidFill>
              </a:rPr>
              <a:t>Le plus utilisé pour analyser le trafic web. </a:t>
            </a:r>
          </a:p>
          <a:p>
            <a:pPr lvl="1"/>
            <a:r>
              <a:rPr lang="fr-FR" dirty="0">
                <a:solidFill>
                  <a:srgbClr val="FF0000"/>
                </a:solidFill>
              </a:rPr>
              <a:t>Avec GA4, vous pouvez suivre le taux de rebond et d'autres métriques importantes pour comprendre le comportement des utilisateurs sur votre site.</a:t>
            </a:r>
          </a:p>
          <a:p>
            <a:r>
              <a:rPr lang="fr-FR" b="1" dirty="0" err="1"/>
              <a:t>Matomo</a:t>
            </a:r>
            <a:r>
              <a:rPr lang="fr-FR" b="1" dirty="0"/>
              <a:t> (anciennement </a:t>
            </a:r>
            <a:r>
              <a:rPr lang="fr-FR" b="1" dirty="0" err="1"/>
              <a:t>Piwik</a:t>
            </a:r>
            <a:r>
              <a:rPr lang="fr-FR" b="1" dirty="0"/>
              <a:t>)</a:t>
            </a:r>
            <a:r>
              <a:rPr lang="fr-FR" dirty="0"/>
              <a:t> :</a:t>
            </a:r>
          </a:p>
          <a:p>
            <a:pPr lvl="1"/>
            <a:r>
              <a:rPr lang="fr-FR" dirty="0"/>
              <a:t>Une alternative à Google Analytics, </a:t>
            </a:r>
          </a:p>
          <a:p>
            <a:pPr lvl="1"/>
            <a:r>
              <a:rPr lang="fr-FR" dirty="0" err="1"/>
              <a:t>Matomo</a:t>
            </a:r>
            <a:r>
              <a:rPr lang="fr-FR" dirty="0"/>
              <a:t> offre des fonctionnalités similaires tout en respectant la </a:t>
            </a:r>
            <a:r>
              <a:rPr lang="fr-FR" b="1" dirty="0"/>
              <a:t>confidentialité</a:t>
            </a:r>
            <a:r>
              <a:rPr lang="fr-FR" dirty="0"/>
              <a:t> des données des utilisateurs.</a:t>
            </a:r>
            <a:endParaRPr lang="fr-FR" dirty="0">
              <a:solidFill>
                <a:srgbClr val="FF0000"/>
              </a:solidFill>
            </a:endParaRPr>
          </a:p>
          <a:p>
            <a:r>
              <a:rPr lang="fr-FR" b="1" dirty="0"/>
              <a:t>Google </a:t>
            </a:r>
            <a:r>
              <a:rPr lang="fr-FR" b="1" dirty="0" err="1"/>
              <a:t>Search</a:t>
            </a:r>
            <a:r>
              <a:rPr lang="fr-FR" b="1" dirty="0"/>
              <a:t> Console</a:t>
            </a:r>
            <a:r>
              <a:rPr lang="fr-FR" dirty="0"/>
              <a:t> :</a:t>
            </a:r>
          </a:p>
          <a:p>
            <a:pPr lvl="1"/>
            <a:r>
              <a:rPr lang="fr-FR" dirty="0"/>
              <a:t>Ne mesure pas directement le taux de rebond, il fournit des informations précieuses sur les </a:t>
            </a:r>
            <a:r>
              <a:rPr lang="fr-FR" b="1" dirty="0"/>
              <a:t>performances de votre site</a:t>
            </a:r>
            <a:r>
              <a:rPr lang="fr-FR" dirty="0"/>
              <a:t> dans les résultats de recherche, ce qui peut vous aider à optimiser votre contenu.</a:t>
            </a:r>
          </a:p>
          <a:p>
            <a:r>
              <a:rPr lang="fr-FR" b="1" dirty="0" err="1"/>
              <a:t>SimilarWeb</a:t>
            </a:r>
            <a:r>
              <a:rPr lang="fr-FR" dirty="0"/>
              <a:t> :</a:t>
            </a:r>
          </a:p>
          <a:p>
            <a:pPr lvl="1"/>
            <a:r>
              <a:rPr lang="fr-FR" dirty="0"/>
              <a:t>Calcule le taux de rebond en divisant </a:t>
            </a:r>
            <a:r>
              <a:rPr lang="fr-FR" b="1" dirty="0"/>
              <a:t>les sessions d'une seule page</a:t>
            </a:r>
            <a:r>
              <a:rPr lang="fr-FR" dirty="0"/>
              <a:t> par </a:t>
            </a:r>
            <a:r>
              <a:rPr lang="fr-FR" b="1" dirty="0"/>
              <a:t>le nombre total de sessions</a:t>
            </a:r>
            <a:r>
              <a:rPr lang="fr-FR" dirty="0"/>
              <a:t>. </a:t>
            </a:r>
          </a:p>
          <a:p>
            <a:pPr lvl="1"/>
            <a:r>
              <a:rPr lang="fr-FR" dirty="0"/>
              <a:t>Il offre également des analyses de la concurrence.</a:t>
            </a:r>
          </a:p>
          <a:p>
            <a:r>
              <a:rPr lang="fr-FR" b="1" dirty="0" err="1"/>
              <a:t>PageSpeed</a:t>
            </a:r>
            <a:r>
              <a:rPr lang="fr-FR" b="1" dirty="0"/>
              <a:t> Insights</a:t>
            </a:r>
            <a:r>
              <a:rPr lang="fr-FR" dirty="0"/>
              <a:t> :</a:t>
            </a:r>
          </a:p>
          <a:p>
            <a:pPr lvl="1"/>
            <a:r>
              <a:rPr lang="fr-FR" dirty="0"/>
              <a:t>Axé sur la </a:t>
            </a:r>
            <a:r>
              <a:rPr lang="fr-FR" b="1" dirty="0"/>
              <a:t>vitesse de chargement</a:t>
            </a:r>
            <a:r>
              <a:rPr lang="fr-FR" dirty="0"/>
              <a:t>, </a:t>
            </a:r>
          </a:p>
          <a:p>
            <a:pPr lvl="1"/>
            <a:r>
              <a:rPr lang="fr-FR" dirty="0"/>
              <a:t>Identification des problèmes qui pourraient affecter le taux de rebond en raison d'une mauvaise expérience utilisateur.</a:t>
            </a:r>
          </a:p>
          <a:p>
            <a:r>
              <a:rPr lang="fr-FR" b="1" dirty="0" err="1"/>
              <a:t>Hotjar</a:t>
            </a:r>
            <a:r>
              <a:rPr lang="fr-FR" dirty="0"/>
              <a:t> :</a:t>
            </a:r>
          </a:p>
          <a:p>
            <a:pPr lvl="1"/>
            <a:r>
              <a:rPr lang="fr-FR" dirty="0"/>
              <a:t>Fournit des </a:t>
            </a:r>
            <a:r>
              <a:rPr lang="fr-FR" b="1" dirty="0"/>
              <a:t>cartes de chaleur </a:t>
            </a:r>
            <a:r>
              <a:rPr lang="fr-FR" dirty="0"/>
              <a:t>et des enr</a:t>
            </a:r>
            <a:r>
              <a:rPr lang="fr-FR" b="1" dirty="0"/>
              <a:t>egistrements de sessions</a:t>
            </a:r>
            <a:r>
              <a:rPr lang="fr-FR" dirty="0"/>
              <a:t>, ce qui vous permet de voir comment les utilisateurs interagissent avec votre site et d'identifier les points de friction.</a:t>
            </a:r>
          </a:p>
          <a:p>
            <a:r>
              <a:rPr lang="fr-FR" b="1" dirty="0" err="1"/>
              <a:t>Crazy</a:t>
            </a:r>
            <a:r>
              <a:rPr lang="fr-FR" b="1" dirty="0"/>
              <a:t> Egg</a:t>
            </a:r>
            <a:r>
              <a:rPr lang="fr-FR" dirty="0"/>
              <a:t> :</a:t>
            </a:r>
          </a:p>
          <a:p>
            <a:pPr lvl="1"/>
            <a:r>
              <a:rPr lang="fr-FR" dirty="0"/>
              <a:t>Cet outil propose des </a:t>
            </a:r>
            <a:r>
              <a:rPr lang="fr-FR" b="1" dirty="0"/>
              <a:t>cartes de chaleur </a:t>
            </a:r>
            <a:r>
              <a:rPr lang="fr-FR" dirty="0"/>
              <a:t>et des </a:t>
            </a:r>
            <a:r>
              <a:rPr lang="fr-FR" b="1" dirty="0"/>
              <a:t>analyses de scroll</a:t>
            </a:r>
            <a:r>
              <a:rPr lang="fr-FR" dirty="0"/>
              <a:t>, vous permettant de visualiser comment les visiteurs interagissent avec votre site et d'optimiser le contenu en conséquence.</a:t>
            </a:r>
          </a:p>
          <a:p>
            <a:endParaRPr lang="fr-FR" dirty="0"/>
          </a:p>
        </p:txBody>
      </p:sp>
    </p:spTree>
    <p:extLst>
      <p:ext uri="{BB962C8B-B14F-4D97-AF65-F5344CB8AC3E}">
        <p14:creationId xmlns:p14="http://schemas.microsoft.com/office/powerpoint/2010/main" val="1418419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0870A-A65F-7105-B491-E4B8A055D5B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1B607B2-3144-0E4C-E2DA-553BBBE73C4A}"/>
              </a:ext>
            </a:extLst>
          </p:cNvPr>
          <p:cNvSpPr>
            <a:spLocks noGrp="1"/>
          </p:cNvSpPr>
          <p:nvPr>
            <p:ph type="title"/>
          </p:nvPr>
        </p:nvSpPr>
        <p:spPr/>
        <p:txBody>
          <a:bodyPr>
            <a:normAutofit/>
          </a:bodyPr>
          <a:lstStyle/>
          <a:p>
            <a:r>
              <a:rPr lang="fr-FR" dirty="0"/>
              <a:t>La notion de conversion</a:t>
            </a:r>
          </a:p>
        </p:txBody>
      </p:sp>
      <p:sp>
        <p:nvSpPr>
          <p:cNvPr id="3" name="Espace réservé de la date 2">
            <a:extLst>
              <a:ext uri="{FF2B5EF4-FFF2-40B4-BE49-F238E27FC236}">
                <a16:creationId xmlns:a16="http://schemas.microsoft.com/office/drawing/2014/main" id="{3A713252-9228-4814-E777-C777F02C7833}"/>
              </a:ext>
            </a:extLst>
          </p:cNvPr>
          <p:cNvSpPr>
            <a:spLocks noGrp="1"/>
          </p:cNvSpPr>
          <p:nvPr>
            <p:ph type="dt" sz="half" idx="10"/>
          </p:nvPr>
        </p:nvSpPr>
        <p:spPr/>
        <p:txBody>
          <a:bodyPr/>
          <a:lstStyle/>
          <a:p>
            <a:fld id="{4EF2A944-1579-064E-834B-B164FBDDF68E}" type="datetime2">
              <a:rPr lang="fr-FR" smtClean="0"/>
              <a:t>vendredi 5 juin 2026</a:t>
            </a:fld>
            <a:endParaRPr lang="fr-FR" dirty="0"/>
          </a:p>
        </p:txBody>
      </p:sp>
      <p:sp>
        <p:nvSpPr>
          <p:cNvPr id="5" name="Espace réservé du contenu 4">
            <a:extLst>
              <a:ext uri="{FF2B5EF4-FFF2-40B4-BE49-F238E27FC236}">
                <a16:creationId xmlns:a16="http://schemas.microsoft.com/office/drawing/2014/main" id="{1F4226CE-3BA0-4302-F10E-95753B64F658}"/>
              </a:ext>
            </a:extLst>
          </p:cNvPr>
          <p:cNvSpPr>
            <a:spLocks noGrp="1"/>
          </p:cNvSpPr>
          <p:nvPr>
            <p:ph sz="quarter" idx="13"/>
          </p:nvPr>
        </p:nvSpPr>
        <p:spPr>
          <a:xfrm>
            <a:off x="612712" y="1399688"/>
            <a:ext cx="8531288" cy="4722803"/>
          </a:xfrm>
        </p:spPr>
        <p:txBody>
          <a:bodyPr>
            <a:normAutofit fontScale="92500"/>
          </a:bodyPr>
          <a:lstStyle/>
          <a:p>
            <a:r>
              <a:rPr lang="fr-FR" sz="2800" b="0" i="0" dirty="0">
                <a:solidFill>
                  <a:srgbClr val="474747"/>
                </a:solidFill>
                <a:effectLst/>
                <a:latin typeface="Google Sans"/>
              </a:rPr>
              <a:t>Une </a:t>
            </a:r>
            <a:r>
              <a:rPr lang="fr-FR" sz="2800" b="1" i="0" dirty="0">
                <a:solidFill>
                  <a:srgbClr val="474747"/>
                </a:solidFill>
                <a:effectLst/>
                <a:latin typeface="Google Sans"/>
              </a:rPr>
              <a:t>conversion</a:t>
            </a:r>
            <a:r>
              <a:rPr lang="fr-FR" sz="2800" b="0" i="0" dirty="0">
                <a:solidFill>
                  <a:srgbClr val="474747"/>
                </a:solidFill>
                <a:effectLst/>
                <a:latin typeface="Google Sans"/>
              </a:rPr>
              <a:t> représente la réalisation d'un </a:t>
            </a:r>
            <a:r>
              <a:rPr lang="fr-FR" sz="2800" b="1" i="0" dirty="0">
                <a:solidFill>
                  <a:srgbClr val="474747"/>
                </a:solidFill>
                <a:effectLst/>
                <a:latin typeface="Google Sans"/>
              </a:rPr>
              <a:t>objectif spécifiqu</a:t>
            </a:r>
            <a:r>
              <a:rPr lang="fr-FR" sz="2800" b="0" i="0" dirty="0">
                <a:solidFill>
                  <a:srgbClr val="474747"/>
                </a:solidFill>
                <a:effectLst/>
                <a:latin typeface="Google Sans"/>
              </a:rPr>
              <a:t>e défini par le propriétaire du site ou l'annonceur. Cela peut être n'importe quelle action souhaitée que l'utilisateur effectue sur le site, comme s'inscrire à une newsletter, télécharger un ebook, acheter un produit, ou remplir un formulaire de contact</a:t>
            </a:r>
            <a:r>
              <a:rPr lang="fr-FR" sz="2800" dirty="0">
                <a:solidFill>
                  <a:srgbClr val="474747"/>
                </a:solidFill>
                <a:latin typeface="Google Sans"/>
              </a:rPr>
              <a:t>, e</a:t>
            </a:r>
            <a:r>
              <a:rPr lang="fr-FR" sz="2800" b="0" i="0" dirty="0">
                <a:solidFill>
                  <a:srgbClr val="474747"/>
                </a:solidFill>
                <a:effectLst/>
                <a:latin typeface="Google Sans"/>
              </a:rPr>
              <a:t>tc.</a:t>
            </a:r>
          </a:p>
          <a:p>
            <a:r>
              <a:rPr lang="fr-FR" sz="2800" b="0" i="0" dirty="0">
                <a:solidFill>
                  <a:srgbClr val="474747"/>
                </a:solidFill>
                <a:effectLst/>
                <a:latin typeface="Google Sans"/>
              </a:rPr>
              <a:t>Le </a:t>
            </a:r>
            <a:r>
              <a:rPr lang="fr-FR" sz="2800" b="1" i="0" dirty="0">
                <a:solidFill>
                  <a:srgbClr val="474747"/>
                </a:solidFill>
                <a:effectLst/>
                <a:latin typeface="Google Sans"/>
              </a:rPr>
              <a:t>taux de conversion </a:t>
            </a:r>
            <a:r>
              <a:rPr lang="fr-FR" sz="2800" b="0" i="0" dirty="0">
                <a:solidFill>
                  <a:srgbClr val="474747"/>
                </a:solidFill>
                <a:effectLst/>
                <a:latin typeface="Google Sans"/>
              </a:rPr>
              <a:t>correspond au </a:t>
            </a:r>
            <a:r>
              <a:rPr lang="fr-FR" sz="2800" b="0" i="0" dirty="0">
                <a:solidFill>
                  <a:srgbClr val="040C28"/>
                </a:solidFill>
                <a:effectLst/>
                <a:latin typeface="Google Sans"/>
              </a:rPr>
              <a:t>pourcentage du nombre d'utilisateurs convertis par rapport au nombre total de visiteurs de votre site</a:t>
            </a:r>
            <a:r>
              <a:rPr lang="fr-FR" sz="2800" b="0" i="0" dirty="0">
                <a:solidFill>
                  <a:srgbClr val="474747"/>
                </a:solidFill>
                <a:effectLst/>
                <a:latin typeface="Google Sans"/>
              </a:rPr>
              <a:t>. </a:t>
            </a:r>
          </a:p>
          <a:p>
            <a:pPr lvl="1"/>
            <a:r>
              <a:rPr lang="fr-FR" sz="2400" b="0" i="0" dirty="0">
                <a:solidFill>
                  <a:srgbClr val="474747"/>
                </a:solidFill>
                <a:effectLst/>
                <a:latin typeface="Google Sans"/>
              </a:rPr>
              <a:t>Plus votre taux de conversion est élevé, plus votre contenu est efficace.</a:t>
            </a:r>
          </a:p>
          <a:p>
            <a:pPr marL="914400" lvl="2" indent="0">
              <a:buNone/>
            </a:pPr>
            <a:endParaRPr lang="fr-FR" sz="3000" dirty="0"/>
          </a:p>
        </p:txBody>
      </p:sp>
      <p:sp>
        <p:nvSpPr>
          <p:cNvPr id="7" name="Espace réservé du pied de page 7">
            <a:extLst>
              <a:ext uri="{FF2B5EF4-FFF2-40B4-BE49-F238E27FC236}">
                <a16:creationId xmlns:a16="http://schemas.microsoft.com/office/drawing/2014/main" id="{71816683-2A57-B849-BDBA-948ABAE1994F}"/>
              </a:ext>
            </a:extLst>
          </p:cNvPr>
          <p:cNvSpPr>
            <a:spLocks noGrp="1"/>
          </p:cNvSpPr>
          <p:nvPr>
            <p:ph type="ftr" sz="quarter" idx="11"/>
          </p:nvPr>
        </p:nvSpPr>
        <p:spPr>
          <a:xfrm>
            <a:off x="159657" y="6596743"/>
            <a:ext cx="5762173" cy="261257"/>
          </a:xfrm>
        </p:spPr>
        <p:txBody>
          <a:bodyPr/>
          <a:lstStyle>
            <a:lvl1pPr algn="l">
              <a:defRPr/>
            </a:lvl1pPr>
          </a:lstStyle>
          <a:p>
            <a:r>
              <a:rPr lang="fr-FR"/>
              <a:t>S. Lamrous</a:t>
            </a:r>
            <a:endParaRPr lang="fr-FR" dirty="0"/>
          </a:p>
        </p:txBody>
      </p:sp>
    </p:spTree>
    <p:extLst>
      <p:ext uri="{BB962C8B-B14F-4D97-AF65-F5344CB8AC3E}">
        <p14:creationId xmlns:p14="http://schemas.microsoft.com/office/powerpoint/2010/main" val="2953070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E044A1-93F2-B527-7631-BE6EB8931B32}"/>
              </a:ext>
            </a:extLst>
          </p:cNvPr>
          <p:cNvSpPr>
            <a:spLocks noGrp="1"/>
          </p:cNvSpPr>
          <p:nvPr>
            <p:ph type="title"/>
          </p:nvPr>
        </p:nvSpPr>
        <p:spPr/>
        <p:txBody>
          <a:bodyPr/>
          <a:lstStyle/>
          <a:p>
            <a:r>
              <a:rPr lang="fr-FR" dirty="0"/>
              <a:t>Travail demandé sur votre site  (pour le livrable)</a:t>
            </a:r>
          </a:p>
        </p:txBody>
      </p:sp>
      <p:sp>
        <p:nvSpPr>
          <p:cNvPr id="3" name="Espace réservé de la date 2">
            <a:extLst>
              <a:ext uri="{FF2B5EF4-FFF2-40B4-BE49-F238E27FC236}">
                <a16:creationId xmlns:a16="http://schemas.microsoft.com/office/drawing/2014/main" id="{ABE7648D-B5E8-30E4-1C00-ED1214766D2D}"/>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EFFDCB0E-8929-25DC-DF9B-C3F964AE15A9}"/>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F003AFD5-AFB2-EB2F-43AD-9F43527ABDC0}"/>
              </a:ext>
            </a:extLst>
          </p:cNvPr>
          <p:cNvSpPr>
            <a:spLocks noGrp="1"/>
          </p:cNvSpPr>
          <p:nvPr>
            <p:ph sz="quarter" idx="13"/>
          </p:nvPr>
        </p:nvSpPr>
        <p:spPr>
          <a:xfrm>
            <a:off x="717092" y="1291985"/>
            <a:ext cx="7967329" cy="5371207"/>
          </a:xfrm>
        </p:spPr>
        <p:txBody>
          <a:bodyPr>
            <a:normAutofit fontScale="77500" lnSpcReduction="20000"/>
          </a:bodyPr>
          <a:lstStyle/>
          <a:p>
            <a:r>
              <a:rPr lang="fr-FR" b="1" dirty="0">
                <a:solidFill>
                  <a:schemeClr val="tx2">
                    <a:lumMod val="60000"/>
                    <a:lumOff val="40000"/>
                  </a:schemeClr>
                </a:solidFill>
              </a:rPr>
              <a:t>Dans l’idéal un tableau analytique avec un outil type BI comme</a:t>
            </a:r>
          </a:p>
          <a:p>
            <a:pPr lvl="1"/>
            <a:r>
              <a:rPr lang="fr-FR" b="1" dirty="0">
                <a:solidFill>
                  <a:schemeClr val="tx2">
                    <a:lumMod val="60000"/>
                    <a:lumOff val="40000"/>
                  </a:schemeClr>
                </a:solidFill>
              </a:rPr>
              <a:t>Power Bi en synchrone pour afficher les métriques ci-dessous. </a:t>
            </a:r>
          </a:p>
          <a:p>
            <a:pPr lvl="2"/>
            <a:r>
              <a:rPr lang="fr-FR" b="1" dirty="0">
                <a:solidFill>
                  <a:schemeClr val="tx2">
                    <a:lumMod val="60000"/>
                    <a:lumOff val="40000"/>
                  </a:schemeClr>
                </a:solidFill>
              </a:rPr>
              <a:t>Vous pouvez inclure vos rapports dans cette présentation </a:t>
            </a:r>
          </a:p>
          <a:p>
            <a:r>
              <a:rPr lang="fr-FR" b="1" dirty="0"/>
              <a:t>I. Engagement et Navigation:</a:t>
            </a:r>
            <a:endParaRPr lang="fr-FR" dirty="0"/>
          </a:p>
          <a:p>
            <a:pPr lvl="1"/>
            <a:r>
              <a:rPr lang="fr-FR" b="1" dirty="0"/>
              <a:t>Durée de la session (temps passé sur le site) :</a:t>
            </a:r>
            <a:r>
              <a:rPr lang="fr-FR" dirty="0"/>
              <a:t> Indique combien de temps les visiteurs passent en moyenne sur votre site. Un temps plus long suggère un engagement plus fort.</a:t>
            </a:r>
          </a:p>
          <a:p>
            <a:pPr lvl="1"/>
            <a:r>
              <a:rPr lang="fr-FR" b="1" dirty="0"/>
              <a:t>Nombre de pages vues par visite :</a:t>
            </a:r>
            <a:r>
              <a:rPr lang="fr-FR" dirty="0"/>
              <a:t> Mesure le nombre moyen de pages consultées par visiteur. Un nombre élevé indique une exploration plus approfondie du site.</a:t>
            </a:r>
          </a:p>
          <a:p>
            <a:pPr lvl="1"/>
            <a:r>
              <a:rPr lang="fr-FR" b="1" dirty="0"/>
              <a:t>Taux de clics (CTR) :</a:t>
            </a:r>
            <a:r>
              <a:rPr lang="fr-FR" dirty="0"/>
              <a:t> Mesure le pourcentage de visiteurs qui cliquent sur un élément spécifique (lien, bouton, etc.). Un CTR élevé indique que vos appels à l'action sont efficaces.</a:t>
            </a:r>
          </a:p>
          <a:p>
            <a:pPr lvl="1"/>
            <a:r>
              <a:rPr lang="fr-FR" b="1" dirty="0"/>
              <a:t>Profondeur de consultation :</a:t>
            </a:r>
            <a:r>
              <a:rPr lang="fr-FR" dirty="0"/>
              <a:t> Mesure le nombre moyen de niveaux de navigation parcourus par les visiteurs. Une profondeur plus importante suggère une exploration plus approfondie du site.</a:t>
            </a:r>
          </a:p>
          <a:p>
            <a:pPr lvl="1"/>
            <a:r>
              <a:rPr lang="fr-FR" b="1" dirty="0"/>
              <a:t>Taux de conversion :</a:t>
            </a:r>
            <a:r>
              <a:rPr lang="fr-FR" dirty="0"/>
              <a:t> Mesure le pourcentage de visiteurs qui effectuent une action souhaitée (achat, inscription, téléchargement, etc.). C'est une métrique clé pour mesurer l'efficacité de votre site.</a:t>
            </a:r>
          </a:p>
          <a:p>
            <a:pPr lvl="1"/>
            <a:r>
              <a:rPr lang="fr-FR" b="1" dirty="0">
                <a:solidFill>
                  <a:schemeClr val="bg1">
                    <a:lumMod val="65000"/>
                  </a:schemeClr>
                </a:solidFill>
              </a:rPr>
              <a:t>Taux d'abandon du panier (e-commerce) :</a:t>
            </a:r>
            <a:r>
              <a:rPr lang="fr-FR" dirty="0">
                <a:solidFill>
                  <a:schemeClr val="bg1">
                    <a:lumMod val="65000"/>
                  </a:schemeClr>
                </a:solidFill>
              </a:rPr>
              <a:t> Pour les sites e-commerce, cette métrique indique le pourcentage de paniers commencés mais non finalisés.(ce n’est pas pour vous !)</a:t>
            </a:r>
          </a:p>
          <a:p>
            <a:endParaRPr lang="fr-FR" dirty="0"/>
          </a:p>
          <a:p>
            <a:endParaRPr lang="fr-FR" dirty="0"/>
          </a:p>
        </p:txBody>
      </p:sp>
      <p:pic>
        <p:nvPicPr>
          <p:cNvPr id="8" name="Image 7">
            <a:extLst>
              <a:ext uri="{FF2B5EF4-FFF2-40B4-BE49-F238E27FC236}">
                <a16:creationId xmlns:a16="http://schemas.microsoft.com/office/drawing/2014/main" id="{400A205A-AF43-1E48-6F81-D462390816BF}"/>
              </a:ext>
            </a:extLst>
          </p:cNvPr>
          <p:cNvPicPr>
            <a:picLocks noChangeAspect="1"/>
          </p:cNvPicPr>
          <p:nvPr/>
        </p:nvPicPr>
        <p:blipFill>
          <a:blip r:embed="rId2"/>
          <a:srcRect l="31450"/>
          <a:stretch>
            <a:fillRect/>
          </a:stretch>
        </p:blipFill>
        <p:spPr>
          <a:xfrm>
            <a:off x="7819432" y="1291985"/>
            <a:ext cx="1214952" cy="10065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5872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51E42-5F35-AD45-C83D-B332A94E774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09F5199-64BE-1214-2C38-A5E1CD9393FD}"/>
              </a:ext>
            </a:extLst>
          </p:cNvPr>
          <p:cNvSpPr>
            <a:spLocks noGrp="1"/>
          </p:cNvSpPr>
          <p:nvPr>
            <p:ph type="title"/>
          </p:nvPr>
        </p:nvSpPr>
        <p:spPr/>
        <p:txBody>
          <a:bodyPr/>
          <a:lstStyle/>
          <a:p>
            <a:r>
              <a:rPr lang="fr-FR" altLang="zh-CN" dirty="0"/>
              <a:t>Travail demandé sur votre site  (pour le livrable)</a:t>
            </a:r>
            <a:endParaRPr lang="fr-FR" dirty="0"/>
          </a:p>
        </p:txBody>
      </p:sp>
      <p:sp>
        <p:nvSpPr>
          <p:cNvPr id="3" name="Espace réservé de la date 2">
            <a:extLst>
              <a:ext uri="{FF2B5EF4-FFF2-40B4-BE49-F238E27FC236}">
                <a16:creationId xmlns:a16="http://schemas.microsoft.com/office/drawing/2014/main" id="{5377BD9C-187A-20FF-49AE-21281F344820}"/>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09C83A17-F36D-B2EB-46B2-04ED48696441}"/>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DB7EA446-4F43-9284-EF55-72C445BADF3C}"/>
              </a:ext>
            </a:extLst>
          </p:cNvPr>
          <p:cNvSpPr>
            <a:spLocks noGrp="1"/>
          </p:cNvSpPr>
          <p:nvPr>
            <p:ph sz="quarter" idx="13"/>
          </p:nvPr>
        </p:nvSpPr>
        <p:spPr>
          <a:xfrm>
            <a:off x="985839" y="1291985"/>
            <a:ext cx="7967329" cy="5371207"/>
          </a:xfrm>
        </p:spPr>
        <p:txBody>
          <a:bodyPr>
            <a:normAutofit/>
          </a:bodyPr>
          <a:lstStyle/>
          <a:p>
            <a:r>
              <a:rPr lang="fr-FR" b="1" dirty="0"/>
              <a:t>II. Expérience Utilisateur (UX):</a:t>
            </a:r>
            <a:endParaRPr lang="fr-FR" dirty="0"/>
          </a:p>
          <a:p>
            <a:pPr lvl="1"/>
            <a:r>
              <a:rPr lang="fr-FR" b="1" dirty="0"/>
              <a:t>Taux de rebond (déjà mentionné) :</a:t>
            </a:r>
            <a:r>
              <a:rPr lang="fr-FR" dirty="0"/>
              <a:t> Pour rappel, il mesure le pourcentage de visiteurs qui quittent le site après avoir vu une seule page.</a:t>
            </a:r>
          </a:p>
          <a:p>
            <a:pPr lvl="1"/>
            <a:r>
              <a:rPr lang="fr-FR" b="1" dirty="0"/>
              <a:t>Vitesse de chargement des pages :</a:t>
            </a:r>
            <a:r>
              <a:rPr lang="fr-FR" dirty="0"/>
              <a:t> Un temps de chargement rapide est crucial pour une bonne expérience utilisateur. Des outils comme Google </a:t>
            </a:r>
            <a:r>
              <a:rPr lang="fr-FR" dirty="0" err="1"/>
              <a:t>PageSpeed</a:t>
            </a:r>
            <a:r>
              <a:rPr lang="fr-FR" dirty="0"/>
              <a:t> Insights permettent de mesurer et d'améliorer ce point.</a:t>
            </a:r>
          </a:p>
          <a:p>
            <a:pPr lvl="1"/>
            <a:r>
              <a:rPr lang="fr-FR" b="1" dirty="0"/>
              <a:t>Taux d'erreur :</a:t>
            </a:r>
            <a:r>
              <a:rPr lang="fr-FR" dirty="0"/>
              <a:t> Mesure le nombre d'erreurs rencontrées par les utilisateurs lors de leur navigation.</a:t>
            </a:r>
          </a:p>
          <a:p>
            <a:pPr lvl="1"/>
            <a:r>
              <a:rPr lang="fr-FR" b="1" dirty="0">
                <a:solidFill>
                  <a:schemeClr val="bg1">
                    <a:lumMod val="65000"/>
                  </a:schemeClr>
                </a:solidFill>
              </a:rPr>
              <a:t>Taux de satisfaction :</a:t>
            </a:r>
            <a:r>
              <a:rPr lang="fr-FR" dirty="0">
                <a:solidFill>
                  <a:schemeClr val="bg1">
                    <a:lumMod val="65000"/>
                  </a:schemeClr>
                </a:solidFill>
              </a:rPr>
              <a:t> Peut être mesuré via des enquêtes ou des feedbacks. (Pas dans votre cas)</a:t>
            </a:r>
          </a:p>
          <a:p>
            <a:endParaRPr lang="fr-FR" dirty="0"/>
          </a:p>
          <a:p>
            <a:endParaRPr lang="fr-FR" dirty="0"/>
          </a:p>
        </p:txBody>
      </p:sp>
    </p:spTree>
    <p:extLst>
      <p:ext uri="{BB962C8B-B14F-4D97-AF65-F5344CB8AC3E}">
        <p14:creationId xmlns:p14="http://schemas.microsoft.com/office/powerpoint/2010/main" val="429242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F9A74-7489-3207-F89D-96782EAD93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7A1D6C8-B53E-0ABF-FC00-A681B216F077}"/>
              </a:ext>
            </a:extLst>
          </p:cNvPr>
          <p:cNvSpPr>
            <a:spLocks noGrp="1"/>
          </p:cNvSpPr>
          <p:nvPr>
            <p:ph type="title"/>
          </p:nvPr>
        </p:nvSpPr>
        <p:spPr/>
        <p:txBody>
          <a:bodyPr/>
          <a:lstStyle/>
          <a:p>
            <a:r>
              <a:rPr lang="fr-FR" altLang="zh-CN" dirty="0"/>
              <a:t>Travail demandé sur votre site  (pour le livrable)</a:t>
            </a:r>
            <a:endParaRPr lang="fr-FR" dirty="0"/>
          </a:p>
        </p:txBody>
      </p:sp>
      <p:sp>
        <p:nvSpPr>
          <p:cNvPr id="3" name="Espace réservé de la date 2">
            <a:extLst>
              <a:ext uri="{FF2B5EF4-FFF2-40B4-BE49-F238E27FC236}">
                <a16:creationId xmlns:a16="http://schemas.microsoft.com/office/drawing/2014/main" id="{976922C6-4B0A-3934-34CD-38BA566331DC}"/>
              </a:ext>
            </a:extLst>
          </p:cNvPr>
          <p:cNvSpPr>
            <a:spLocks noGrp="1"/>
          </p:cNvSpPr>
          <p:nvPr>
            <p:ph type="dt" sz="half" idx="10"/>
          </p:nvPr>
        </p:nvSpPr>
        <p:spPr/>
        <p:txBody>
          <a:bodyPr/>
          <a:lstStyle/>
          <a:p>
            <a:fld id="{8282D8D2-F5F0-2744-864E-8466BE2E099D}" type="datetime2">
              <a:rPr lang="fr-FR" smtClean="0"/>
              <a:t>vendredi 5 juin 2026</a:t>
            </a:fld>
            <a:endParaRPr lang="fr-FR" dirty="0"/>
          </a:p>
        </p:txBody>
      </p:sp>
      <p:sp>
        <p:nvSpPr>
          <p:cNvPr id="4" name="Espace réservé du pied de page 3">
            <a:extLst>
              <a:ext uri="{FF2B5EF4-FFF2-40B4-BE49-F238E27FC236}">
                <a16:creationId xmlns:a16="http://schemas.microsoft.com/office/drawing/2014/main" id="{FEC0ADC2-CB92-F453-4362-3318E987D868}"/>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29CF08B4-45EA-A6F7-29BF-E28CFBB05694}"/>
              </a:ext>
            </a:extLst>
          </p:cNvPr>
          <p:cNvSpPr>
            <a:spLocks noGrp="1"/>
          </p:cNvSpPr>
          <p:nvPr>
            <p:ph sz="quarter" idx="13"/>
          </p:nvPr>
        </p:nvSpPr>
        <p:spPr>
          <a:xfrm>
            <a:off x="985839" y="1291985"/>
            <a:ext cx="7967329" cy="5371207"/>
          </a:xfrm>
        </p:spPr>
        <p:txBody>
          <a:bodyPr>
            <a:normAutofit/>
          </a:bodyPr>
          <a:lstStyle/>
          <a:p>
            <a:r>
              <a:rPr lang="fr-FR" b="1" dirty="0"/>
              <a:t> Sources de Trafic:</a:t>
            </a:r>
            <a:endParaRPr lang="fr-FR" dirty="0"/>
          </a:p>
          <a:p>
            <a:pPr lvl="1"/>
            <a:r>
              <a:rPr lang="fr-FR" b="1" dirty="0"/>
              <a:t>Sources de trafic :</a:t>
            </a:r>
            <a:r>
              <a:rPr lang="fr-FR" dirty="0"/>
              <a:t> Identifier les sources qui génèrent le plus d'engagement et celles qui ont un taux de rebond élevé.</a:t>
            </a:r>
          </a:p>
          <a:p>
            <a:pPr lvl="1"/>
            <a:r>
              <a:rPr lang="fr-FR" b="1" dirty="0"/>
              <a:t>Canaux d'acquisition :</a:t>
            </a:r>
            <a:r>
              <a:rPr lang="fr-FR" dirty="0"/>
              <a:t> Comprendre quels canaux (réseaux sociaux, moteurs de recherche, etc.) sont les plus efficaces pour attirer des visiteurs engagés.</a:t>
            </a:r>
          </a:p>
          <a:p>
            <a:r>
              <a:rPr lang="fr-FR" b="1" dirty="0"/>
              <a:t>IV. Engagement sur les réseaux sociaux (si applicable):</a:t>
            </a:r>
            <a:endParaRPr lang="fr-FR" dirty="0"/>
          </a:p>
          <a:p>
            <a:pPr lvl="1"/>
            <a:r>
              <a:rPr lang="fr-FR" b="1" dirty="0"/>
              <a:t>J'aime, commentaires, partages :</a:t>
            </a:r>
            <a:r>
              <a:rPr lang="fr-FR" dirty="0"/>
              <a:t> Mesurent l'engagement des utilisateurs sur vos publications sur les réseaux sociaux.</a:t>
            </a:r>
          </a:p>
          <a:p>
            <a:pPr lvl="1"/>
            <a:r>
              <a:rPr lang="fr-FR" b="1" dirty="0"/>
              <a:t>Mentions :</a:t>
            </a:r>
            <a:r>
              <a:rPr lang="fr-FR" dirty="0"/>
              <a:t> Indiquent la visibilité de votre marque sur les réseaux sociaux.</a:t>
            </a:r>
          </a:p>
          <a:p>
            <a:endParaRPr lang="fr-FR" dirty="0"/>
          </a:p>
          <a:p>
            <a:endParaRPr lang="fr-FR" dirty="0"/>
          </a:p>
        </p:txBody>
      </p:sp>
    </p:spTree>
    <p:extLst>
      <p:ext uri="{BB962C8B-B14F-4D97-AF65-F5344CB8AC3E}">
        <p14:creationId xmlns:p14="http://schemas.microsoft.com/office/powerpoint/2010/main" val="2753383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Merci</a:t>
            </a:r>
          </a:p>
        </p:txBody>
      </p:sp>
    </p:spTree>
    <p:extLst>
      <p:ext uri="{BB962C8B-B14F-4D97-AF65-F5344CB8AC3E}">
        <p14:creationId xmlns:p14="http://schemas.microsoft.com/office/powerpoint/2010/main" val="3939357557"/>
      </p:ext>
    </p:extLst>
  </p:cSld>
  <p:clrMapOvr>
    <a:masterClrMapping/>
  </p:clrMapOvr>
</p:sld>
</file>

<file path=ppt/theme/theme1.xml><?xml version="1.0" encoding="utf-8"?>
<a:theme xmlns:a="http://schemas.openxmlformats.org/drawingml/2006/main" name="Masque page de gard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sque chapitr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Masque page contenu">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Masque page final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18398</TotalTime>
  <Words>3849</Words>
  <Application>Microsoft Office PowerPoint</Application>
  <PresentationFormat>Affichage à l'écran (4:3)</PresentationFormat>
  <Paragraphs>396</Paragraphs>
  <Slides>30</Slides>
  <Notes>2</Notes>
  <HiddenSlides>0</HiddenSlides>
  <MMClips>0</MMClips>
  <ScaleCrop>false</ScaleCrop>
  <HeadingPairs>
    <vt:vector size="6" baseType="variant">
      <vt:variant>
        <vt:lpstr>Polices utilisées</vt:lpstr>
      </vt:variant>
      <vt:variant>
        <vt:i4>5</vt:i4>
      </vt:variant>
      <vt:variant>
        <vt:lpstr>Thème</vt:lpstr>
      </vt:variant>
      <vt:variant>
        <vt:i4>4</vt:i4>
      </vt:variant>
      <vt:variant>
        <vt:lpstr>Titres des diapositives</vt:lpstr>
      </vt:variant>
      <vt:variant>
        <vt:i4>30</vt:i4>
      </vt:variant>
    </vt:vector>
  </HeadingPairs>
  <TitlesOfParts>
    <vt:vector size="39" baseType="lpstr">
      <vt:lpstr>Google Sans</vt:lpstr>
      <vt:lpstr>Lucida Grande</vt:lpstr>
      <vt:lpstr>Arial</vt:lpstr>
      <vt:lpstr>Calibri</vt:lpstr>
      <vt:lpstr>Wingdings</vt:lpstr>
      <vt:lpstr>Masque page de garde</vt:lpstr>
      <vt:lpstr>Masque chapitre</vt:lpstr>
      <vt:lpstr>Masque page contenu</vt:lpstr>
      <vt:lpstr>Masque page finale</vt:lpstr>
      <vt:lpstr>LUDS02 : Web stratégies, surveillance, et analyse de données Cours TD : Analyse qualimétrique pour une stratégie WEB </vt:lpstr>
      <vt:lpstr>Qualité : facteurs, critères, et métriques</vt:lpstr>
      <vt:lpstr>Définition de la qualité</vt:lpstr>
      <vt:lpstr>En génie logiciel : une démarche hiérarchique </vt:lpstr>
      <vt:lpstr>Exemple dans le contexte de bonne stratégie WEB</vt:lpstr>
      <vt:lpstr>Conversion vue comme facteur</vt:lpstr>
      <vt:lpstr>Facteurs essentiels pour une stratégie</vt:lpstr>
      <vt:lpstr>Se poser ces questions :</vt:lpstr>
      <vt:lpstr>Un contenu unique</vt:lpstr>
      <vt:lpstr>Comment créer du contenu unique ?</vt:lpstr>
      <vt:lpstr>Parler à la bonne personne </vt:lpstr>
      <vt:lpstr>A retenir</vt:lpstr>
      <vt:lpstr>Algorithme de Google Panda</vt:lpstr>
      <vt:lpstr>La SERP (Search Engine Results Page)</vt:lpstr>
      <vt:lpstr>Outils pour analyser la qualité du contenu (cœur de Panda)</vt:lpstr>
      <vt:lpstr>Exemple d’outils d’analyse de contenu SEO (précédent TP)</vt:lpstr>
      <vt:lpstr>Outils d’audit SEO global (détection impact Panda)</vt:lpstr>
      <vt:lpstr>Outils pour détecter une pénalité Panda</vt:lpstr>
      <vt:lpstr>Outils UX (Panda prend en compte l’expérience utilisateur)</vt:lpstr>
      <vt:lpstr>Outils pour tester l'algorithme Panda</vt:lpstr>
      <vt:lpstr>Méthodologie pratique pour “tester Panda”</vt:lpstr>
      <vt:lpstr>Tendance (2025) pour les SERP</vt:lpstr>
      <vt:lpstr> Comment l'algorithme Panda évalue la pertinence des pages web ? </vt:lpstr>
      <vt:lpstr>Le taux de rebond / un indicateur clé</vt:lpstr>
      <vt:lpstr>Quel outil pour mesure le taux de rebond de votre site ?</vt:lpstr>
      <vt:lpstr>La notion de conversion</vt:lpstr>
      <vt:lpstr>Travail demandé sur votre site  (pour le livrable)</vt:lpstr>
      <vt:lpstr>Travail demandé sur votre site  (pour le livrable)</vt:lpstr>
      <vt:lpstr>Travail demandé sur votre site  (pour le livrable)</vt:lpstr>
      <vt:lpstr>Merci</vt:lpstr>
    </vt:vector>
  </TitlesOfParts>
  <Company>UTBM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Julie Lucchina</dc:creator>
  <cp:lastModifiedBy>Sid Ahmed LAMROUS</cp:lastModifiedBy>
  <cp:revision>627</cp:revision>
  <dcterms:created xsi:type="dcterms:W3CDTF">2014-01-16T11:55:08Z</dcterms:created>
  <dcterms:modified xsi:type="dcterms:W3CDTF">2026-06-05T14:50:53Z</dcterms:modified>
</cp:coreProperties>
</file>